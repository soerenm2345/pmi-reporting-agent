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Project Aurora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E7D32"/>
                </a:solidFill>
              </a:rPr>
              <a:t>Steering Committee — Integration Status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57575"/>
                </a:solidFill>
              </a:rPr>
              <a:t>Reporting date: 01-07-2026   ·   Sources: 3 file(s)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2 critical risk(s) require management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 Overall integration progress stands at 82% across 3 reporting source(s).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 11 tracked tasks, 10 open; 6 owner(s) carry assignments.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54096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 3 risks logged, 2 rated high or critical — mitigation owners are assigned in the risk 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12464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 1 cross-source inconsistency/inconsistencies detected: 1 decided by the user.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Status at a glance — 6 of 6 workstream(s)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Overall integration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Overall progress</a:t>
            </a:r>
          </a:p>
          <a:p>
            <a:r>
              <a:rPr sz="2800" b="1">
                <a:solidFill>
                  <a:srgbClr val="F9A825"/>
                </a:solidFill>
              </a:rPr>
              <a:t>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Open critical risks</a:t>
            </a:r>
          </a:p>
          <a:p>
            <a:r>
              <a:rPr sz="2800" b="1">
                <a:solidFill>
                  <a:srgbClr val="C62828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Overdue tasks</a:t>
            </a:r>
          </a:p>
          <a:p>
            <a:r>
              <a:rPr sz="2800" b="1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Day 1 readiness</a:t>
            </a:r>
          </a:p>
          <a:p>
            <a:r>
              <a:rPr sz="2800" b="1">
                <a:solidFill>
                  <a:srgbClr val="2E7D32"/>
                </a:solidFill>
              </a:rPr>
              <a:t>1/1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6576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Decisions required</a:t>
            </a:r>
          </a:p>
          <a:p>
            <a:r>
              <a:rPr sz="2800" b="1">
                <a:solidFill>
                  <a:srgbClr val="F9A825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6576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Unresolved conflicts</a:t>
            </a:r>
          </a:p>
          <a:p>
            <a:r>
              <a:rPr sz="2800" b="1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3 workstream(s) are below 50%: Human Resources, Information Technology, Sales</a:t>
            </a:r>
          </a:p>
        </p:txBody>
      </p:sp>
      <p:pic>
        <p:nvPicPr>
          <p:cNvPr id="3" name="Picture 2" descr="workstream_progress_2026-0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554480"/>
            <a:ext cx="990712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All milestones are 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Key 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4415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Forecast/Actual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Delay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Day-1 legal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01-06-2026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on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Anna Schmidt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Day-100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20-08-2026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on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Anna Schmidt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ERP 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01-10-2026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on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Jonas Weber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Milestone timeline — planned vs forecast</a:t>
            </a:r>
          </a:p>
        </p:txBody>
      </p:sp>
      <p:pic>
        <p:nvPicPr>
          <p:cNvPr id="3" name="Picture 2" descr="milestone_timeline_2026-0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554480"/>
            <a:ext cx="1000071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2 critical risk(s) are open and mitigated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Critical risks and issues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4415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9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R002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ERP cutover slips past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Jonas Weber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Weekly cutover war-room; fallback to parallel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integration_tracker.xlsx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R001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Key engineer attrition in target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Lisa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Retention bonus program approved by SteerCo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integration_tracker.xlsx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R003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Customer churn during rebranding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Sofia Ivanova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Proactive top-50 account outreach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integration_tracker.xlsx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Integration spend is within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Synergy and financial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Budget</a:t>
            </a:r>
          </a:p>
          <a:p>
            <a:r>
              <a:rPr sz="2800" b="1">
                <a:solidFill>
                  <a:srgbClr val="2E7D32"/>
                </a:solidFill>
              </a:rPr>
              <a:t>Not Reported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Actual</a:t>
            </a:r>
          </a:p>
          <a:p>
            <a:r>
              <a:rPr sz="2800" b="1">
                <a:solidFill>
                  <a:srgbClr val="1A1A1A"/>
                </a:solidFill>
              </a:rPr>
              <a:t>2,320,000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Forecast</a:t>
            </a:r>
          </a:p>
          <a:p>
            <a:r>
              <a:rPr sz="2800" b="1">
                <a:solidFill>
                  <a:srgbClr val="2E7D32"/>
                </a:solidFill>
              </a:rPr>
              <a:t>Not 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Synergy target</a:t>
            </a:r>
          </a:p>
          <a:p>
            <a:r>
              <a:rPr sz="2800" b="1">
                <a:solidFill>
                  <a:srgbClr val="2E7D32"/>
                </a:solidFill>
              </a:rPr>
              <a:t>Not 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6576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Synergy realized</a:t>
            </a:r>
          </a:p>
          <a:p>
            <a:r>
              <a:rPr sz="2800" b="1">
                <a:solidFill>
                  <a:srgbClr val="F9A825"/>
                </a:solidFill>
              </a:rPr>
              <a:t>Not Reported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6576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57575"/>
                </a:solidFill>
              </a:rPr>
              <a:t>Currency</a:t>
            </a:r>
          </a:p>
          <a:p>
            <a:r>
              <a:rPr sz="2800" b="1">
                <a:solidFill>
                  <a:srgbClr val="757575"/>
                </a:solidFill>
              </a:rPr>
              <a:t>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No decisions are currently pending Steering Committee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57575"/>
                </a:solidFill>
              </a:rPr>
              <a:t>No open decisions were found in the uploaded files. If a decision is expected this period, it is not recorded in any source provided.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Upcoming milestones before the next Steering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4415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Day-100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20-08-2026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Anna 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ERP 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01-10-2026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Jonas Weber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Data quality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How this report was 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 Data-quality score: 86/100 (29 items from 29 traceable source reference(s)).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 1 cross-source conflict(s) were detected and resolved (0 by source priority, 1 by the user).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 9 completeness issue(s) detected.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 1 mathematical issue(s) detected.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 1 temporal issue(s) detected.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 Gaps: 1 task(s) with no owner; 4 task(s) with no due date; 4 budget line(s) with no forecast.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57575"/>
                </a:solidFill>
              </a:rPr>
              <a:t>Prototype output — requires Senior Manager review before distribution to stakeholders.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