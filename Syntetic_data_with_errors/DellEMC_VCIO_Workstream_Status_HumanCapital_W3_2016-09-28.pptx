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38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xmann, Paul" userId="fbc82133-129a-4dcf-80c4-e933ee85612e" providerId="ADAL" clId="{865C5255-48DE-4BF3-A9A9-8C777D2FBCA3}"/>
    <pc:docChg chg="undo custSel modSld">
      <pc:chgData name="Axmann, Paul" userId="fbc82133-129a-4dcf-80c4-e933ee85612e" providerId="ADAL" clId="{865C5255-48DE-4BF3-A9A9-8C777D2FBCA3}" dt="2026-07-22T13:16:50.319" v="97" actId="700"/>
      <pc:docMkLst>
        <pc:docMk/>
      </pc:docMkLst>
      <pc:sldChg chg="addSp delSp modSp mod modClrScheme chgLayout">
        <pc:chgData name="Axmann, Paul" userId="fbc82133-129a-4dcf-80c4-e933ee85612e" providerId="ADAL" clId="{865C5255-48DE-4BF3-A9A9-8C777D2FBCA3}" dt="2026-07-22T13:16:50.319" v="97" actId="700"/>
        <pc:sldMkLst>
          <pc:docMk/>
          <pc:sldMk cId="2895843105" sldId="258"/>
        </pc:sldMkLst>
        <pc:spChg chg="add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2" creationId="{24FB5E02-7515-9876-B496-05DBDCDD649F}"/>
          </ac:spMkLst>
        </pc:spChg>
        <pc:spChg chg="add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4" creationId="{B17175E7-5E25-6D4C-AD46-53CE452DACFD}"/>
          </ac:spMkLst>
        </pc:spChg>
        <pc:spChg chg="add del mod topLvl">
          <ac:chgData name="Axmann, Paul" userId="fbc82133-129a-4dcf-80c4-e933ee85612e" providerId="ADAL" clId="{865C5255-48DE-4BF3-A9A9-8C777D2FBCA3}" dt="2026-07-22T13:16:44.554" v="96" actId="478"/>
          <ac:spMkLst>
            <pc:docMk/>
            <pc:sldMk cId="2895843105" sldId="258"/>
            <ac:spMk id="5" creationId="{8E76DACD-B206-A8BC-C7E6-A1ADEBDCAF64}"/>
          </ac:spMkLst>
        </pc:spChg>
        <pc:spChg chg="del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8" creationId="{0E314AB3-8E17-8C03-C902-BB93857E04A0}"/>
          </ac:spMkLst>
        </pc:spChg>
        <pc:spChg chg="del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9" creationId="{07954675-4C93-20E7-67E7-3D1752E8C678}"/>
          </ac:spMkLst>
        </pc:spChg>
        <pc:spChg chg="del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10" creationId="{50A0C943-A884-08CC-C4CB-7B58983AD670}"/>
          </ac:spMkLst>
        </pc:spChg>
        <pc:spChg chg="add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12" creationId="{7CC3B3E3-D519-B9EC-5BEA-D17925F3C060}"/>
          </ac:spMkLst>
        </pc:spChg>
        <pc:grpChg chg="add del mod">
          <ac:chgData name="Axmann, Paul" userId="fbc82133-129a-4dcf-80c4-e933ee85612e" providerId="ADAL" clId="{865C5255-48DE-4BF3-A9A9-8C777D2FBCA3}" dt="2026-07-22T13:16:42.283" v="95" actId="478"/>
          <ac:grpSpMkLst>
            <pc:docMk/>
            <pc:sldMk cId="2895843105" sldId="258"/>
            <ac:grpSpMk id="7" creationId="{2BF27B01-2079-E0CA-6D27-40E0F4EB031D}"/>
          </ac:grpSpMkLst>
        </pc:grpChg>
        <pc:picChg chg="add del mod topLvl">
          <ac:chgData name="Axmann, Paul" userId="fbc82133-129a-4dcf-80c4-e933ee85612e" providerId="ADAL" clId="{865C5255-48DE-4BF3-A9A9-8C777D2FBCA3}" dt="2026-07-22T13:16:42.283" v="95" actId="478"/>
          <ac:picMkLst>
            <pc:docMk/>
            <pc:sldMk cId="2895843105" sldId="258"/>
            <ac:picMk id="6" creationId="{A8C050C3-039E-2699-901D-6942C37D2054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6.emf"/><Relationship Id="rId5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6.emf"/><Relationship Id="rId5" Type="http://schemas.openxmlformats.org/officeDocument/2006/relationships/image" Target="../media/image8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with tagline logo lockup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FC5E484-EB26-0B50-B87A-799C320E83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3700984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9C623ED-9A31-E94B-385F-DFBB34F591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10582140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with tagline logo lockup - CM centered 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8108487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- CM centered 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7953367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 with tagline logo lockup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9A09F874-9939-7788-F7E8-1E902B5632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9777382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956925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 with tagline logo lockup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2" descr="Deloitte logo lockup with Together makes progress tagline">
            <a:extLst>
              <a:ext uri="{FF2B5EF4-FFF2-40B4-BE49-F238E27FC236}">
                <a16:creationId xmlns:a16="http://schemas.microsoft.com/office/drawing/2014/main" id="{A1983826-29C7-9575-AAA8-E0D864E52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E4A851A-D19A-CC7E-CF9F-4EEAB1DF2E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46057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75604727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with tagline logo lockup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D417F91-0FD9-83FB-569A-B960E93D5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5659139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FB2FFE14-03CA-6135-58A2-5C311D3651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8561485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with tagline logo lockup - CM centered 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1090652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- CM centered 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6321028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 with tagline logo lockup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F8A2FFF-A4B2-D935-C7DC-1DB5EDE4A7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792615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5BCB8175-C467-0B04-B004-47252C8E68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3767834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 with tagline logo lockup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2" name="Picture 1" descr="Deloitte logo lockup with Together makes progress tagline">
            <a:extLst>
              <a:ext uri="{FF2B5EF4-FFF2-40B4-BE49-F238E27FC236}">
                <a16:creationId xmlns:a16="http://schemas.microsoft.com/office/drawing/2014/main" id="{BE86AADC-48FD-960B-F4EC-82693FA49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pic>
        <p:nvPicPr>
          <p:cNvPr id="3" name="Picture 2" descr="Deloitte logo lockup with Together makes progress tagline">
            <a:extLst>
              <a:ext uri="{FF2B5EF4-FFF2-40B4-BE49-F238E27FC236}">
                <a16:creationId xmlns:a16="http://schemas.microsoft.com/office/drawing/2014/main" id="{0EB08596-6566-04B7-6E40-E9321F1A98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69958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0434107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Full bleed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239FF85-CD49-BB35-3695-75C424AD97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</p:spTree>
    <p:extLst>
      <p:ext uri="{BB962C8B-B14F-4D97-AF65-F5344CB8AC3E}">
        <p14:creationId xmlns:p14="http://schemas.microsoft.com/office/powerpoint/2010/main" val="350947572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Glow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22674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A green circle on a green background&#10;&#10;AI-generated content may be incorrect.">
            <a:extLst>
              <a:ext uri="{FF2B5EF4-FFF2-40B4-BE49-F238E27FC236}">
                <a16:creationId xmlns:a16="http://schemas.microsoft.com/office/drawing/2014/main" id="{45E3228C-6488-D962-AD57-9F2A5C589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sp>
        <p:nvSpPr>
          <p:cNvPr id="5" name="CaseCode">
            <a:extLst>
              <a:ext uri="{FF2B5EF4-FFF2-40B4-BE49-F238E27FC236}">
                <a16:creationId xmlns:a16="http://schemas.microsoft.com/office/drawing/2014/main" id="{731E6BB5-C9D1-E35B-D6D9-245F1063E86F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B5B05F3-7BE5-74BC-C267-D563E5B2A301}"/>
              </a:ext>
            </a:extLst>
          </p:cNvPr>
          <p:cNvSpPr txBox="1"/>
          <p:nvPr userDrawn="1"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2C802-4131-8DA8-7683-E68E2E309BA0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2671CB7-EA0F-58E4-4174-1D1922A3AB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398468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United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19038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D2CC364-3A56-4B32-F356-4C27AC2B9C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6B8C9E7-4466-7BA5-F810-207C3AD47343}"/>
              </a:ext>
            </a:extLst>
          </p:cNvPr>
          <p:cNvSpPr/>
          <p:nvPr userDrawn="1"/>
        </p:nvSpPr>
        <p:spPr bwMode="gray">
          <a:xfrm>
            <a:off x="0" y="6134100"/>
            <a:ext cx="12192000" cy="723900"/>
          </a:xfrm>
          <a:prstGeom prst="rect">
            <a:avLst/>
          </a:prstGeom>
          <a:solidFill>
            <a:schemeClr val="tx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GB" sz="1600" b="1" dirty="0">
              <a:solidFill>
                <a:schemeClr val="bg1"/>
              </a:solidFill>
            </a:endParaRPr>
          </a:p>
        </p:txBody>
      </p:sp>
      <p:pic>
        <p:nvPicPr>
          <p:cNvPr id="2" name="Picture 1" descr="A circle of small green and blue dots&#10;&#10;Description automatically generated">
            <a:extLst>
              <a:ext uri="{FF2B5EF4-FFF2-40B4-BE49-F238E27FC236}">
                <a16:creationId xmlns:a16="http://schemas.microsoft.com/office/drawing/2014/main" id="{56245C15-57A3-6DF3-1754-20E77EB5CAD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5" t="20842" r="-653" b="104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seCode">
            <a:extLst>
              <a:ext uri="{FF2B5EF4-FFF2-40B4-BE49-F238E27FC236}">
                <a16:creationId xmlns:a16="http://schemas.microsoft.com/office/drawing/2014/main" id="{5B845E89-F80E-32AE-4F61-BAF2AA74950B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B7CF71EE-0CD0-8C9C-7BDE-2A50106D047E}"/>
              </a:ext>
            </a:extLst>
          </p:cNvPr>
          <p:cNvSpPr txBox="1"/>
          <p:nvPr userDrawn="1"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2E2EDCA-A039-A543-5967-C567708E407B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239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67FC27F4-B029-8F10-CF8E-13A946A025B5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9AEA1EB-B05E-844E-88AE-0B79DF479CCD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7C4E0-E9D0-9FCD-AFF6-A164148A4809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37997-F2A9-D664-587D-4BF3816A0D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30353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2CD58D-2BFB-3387-A814-C06828E88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041310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288D3C-20C4-200E-7A39-8253F3E6AD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6599588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Deep Green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F684A669-26C5-90D5-704C-199677EB5DCB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7BB995-EE99-3880-DCE6-C93F71A128CE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1CC79A-BB5E-1920-0382-D1E9D54533B4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582AB9-92F7-B2E5-BF9C-744E1F477F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609950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ark-Bright gradient 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2FC75865-6F76-C54E-DF22-E2B4689596A8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4D8129D5-9039-E8B3-5F13-E4574BC308FD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CBBC4D-3C0B-94BF-1ABE-F74D334FD22C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559336F-A28E-132F-AE15-43D8D49F2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17764879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Bright Green">
    <p:bg bwMode="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Code">
            <a:extLst>
              <a:ext uri="{FF2B5EF4-FFF2-40B4-BE49-F238E27FC236}">
                <a16:creationId xmlns:a16="http://schemas.microsoft.com/office/drawing/2014/main" id="{1F8EA9CE-A4FD-7F07-8A19-61F161FECD5F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EFB2FD2C-2339-18D3-FE74-70FF8DBE712E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2674E4-36E3-6473-BA52-EF41006ED287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4FDF0-825B-9D05-FCBA-CD50EF6CC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0206044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5F35D1E1-7A9C-AE7F-744F-00D2D0F343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186298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Full blee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E1843C-9C47-5853-9CCF-75A6755EA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776662715"/>
      </p:ext>
    </p:extLst>
  </p:cSld>
  <p:clrMapOvr>
    <a:masterClrMapping/>
  </p:clrMapOvr>
  <p:transition>
    <p:fade/>
  </p:transition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6593EEB-1CDC-4080-8C11-602DEAE10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53599953"/>
      </p:ext>
    </p:extLst>
  </p:cSld>
  <p:clrMapOvr>
    <a:masterClrMapping/>
  </p:clrMapOvr>
  <p:transition>
    <p:fade/>
  </p:transition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567164D-98D6-14DE-1654-80431002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516246814"/>
      </p:ext>
    </p:extLst>
  </p:cSld>
  <p:clrMapOvr>
    <a:masterClrMapping/>
  </p:clrMapOvr>
  <p:transition>
    <p:fade/>
  </p:transition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63DAA5C-077F-FE00-63CE-03BEF637C3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6929E50-6BC7-6A16-7F97-75FA3937A2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6829878"/>
      </p:ext>
    </p:extLst>
  </p:cSld>
  <p:clrMapOvr>
    <a:masterClrMapping/>
  </p:clrMapOvr>
  <p:transition>
    <p:fade/>
  </p:transition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DD490B8-B418-78D3-2E0B-461A61F706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333EA7F-716E-CA3B-831D-4E6ADC7C21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099169720"/>
      </p:ext>
    </p:extLst>
  </p:cSld>
  <p:clrMapOvr>
    <a:masterClrMapping/>
  </p:clrMapOvr>
  <p:transition>
    <p:fade/>
  </p:transition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B191C74-910B-0CFC-9067-143443C4A2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F0BB36C-DE52-CFD5-6483-3AF9FFFA1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903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753875"/>
      </p:ext>
    </p:extLst>
  </p:cSld>
  <p:clrMapOvr>
    <a:masterClrMapping/>
  </p:clrMapOvr>
  <p:transition>
    <p:fade/>
  </p:transition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0019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0138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B60B513-6C68-425A-86AC-3FC42F4B2B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57AFC-2713-6B3B-F635-37B6D88CC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8897783"/>
      </p:ext>
    </p:extLst>
  </p:cSld>
  <p:clrMapOvr>
    <a:masterClrMapping/>
  </p:clrMapOvr>
  <p:transition>
    <p:fade/>
  </p:transition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7D2A86E-3485-4064-F11B-592641772D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E96810A4-9AE7-5408-F486-24386EEDA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502570706"/>
      </p:ext>
    </p:extLst>
  </p:cSld>
  <p:clrMapOvr>
    <a:masterClrMapping/>
  </p:clrMapOvr>
  <p:transition>
    <p:fade/>
  </p:transition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362A436-16E9-8D92-CE75-CF090274A9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CE7ED7B-D3F7-0C2D-3D7F-23B03A315C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478124"/>
      </p:ext>
    </p:extLst>
  </p:cSld>
  <p:clrMapOvr>
    <a:masterClrMapping/>
  </p:clrMapOvr>
  <p:transition>
    <p:fade/>
  </p:transition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9870"/>
            <a:ext cx="8566108" cy="2169796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defRPr sz="800" b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1" descr="Deloitte logo">
            <a:extLst>
              <a:ext uri="{FF2B5EF4-FFF2-40B4-BE49-F238E27FC236}">
                <a16:creationId xmlns:a16="http://schemas.microsoft.com/office/drawing/2014/main" id="{1BEBA89D-3AAC-3CB0-C580-EB5B54573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21166"/>
      </p:ext>
    </p:extLst>
  </p:cSld>
  <p:clrMapOvr>
    <a:masterClrMapping/>
  </p:clrMapOvr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176619"/>
      </p:ext>
    </p:extLst>
  </p:cSld>
  <p:clrMapOvr>
    <a:masterClrMapping/>
  </p:clrMapOvr>
  <p:transition>
    <p:fade/>
  </p:transition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455440"/>
      </p:ext>
    </p:extLst>
  </p:cSld>
  <p:clrMapOvr>
    <a:masterClrMapping/>
  </p:clrMapOvr>
  <p:transition>
    <p:fade/>
  </p:transition>
  <p:hf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530930"/>
      </p:ext>
    </p:extLst>
  </p:cSld>
  <p:clrMapOvr>
    <a:masterClrMapping/>
  </p:clrMapOvr>
  <p:transition>
    <p:fade/>
  </p:transition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903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872240"/>
      </p:ext>
    </p:extLst>
  </p:cSld>
  <p:clrMapOvr>
    <a:masterClrMapping/>
  </p:clrMapOvr>
  <p:transition>
    <p:fade/>
  </p:transition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0019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0138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908113"/>
      </p:ext>
    </p:extLst>
  </p:cSld>
  <p:clrMapOvr>
    <a:masterClrMapping/>
  </p:clrMapOvr>
  <p:transition>
    <p:fade/>
  </p:transition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88365"/>
      </p:ext>
    </p:extLst>
  </p:cSld>
  <p:clrMapOvr>
    <a:masterClrMapping/>
  </p:clrMapOvr>
  <p:transition>
    <p:fade/>
  </p:transition>
  <p:hf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923985"/>
      </p:ext>
    </p:extLst>
  </p:cSld>
  <p:clrMapOvr>
    <a:masterClrMapping/>
  </p:clrMapOvr>
  <p:transition>
    <p:fade/>
  </p:transition>
  <p:hf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254996"/>
      </p:ext>
    </p:extLst>
  </p:cSld>
  <p:clrMapOvr>
    <a:masterClrMapping/>
  </p:clrMapOvr>
  <p:transition>
    <p:fade/>
  </p:transition>
  <p:hf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3129"/>
      </p:ext>
    </p:extLst>
  </p:cSld>
  <p:clrMapOvr>
    <a:masterClrMapping/>
  </p:clrMapOvr>
  <p:transition>
    <p:fade/>
  </p:transition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486067"/>
      </p:ext>
    </p:extLst>
  </p:cSld>
  <p:clrMapOvr>
    <a:masterClrMapping/>
  </p:clrMapOvr>
  <p:transition>
    <p:fade/>
  </p:transition>
  <p:hf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903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045997"/>
      </p:ext>
    </p:extLst>
  </p:cSld>
  <p:clrMapOvr>
    <a:masterClrMapping/>
  </p:clrMapOvr>
  <p:transition>
    <p:fade/>
  </p:transition>
  <p:hf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0019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0138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075143"/>
      </p:ext>
    </p:extLst>
  </p:cSld>
  <p:clrMapOvr>
    <a:masterClrMapping/>
  </p:clrMapOvr>
  <p:transition>
    <p:fade/>
  </p:transition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53440"/>
      </p:ext>
    </p:extLst>
  </p:cSld>
  <p:clrMapOvr>
    <a:masterClrMapping/>
  </p:clrMapOvr>
  <p:transition>
    <p:fade/>
  </p:transition>
  <p:hf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946909"/>
      </p:ext>
    </p:extLst>
  </p:cSld>
  <p:clrMapOvr>
    <a:masterClrMapping/>
  </p:clrMapOvr>
  <p:transition>
    <p:fade/>
  </p:transition>
  <p:hf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1A6448-2CDA-7D6D-F1A0-347696B21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590089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8D36622-3315-0885-4F7E-8CCDE0C2BA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3E8942A-B484-29A8-C101-63496BEA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8469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hf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C36FB10-1EF5-A9A4-577D-A18DA4D120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9323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36FB10-1EF5-A9A4-577D-A18DA4D12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FB46B341-3430-2348-6D11-485200BFA9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F99282DB-7705-38D1-75C5-92BD76D91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2F2C4463-3F55-0B57-ECFE-555C0A1782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6751606"/>
      </p:ext>
    </p:extLst>
  </p:cSld>
  <p:clrMapOvr>
    <a:masterClrMapping/>
  </p:clrMapOvr>
  <p:transition>
    <p:fade/>
  </p:transition>
  <p:hf hd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5E6F299-A818-CA93-A927-F61A877DA2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13879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E6F299-A818-CA93-A927-F61A877DA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D6FEAFF-2B74-1B3D-168E-42A9A695E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DF503BF-FE6C-E555-3A41-CFFD641471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5E59B36-2F4F-A0E8-D1A8-C198F28B171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9579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380655"/>
      </p:ext>
    </p:extLst>
  </p:cSld>
  <p:clrMapOvr>
    <a:masterClrMapping/>
  </p:clrMapOvr>
  <p:transition>
    <p:fade/>
  </p:transition>
  <p:hf hd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82120E2-D6C2-D764-40A5-E97D481216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22964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2120E2-D6C2-D764-40A5-E97D481216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413E34D-A983-4D25-B3D7-D7643F603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F14D54C-54B5-CC50-7E64-122407456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E9C8C-3361-2EBB-1420-4D27917305A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31462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D594323-BB1E-32C6-75D1-37D14037392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93024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3788966"/>
      </p:ext>
    </p:extLst>
  </p:cSld>
  <p:clrMapOvr>
    <a:masterClrMapping/>
  </p:clrMapOvr>
  <p:transition>
    <p:fade/>
  </p:transition>
  <p:hf hd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AF0D7E5-2029-3151-0D44-92D925760B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3120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F0D7E5-2029-3151-0D44-92D925760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86DEB7A-2D80-0936-9E40-8E28EEB0EB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67F64B02-86CD-B81B-86B2-05391A92AC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9EE392B-1FEE-21B0-181D-C9962A3FE8E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30787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C71861D-BC3F-2DAD-BA49-86947F937CC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91674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D62757C-35E9-6C73-1638-E2D99D8D412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05256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6883267"/>
      </p:ext>
    </p:extLst>
  </p:cSld>
  <p:clrMapOvr>
    <a:masterClrMapping/>
  </p:clrMapOvr>
  <p:transition>
    <p:fade/>
  </p:transition>
  <p:hf hd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3E4C1F1A-C2FD-0E2E-2497-1640B8CFB7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39920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4C1F1A-C2FD-0E2E-2497-1640B8CFB7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5352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45352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98040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0744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98040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0000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98DB5DD3-41BE-3F94-9CAF-1C6AF307A2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00744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7685A54B-009E-7531-D093-9C1E6AA6E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09F11E-B446-F54E-C136-D44C717D20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93841633"/>
      </p:ext>
    </p:extLst>
  </p:cSld>
  <p:clrMapOvr>
    <a:masterClrMapping/>
  </p:clrMapOvr>
  <p:transition>
    <p:fade/>
  </p:transition>
  <p:hf hd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7C7A401-E3C4-4448-BB60-24DC9B089C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0233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C7A401-E3C4-4448-BB60-24DC9B089C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DFBE7610-ECB4-CA89-5B4C-9B0C6E8A570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6E7011BF-A32B-4689-4585-D2226C8A39D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78000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EB426A-016F-1B65-1168-FF2235F36C2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43CBCEE-6AB3-6F31-A1DF-F3F88E17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D7B41BD-8ED5-299A-47F6-EACF78AFC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46306D7-050B-5308-5E5B-4221EF4A7F66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245352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6DE0135C-F9C3-EE2B-FE85-1B28EA0EBB82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9E80491-83AB-C6B3-9191-54EDF5F4418A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39258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FAF1A226-15D9-1330-BC7B-DBA485ECA6B6}"/>
              </a:ext>
            </a:extLst>
          </p:cNvPr>
          <p:cNvSpPr/>
          <p:nvPr userDrawn="1"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FA52BBBB-A981-58D6-6AC0-87FD0B6CA84A}"/>
              </a:ext>
            </a:extLst>
          </p:cNvPr>
          <p:cNvSpPr/>
          <p:nvPr userDrawn="1"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181783"/>
      </p:ext>
    </p:extLst>
  </p:cSld>
  <p:clrMapOvr>
    <a:masterClrMapping/>
  </p:clrMapOvr>
  <p:transition>
    <p:fade/>
  </p:transition>
  <p:hf hd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7952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1" descr="Deloitte logo">
            <a:extLst>
              <a:ext uri="{FF2B5EF4-FFF2-40B4-BE49-F238E27FC236}">
                <a16:creationId xmlns:a16="http://schemas.microsoft.com/office/drawing/2014/main" id="{4C074566-129B-653D-CAB9-0DAF93F2A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09073"/>
      </p:ext>
    </p:extLst>
  </p:cSld>
  <p:clrMapOvr>
    <a:masterClrMapping/>
  </p:clrMapOvr>
  <p:hf hd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1.xml"/><Relationship Id="rId62" Type="http://schemas.openxmlformats.org/officeDocument/2006/relationships/tags" Target="../tags/tag2.xml"/><Relationship Id="rId63" Type="http://schemas.openxmlformats.org/officeDocument/2006/relationships/oleObject" Target="../embeddings/oleObject1.bin"/><Relationship Id="rId6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/>
          </p:cNvGraphicFramePr>
          <p:nvPr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2630452337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3" imgW="270" imgH="270" progId="TCLayout.ActiveDocument.1">
                  <p:embed/>
                </p:oleObj>
              </mc:Choice>
              <mc:Fallback>
                <p:oleObj name="think-cell Slide" r:id="rId63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7200" y="345664"/>
            <a:ext cx="11274552" cy="340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5" name="CaseCode"/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b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sz="750">
                <a:solidFill>
                  <a:srgbClr val="75787B"/>
                </a:solidFill>
              </a:rPr>
              <a:t>Dell Technologies  |  Value Creation Integration Office (VCIO)</a:t>
            </a:r>
          </a:p>
          <a:p>
            <a:pPr algn="r"/>
            <a:r>
              <a:rPr sz="750">
                <a:solidFill>
                  <a:srgbClr val="75787B"/>
                </a:solidFill>
              </a:rPr>
              <a:t>29 September 2016  |  Day 22 after Day 1  |  Strictly confidential</a:t>
            </a:r>
          </a:p>
        </p:txBody>
      </p:sp>
      <p:sp>
        <p:nvSpPr>
          <p:cNvPr id="18" name="Copyright"/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2016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0093" y="1679602"/>
            <a:ext cx="11274552" cy="4661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rgbClr val="75787B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empower - DO NOT DELETE!!!" hidden="1">
            <a:extLst>
              <a:ext uri="{FF2B5EF4-FFF2-40B4-BE49-F238E27FC236}">
                <a16:creationId xmlns:a16="http://schemas.microsoft.com/office/drawing/2014/main" id="{F0D1FA80-C256-A670-1626-C6A1C11F42B7}"/>
              </a:ext>
            </a:extLst>
          </p:cNvPr>
          <p:cNvSpPr/>
          <p:nvPr>
            <p:custDataLst>
              <p:tags r:id="rId62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de-DE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854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</p:sldLayoutIdLst>
  <p:transition>
    <p:fade/>
  </p:transition>
  <p:hf hd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Aptos" panose="020B000402020202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SzPct val="100000"/>
        <a:buFontTx/>
        <a:buNone/>
        <a:defRPr sz="1200" b="0" kern="120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1pPr>
      <a:lvl2pPr marL="179388" indent="-179388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lang="en-US" sz="1200" b="0" kern="120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2pPr>
      <a:lvl3pPr marL="360363" indent="-180975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defRPr lang="en-US" sz="1200" b="0" kern="120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3pPr>
      <a:lvl4pPr marL="538163" indent="-17780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◦"/>
        <a:defRPr lang="en-US" sz="1200" b="0" kern="1200" baseline="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4pPr>
      <a:lvl5pPr marL="717550" indent="-179388" algn="l" defTabSz="598885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tabLst/>
        <a:defRPr lang="en-US" sz="1200" b="0" kern="1200" baseline="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5" pos="3936">
          <p15:clr>
            <a:srgbClr val="F26B43"/>
          </p15:clr>
        </p15:guide>
        <p15:guide id="96" orient="horz" pos="4008">
          <p15:clr>
            <a:srgbClr val="F26B43"/>
          </p15:clr>
        </p15:guide>
        <p15:guide id="97" orient="horz" pos="4104">
          <p15:clr>
            <a:srgbClr val="F26B43"/>
          </p15:clr>
        </p15:guide>
        <p15:guide id="98" orient="horz" pos="1056">
          <p15:clr>
            <a:srgbClr val="F26B43"/>
          </p15:clr>
        </p15:guide>
        <p15:guide id="99" pos="3840">
          <p15:clr>
            <a:srgbClr val="F26B43"/>
          </p15:clr>
        </p15:guide>
        <p15:guide id="100" pos="7392">
          <p15:clr>
            <a:srgbClr val="F26B43"/>
          </p15:clr>
        </p15:guide>
        <p15:guide id="101" orient="horz" pos="216">
          <p15:clr>
            <a:srgbClr val="F26B43"/>
          </p15:clr>
        </p15:guide>
        <p15:guide id="102" orient="horz" pos="432">
          <p15:clr>
            <a:srgbClr val="F26B43"/>
          </p15:clr>
        </p15:guide>
        <p15:guide id="103" pos="288">
          <p15:clr>
            <a:srgbClr val="F26B43"/>
          </p15:clr>
        </p15:guide>
        <p15:guide id="104" pos="374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WS4 Human Capital: Weekly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7455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75787B"/>
                </a:solidFill>
              </a:rPr>
              <a:t>Value Creation Integration Office (VCIO)  |  Reporting week W3 (26 - 30 September 2016)  |  Workstream lead J. Adeyemi  |  Prepared 28 September 2016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783080" cy="256032"/>
          </a:xfrm>
          <a:prstGeom prst="rect">
            <a:avLst/>
          </a:prstGeom>
          <a:solidFill>
            <a:srgbClr val="046A38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Overall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53312"/>
            <a:ext cx="1783080" cy="384048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DA291C"/>
                </a:solidFill>
              </a:rPr>
              <a:t>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864" y="1097280"/>
            <a:ext cx="1783080" cy="256032"/>
          </a:xfrm>
          <a:prstGeom prst="rect">
            <a:avLst/>
          </a:prstGeom>
          <a:solidFill>
            <a:srgbClr val="046A38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Progress vs.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40864" y="1353312"/>
            <a:ext cx="1783080" cy="384048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</a:rPr>
              <a:t>49%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24528" y="1097280"/>
            <a:ext cx="1783080" cy="256032"/>
          </a:xfrm>
          <a:prstGeom prst="rect">
            <a:avLst/>
          </a:prstGeom>
          <a:solidFill>
            <a:srgbClr val="046A38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Milestones 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1353312"/>
            <a:ext cx="1783080" cy="384048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097280"/>
            <a:ext cx="1783080" cy="256032"/>
          </a:xfrm>
          <a:prstGeom prst="rect">
            <a:avLst/>
          </a:prstGeom>
          <a:solidFill>
            <a:srgbClr val="046A38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Overdue or blocked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8192" y="1353312"/>
            <a:ext cx="1783080" cy="384048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1856" y="1097280"/>
            <a:ext cx="1783080" cy="256032"/>
          </a:xfrm>
          <a:prstGeom prst="rect">
            <a:avLst/>
          </a:prstGeom>
          <a:solidFill>
            <a:srgbClr val="046A38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Open risks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1856" y="1353312"/>
            <a:ext cx="1783080" cy="384048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1097280"/>
            <a:ext cx="1783080" cy="256032"/>
          </a:xfrm>
          <a:prstGeom prst="rect">
            <a:avLst/>
          </a:prstGeom>
          <a:solidFill>
            <a:srgbClr val="046A38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Top risk severity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1353312"/>
            <a:ext cx="1783080" cy="384048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54864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46A38"/>
                </a:solidFill>
              </a:rPr>
              <a:t>Progress this week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2240280"/>
          <a:ext cx="5486396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79"/>
                <a:gridCol w="2285999"/>
                <a:gridCol w="822959"/>
                <a:gridCol w="640079"/>
                <a:gridCol w="731520"/>
                <a:gridCol w="365760"/>
              </a:tblGrid>
              <a:tr h="28194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Due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A-031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Publish combined organisation structure to lev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Adeyemi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11.10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Blocked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65%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A-032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Harmonise sales compensation plan design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Adeyemi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11.10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In progress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55%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A-033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Conclude works council consultation in Germany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Kempowski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28.10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In progress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40%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A-034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Confirm retention packages for named critical 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Adeyemi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In progress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75%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A-035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Track welcome eGuide adoption to Day 30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Brannigan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In progress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60%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254496" y="1920240"/>
            <a:ext cx="54864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46A38"/>
                </a:solidFill>
              </a:rPr>
              <a:t>Milestones and dependencies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254496" y="2240280"/>
          <a:ext cx="5486395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79"/>
                <a:gridCol w="2377439"/>
                <a:gridCol w="822959"/>
                <a:gridCol w="822959"/>
                <a:gridCol w="822959"/>
              </a:tblGrid>
              <a:tr h="241662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Milestone or dependency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Baseline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Forecast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M-02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Day 1 employee welcome eGuide live for a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07.09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07.09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Done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M-09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Harmonised sales compensation plan commu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11.10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At risk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M-13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Works council consultation DACH conclude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28.10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11.11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Delayed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M-18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Integration organisation transitioned to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16.12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16.12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On track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D-03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Works council conclusion required before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-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28.10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At risk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4166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D-04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Compensation plan design required before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-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11.10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On track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4114800"/>
            <a:ext cx="54864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46A38"/>
                </a:solidFill>
              </a:rPr>
              <a:t>Risks and blockers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4434840"/>
          <a:ext cx="548639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194560"/>
                <a:gridCol w="457200"/>
                <a:gridCol w="1645920"/>
                <a:gridCol w="640079"/>
              </a:tblGrid>
              <a:tr h="4572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Sev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R-04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Key talent attrition in the combined field organisat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15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Confirm retention packages for named critica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Adeyemi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R-02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Works council consultation in Germany does not concl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12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Weekly alignment with the works council chai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Kempowski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254496" y="4114800"/>
            <a:ext cx="54864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46A38"/>
                </a:solidFill>
              </a:rPr>
              <a:t>Asks and escalations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254496" y="443484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822960"/>
                <a:gridCol w="822960"/>
                <a:gridCol w="731520"/>
              </a:tblGrid>
              <a:tr h="4572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Ask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Needed by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Confirm the works council consultation timetable in writ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Kempowski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30.09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In progress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Update the role holder table after the Human Capital lea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Okonjo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30.09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In progress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50" b="0">
                <a:solidFill>
                  <a:srgbClr val="75787B"/>
                </a:solidFill>
              </a:rPr>
              <a:t>Source: integration tracker as at 29 September 2016, decision B-02 makes it the single source of truth.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UPDATE" val="True"/>
  <p:tag name="MIO_FALLBACK_LAYOUT" val="29"/>
  <p:tag name="MIO_SHOW_DATE" val="False"/>
  <p:tag name="MIO_SHOW_FOOTER" val="False"/>
  <p:tag name="MIO_SHOW_PAGENUMBER" val="False"/>
  <p:tag name="MIO_AVOID_BLANK_LAYOUT" val="True"/>
  <p:tag name="MIO_CD_LAYOUT_VALID_AREA" val="False"/>
  <p:tag name="MIO_EMBED_FONT" val="False"/>
  <p:tag name="MIO_NUMBER_OF_VALID_LAYOUTS" val="59"/>
  <p:tag name="MIO_MATCH_COLOR_SCHEME" val="True"/>
  <p:tag name="MIO_EKGUID" val="a4fc2127-e6ee-4e73-b2a0-71faa570fb8a"/>
  <p:tag name="MIO_DBID" val="fede6900-895c-4459-b97c-72b2b9dac459"/>
  <p:tag name="MIO_VERSION" val="31.03.2026 12:29:06"/>
  <p:tag name="MIO_LASTDOWNLOADED" val="21.05.2026 16:51:09.075"/>
  <p:tag name="MIO_OBJECTNAME" val="Deloitte 16:9 (2026) long"/>
  <p:tag name="MIO_CONTENTTAG" val="xb4C46bb80ubw2k2KBbiQg=="/>
  <p:tag name="MIO_CDID" val="b832c4bc-5070-4232-bfdb-3d42c9da7c2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oitte_Brand_Theme">
  <a:themeElements>
    <a:clrScheme name="Deloitte">
      <a:dk1>
        <a:sysClr val="windowText" lastClr="000000"/>
      </a:dk1>
      <a:lt1>
        <a:sysClr val="window" lastClr="FFFFFF"/>
      </a:lt1>
      <a:dk2>
        <a:srgbClr val="222222"/>
      </a:dk2>
      <a:lt2>
        <a:srgbClr val="E6E6E6"/>
      </a:lt2>
      <a:accent1>
        <a:srgbClr val="86BC25"/>
      </a:accent1>
      <a:accent2>
        <a:srgbClr val="26890D"/>
      </a:accent2>
      <a:accent3>
        <a:srgbClr val="046A38"/>
      </a:accent3>
      <a:accent4>
        <a:srgbClr val="1C3D26"/>
      </a:accent4>
      <a:accent5>
        <a:srgbClr val="0DF200"/>
      </a:accent5>
      <a:accent6>
        <a:srgbClr val="F1F6E4"/>
      </a:accent6>
      <a:hlink>
        <a:srgbClr val="26890D"/>
      </a:hlink>
      <a:folHlink>
        <a:srgbClr val="75787B"/>
      </a:folHlink>
    </a:clrScheme>
    <a:fontScheme name="Custom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>
            <a:solidFill>
              <a:srgbClr val="313131"/>
            </a:solidFill>
          </a:defRPr>
        </a:defPPr>
      </a:lstStyle>
    </a:txDef>
  </a:objectDefaults>
  <a:extraClrSchemeLst/>
  <a:custClrLst>
    <a:custClr name="Green 1">
      <a:srgbClr val="E3E48D"/>
    </a:custClr>
    <a:custClr name="Green 2">
      <a:srgbClr val="C4D600"/>
    </a:custClr>
    <a:custClr name="Green 4">
      <a:srgbClr val="43B02A"/>
    </a:custClr>
    <a:custClr name="Green 5">
      <a:srgbClr val="009A44"/>
    </a:custClr>
    <a:custClr name="Teal 1">
      <a:srgbClr val="DDEFE8"/>
    </a:custClr>
    <a:custClr name="Teal 2">
      <a:srgbClr val="9DD4CF"/>
    </a:custClr>
    <a:custClr name="Teal 3">
      <a:srgbClr val="6FC2B4"/>
    </a:custClr>
    <a:custClr name="Teal 4">
      <a:srgbClr val="00ABAB"/>
    </a:custClr>
    <a:custClr name="Teal 5">
      <a:srgbClr val="0097A9"/>
    </a:custClr>
    <a:custClr name="Teal 6">
      <a:srgbClr val="007680"/>
    </a:custClr>
    <a:custClr name="Teal 7">
      <a:srgbClr val="004F59"/>
    </a:custClr>
    <a:custClr name="Teal 8">
      <a:srgbClr val="0D8390"/>
    </a:custClr>
    <a:custClr name="Blue 1">
      <a:srgbClr val="A0DCFF"/>
    </a:custClr>
    <a:custClr name="Blue 2">
      <a:srgbClr val="62B5E5"/>
    </a:custClr>
    <a:custClr name="Blue 3">
      <a:srgbClr val="00A3E0"/>
    </a:custClr>
    <a:custClr name="Blue 4">
      <a:srgbClr val="0076A8"/>
    </a:custClr>
    <a:custClr name="Blue 5">
      <a:srgbClr val="005587"/>
    </a:custClr>
    <a:custClr name="Blue 6">
      <a:srgbClr val="012169"/>
    </a:custClr>
    <a:custClr name="Blue 7">
      <a:srgbClr val="041E42"/>
    </a:custClr>
    <a:custClr name="Blue 8">
      <a:srgbClr val="007CB0"/>
    </a:custClr>
    <a:custClr name="Cool Gray 2">
      <a:srgbClr val="D0D0CE"/>
    </a:custClr>
    <a:custClr name="Cool Gray 4">
      <a:srgbClr val="BBBCBC"/>
    </a:custClr>
    <a:custClr name="Cool Gray 6">
      <a:srgbClr val="A7A8AA"/>
    </a:custClr>
    <a:custClr name="Cool Gray 7">
      <a:srgbClr val="97999B"/>
    </a:custClr>
    <a:custClr name="Cool Gray 9">
      <a:srgbClr val="75787B"/>
    </a:custClr>
    <a:custClr name="Cool Gray 10">
      <a:srgbClr val="63666A"/>
    </a:custClr>
    <a:custClr name="Cool Gray 11">
      <a:srgbClr val="53565A"/>
    </a:custClr>
    <a:custClr name="Red">
      <a:srgbClr val="DA291C"/>
    </a:custClr>
    <a:custClr name="Orange">
      <a:srgbClr val="ED8B00"/>
    </a:custClr>
    <a:custClr name="Yellow">
      <a:srgbClr val="FFCD00"/>
    </a:custClr>
    <a:custClr name="Bright Blue">
      <a:srgbClr val="33F0FF"/>
    </a:custClr>
    <a:custClr name="Bright Teal">
      <a:srgbClr val="3EFAC5"/>
    </a:custClr>
  </a:custClrLst>
  <a:extLst>
    <a:ext uri="{05A4C25C-085E-4340-85A3-A5531E510DB2}">
      <thm15:themeFamily xmlns:thm15="http://schemas.microsoft.com/office/thememl/2012/main" name="Deloitte_Brand_Theme" id="{917CC780-C041-4F84-B057-DE63A8CDEF25}" vid="{5A16EDA9-025E-49B0-B403-896FAE83D19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Open Sans</vt:lpstr>
      <vt:lpstr>Verdana</vt:lpstr>
      <vt:lpstr>Wingdings 2</vt:lpstr>
      <vt:lpstr>Deloitte_Brand_Theme</vt:lpstr>
      <vt:lpstr>think-cell Slide</vt:lpstr>
      <vt:lpstr>PowerPoint Presentation</vt:lpstr>
    </vt:vector>
  </TitlesOfParts>
  <Company>Deloitte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Axmann, Paul</dc:creator>
  <cp:lastModifiedBy>Axmann, Paul</cp:lastModifiedBy>
  <cp:revision>3</cp:revision>
  <dcterms:created xsi:type="dcterms:W3CDTF">2026-05-21T14:50:05Z</dcterms:created>
  <dcterms:modified xsi:type="dcterms:W3CDTF">2026-07-22T13:16:52Z</dcterms:modified>
</cp:coreProperties>
</file>