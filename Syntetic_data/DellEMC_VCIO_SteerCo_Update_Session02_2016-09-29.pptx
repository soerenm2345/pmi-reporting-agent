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tags" Target="../tags/tag2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sz="750">
                <a:solidFill>
                  <a:srgbClr val="75787B"/>
                </a:solidFill>
              </a:rPr>
              <a:t>Dell Technologies  |  Value Creation Integration Office (VCIO)</a:t>
            </a:r>
          </a:p>
          <a:p>
            <a:pPr algn="r"/>
            <a:r>
              <a:rPr sz="750">
                <a:solidFill>
                  <a:srgbClr val="75787B"/>
                </a:solidFill>
              </a:rPr>
              <a:t>29 September 2016  |  Day 22 after Day 1  |  Strictly confidential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 b="1"/>
              <a:t>Value Creation Integration Office
Steering Committee, Session 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1000"/>
              <a:t>Dell Inc. and EMC Corporation   |   W3 (26 - 30 September 2016)   |   Day 22 after Day 1   |   29 September 2016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the Day 100 commitment of 16 December 2016 still holds, but three workstreams now carry a delayed gate milestone and the value case is 32 percent secured against register target.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Executive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100" b="1"/>
              <a:t>Overall status Amber   |   Milestones on track 14 of 18   |   Open actions 30, of which 2 overdue and 2 blocked   |   Secured synergy USD 2410 m of USD 7252 m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moved this week</a:t>
            </a:r>
          </a:p>
          <a:p>
            <a:pPr lvl="1"/>
            <a:r>
              <a:rPr sz="1100" b="0"/>
              <a:t>Value prioritisation framework scoring published and adopted as the sole basis for sequencing, per decision B-01</a:t>
            </a:r>
          </a:p>
          <a:p>
            <a:pPr lvl="1"/>
            <a:r>
              <a:rPr sz="1100" b="0"/>
              <a:t>Interim account ownership list published, closing the duplicate coverage issue raised in the first fortnight</a:t>
            </a:r>
          </a:p>
          <a:p>
            <a:pPr lvl="1"/>
            <a:r>
              <a:rPr sz="1100" b="0"/>
              <a:t>Portfolio cross-reference released ahead of the flagship event on 18 October 2016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is off track</a:t>
            </a:r>
          </a:p>
          <a:p>
            <a:pPr lvl="1"/>
            <a:r>
              <a:rPr sz="1100" b="0"/>
              <a:t>WS2 Tax, WS3 IT, WS4 Human Capital each carry a delayed gate milestone</a:t>
            </a:r>
          </a:p>
          <a:p>
            <a:pPr lvl="1"/>
            <a:r>
              <a:rPr sz="1100" b="0"/>
              <a:t>M-07 ERP consolidation blueprint has slipped 14 days; the legacy upgrade at the target and the integration design are competing for the same architecture decisions</a:t>
            </a:r>
          </a:p>
          <a:p>
            <a:pPr lvl="1"/>
            <a:r>
              <a:rPr sz="1100" b="0"/>
              <a:t>M-13 works council consultation in DACH has slipped 14 days and is a legal gate, not a schedule preference</a:t>
            </a:r>
          </a:p>
          <a:p>
            <a:pPr/>
            <a:r>
              <a:rPr sz="1100" b="0"/>
              <a:t/>
            </a:r>
          </a:p>
          <a:p>
            <a:pPr/>
            <a:r>
              <a:rPr sz="1100" b="1"/>
              <a:t>What the Steering Committee is asked to decide today</a:t>
            </a:r>
          </a:p>
          <a:p>
            <a:pPr lvl="1"/>
            <a:r>
              <a:rPr sz="1100" b="0"/>
              <a:t>B-07 hold the Day 100 review date and re-phase scope instead of moving the commitment, page 7</a:t>
            </a:r>
          </a:p>
          <a:p>
            <a:pPr lvl="1"/>
            <a:r>
              <a:rPr sz="1100" b="0"/>
              <a:t>Endorse the ERP blueprint recovery plan and the associated scope freeze, page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the two workstreams that gate everything downstream, WS2 Tax and WS3 IT, are the ones in difficulty.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Workstream Status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217"/>
                <a:gridCol w="2002023"/>
                <a:gridCol w="1159066"/>
                <a:gridCol w="948326"/>
                <a:gridCol w="948326"/>
                <a:gridCol w="948326"/>
                <a:gridCol w="1264435"/>
                <a:gridCol w="1475175"/>
                <a:gridCol w="842957"/>
                <a:gridCol w="1053696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Lead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RAG now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RAG last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Progress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Open milestones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Overdue or blocked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Top 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At SteerCo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Finance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Whitfield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Tax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Devereux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32%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59%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Human Capital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Adeyemi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Amber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49%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Supply Chain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Matsuda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Go-to-Market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Kowalczyk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47%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Real Estate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Ricciardi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43B02A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Green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48%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92040"/>
            <a:ext cx="11274552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Reading: RAG is derived, not asserted. A workstream shows Red when a gate milestone is already delayed, Amber when a gate milestone is at risk or a severity 15 or higher risk is open, Green otherwise. Three workstreams moved to Red this week; none improved. Progress percentages come from the integration tracker, which decision B-02 makes the single source of truth. Where a workstream deck disagrees with this table, the tracker governs.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3 of 18 milestones are delayed and the largest single slip is 14 days, which the Day 100 date can still absorb only if scope is re-phased.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Milestone Status: Day 1 to Day 100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237"/>
                <a:gridCol w="5490216"/>
                <a:gridCol w="686277"/>
                <a:gridCol w="980395"/>
                <a:gridCol w="980395"/>
                <a:gridCol w="882356"/>
                <a:gridCol w="980395"/>
                <a:gridCol w="686277"/>
              </a:tblGrid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Forecast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Delta (d)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Legal entity rationalisation plan approved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ERP consolidation blueprint signed off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+14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Harmonised sales compensation plan communicated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At risk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M-13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 council consultation DACH concluded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28.10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+14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Day 1 legal close and brand launch executed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Day 1 employee welcome eGuide live for all 140,000 employees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Sales e-runbook live for 40,000+ sales professionals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Combined opening balance sheet prepared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M-06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Interim consolidated reporting pack produced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5787B"/>
                </a:solidFill>
              </a:rPr>
              <a:t>13 of 18 milestones are gate relevant. 18 October 2016 is an external fixed date and cannot move.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3 risks sit at or above the escalation threshold of severity 15, and two of them share the same root cause.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Top Risks and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4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94"/>
                <a:gridCol w="3787544"/>
                <a:gridCol w="528494"/>
                <a:gridCol w="792741"/>
                <a:gridCol w="704659"/>
                <a:gridCol w="3435215"/>
                <a:gridCol w="704659"/>
                <a:gridCol w="792741"/>
              </a:tblGrid>
              <a:tr h="37719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 x I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Band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Legacy ERP upgrade at the target collides with the integration design, delayin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4x5=20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Freeze the legacy upgrade scope, run a joint architecture sessio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Master data quality in the supplier and material records prevents a clean migr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4x4=16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Re-extract with a corrected field mapping, add a data quality ga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05.10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Stable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Key talent attrition in the combined field organisation before the coverage mo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3x5=15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A291C"/>
                          </a:solidFill>
                        </a:rPr>
                        <a:t>High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Confirm retention packages for named critical roles, bring the c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Stable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 council consultation in Germany does not conclude before the organisatio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4x3=12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Weekly alignment with the works council chair, prepare a reduced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Customer confusion during the portfolio transition depresses the net promoter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3x4=12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Publish the portfolio cross-reference, brief the field with the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Entity rationalisation slips and delays the transfer pricing model, creating 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3x4=12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Escalate the entity chain review, run the transfer pricing outli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Increasing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Interdependencies between workstreams are not visible to the teams that create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4x3=12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D8B00"/>
                          </a:solidFill>
                        </a:rPr>
                        <a:t>Medium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Refresh the dependency map weekly, require both leads to confirm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Decreasing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83480"/>
            <a:ext cx="5486400" cy="128016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Movement since session 01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Increasing: R-01, R-02, R-06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Decreasing: R-05, R-07, R-14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New this period: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4983480"/>
            <a:ext cx="5486400" cy="128016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Register health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14 risks open, 3 at or above threshold, 6 escalated beyond the workstream.</a:t>
            </a:r>
          </a:p>
          <a:p>
            <a:pPr algn="l"/>
            <a:r>
              <a:rPr sz="1000" b="0">
                <a:solidFill>
                  <a:srgbClr val="222222"/>
                </a:solidFill>
              </a:rPr>
              <a:t>2 critical or high dependencies are still not confirmed by both leads, contrary to decision B-03.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USD 2410 m of USD 7252 m is secured, but only USD 711 m has passed Finance validation, which is the figure decision B-06 says we report.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Value Realisation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667511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77"/>
                <a:gridCol w="520139"/>
                <a:gridCol w="866898"/>
                <a:gridCol w="866898"/>
                <a:gridCol w="520139"/>
                <a:gridCol w="953588"/>
                <a:gridCol w="1040278"/>
              </a:tblGrid>
              <a:tr h="3149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Synergy bucket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Init.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Secured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FY17 in-year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Cost to achieve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Procurement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823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428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52%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171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IT cost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224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54%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90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Personnel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195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47%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Footprint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134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39%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Operations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159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62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39%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36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cross-sell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4,680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1,248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27%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157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pricing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630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23%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7,252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2,354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32%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727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565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783080"/>
            <a:ext cx="432511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Bridge to the deal model, USD m run-rate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2103120"/>
          <a:ext cx="43251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1376172"/>
              </a:tblGrid>
              <a:tr h="279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Line item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USD m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Deal model target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8,000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register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7,252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Gap to deal model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748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Secured, all initiatives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2,354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Secured, Finance validated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711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Realised to date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Cost synergy target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1,942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Revenue synergy target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5,310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00600"/>
            <a:ext cx="11274552" cy="137160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Revenue synergies are designed at roughly 2.7 times cost synergies, consistent with the ratio management stated publicly at announcement. Only USD 711 m has passed Finance validation, all of it in cost buckets; no revenue initiative has yet been validated, which is why the secured figure and the reportable figure differ by USD 1643 m. Issue I-03 records that the session 01 pack overstated this, and decision B-06 fixed the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Key message: one decision today, and the two actions still open from session 01 both sit on the critical path.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Decisions Requested and Actions Carried Forward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7455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42"/>
                <a:gridCol w="4546190"/>
                <a:gridCol w="4182495"/>
                <a:gridCol w="1182009"/>
                <a:gridCol w="818314"/>
              </a:tblGrid>
              <a:tr h="5791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Decision requested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Proposed by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B-05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Exclude co-determined units from the first organisation announcement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German consultation is a legal gate, not a communication preference; annou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W. 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B-07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Hold the Day 100 value realisation review date and re-phase scope instead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The date is a sponsor commitment; scope is the variable that can move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A. Vasquez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Open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Actions carried forward from session 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023360"/>
          <a:ext cx="112745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41"/>
                <a:gridCol w="4949803"/>
                <a:gridCol w="1283282"/>
                <a:gridCol w="549978"/>
                <a:gridCol w="1099956"/>
                <a:gridCol w="1099956"/>
                <a:gridCol w="641641"/>
                <a:gridCol w="1008293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Original 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Revised 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Shifts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Circulate the refreshed cross-workstream dependency map to all leads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D. Okonjo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23.09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Report the ERP blueprint recovery plan with a dated forecast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T. 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29.09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29.09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OP-03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Confirm the works council consultation timetable in writing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W. Kempowski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WS4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32120"/>
            <a:ext cx="11274552" cy="731520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</a:rPr>
              <a:t>2 of 12 tracked actions are closed and 2 have been rescheduled at least once. Action OP-01 is recorded in the signed session 01 minutes against D. Okonjo; it was reassigned by e-mail after the meeting and the minutes were never amended.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Appendix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300"/>
              <a:t>Source: company filings and the published advisory case study.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Appendix: Governance and Deal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828800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Integration mandate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Michael Dell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Chairman and CEO, Dell Technologies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Executive Sponsor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Rory Read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Chief Operating Executive, Dell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VCIO Co-Lead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Howard Elias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President and COO, EMC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VCIO Co-Lead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Lukas L. Hoebarth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Principal, Deloitte Consulting LLP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Lead Advisory Partner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54496" y="17830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2327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Reference point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Announcement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12 October 2015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Close, Day 1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7 September 2016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Transaction value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58 billion (headline USD 67 billion)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Consideration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24.05 cash plus 0.11146 tracking shares per target share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Committed debt financing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49.5 billion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Combined revenue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USD 74 billion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Employees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140,000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Countries served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180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Workstreams in the programme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more than 20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32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Announcement to close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</a:rPr>
                        <a:t>11 months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74552" cy="1645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>
                <a:solidFill>
                  <a:srgbClr val="75787B"/>
                </a:solidFill>
              </a:rPr>
              <a:t>Sources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1. EMC Corp, Form 8-K Exhibit 99.1, filed 7 September 2016 (SEC EDGAR)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2. Deloitte Global, 'Dell, EMC, and Deloitte create the next tech icon: a technology M&amp;A case study', deloitte.com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  3. Dell Technologies press release, 7 September 2016</a:t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/>
            </a:r>
          </a:p>
          <a:p>
            <a:pPr algn="l"/>
            <a:r>
              <a:rPr sz="900" b="0">
                <a:solidFill>
                  <a:srgbClr val="75787B"/>
                </a:solidFill>
              </a:rPr>
              <a:t>All operational names, figures, risks, actions and synergy values in this pack are synthetic and were constructed for testing purposes. They are internally consistent but are not a representation of what any party actually did.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