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autoAdjust="0"/>
    <p:restoredTop sz="94643"/>
  </p:normalViewPr>
  <p:slideViewPr>
    <p:cSldViewPr snapToGrid="0" showGuides="1">
      <p:cViewPr varScale="1">
        <p:scale>
          <a:sx n="115" d="100"/>
          <a:sy n="115" d="100"/>
        </p:scale>
        <p:origin x="2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xmann, Paul" userId="fbc82133-129a-4dcf-80c4-e933ee85612e" providerId="ADAL" clId="{865C5255-48DE-4BF3-A9A9-8C777D2FBCA3}"/>
    <pc:docChg chg="undo custSel modSld">
      <pc:chgData name="Axmann, Paul" userId="fbc82133-129a-4dcf-80c4-e933ee85612e" providerId="ADAL" clId="{865C5255-48DE-4BF3-A9A9-8C777D2FBCA3}" dt="2026-07-22T13:16:50.319" v="97" actId="700"/>
      <pc:docMkLst>
        <pc:docMk/>
      </pc:docMkLst>
      <pc:sldChg chg="addSp delSp modSp mod modClrScheme chgLayout">
        <pc:chgData name="Axmann, Paul" userId="fbc82133-129a-4dcf-80c4-e933ee85612e" providerId="ADAL" clId="{865C5255-48DE-4BF3-A9A9-8C777D2FBCA3}" dt="2026-07-22T13:16:50.319" v="97" actId="700"/>
        <pc:sldMkLst>
          <pc:docMk/>
          <pc:sldMk cId="2895843105" sldId="258"/>
        </pc:sldMkLst>
        <pc:spChg chg="add mod ord">
          <ac:chgData name="Axmann, Paul" userId="fbc82133-129a-4dcf-80c4-e933ee85612e" providerId="ADAL" clId="{865C5255-48DE-4BF3-A9A9-8C777D2FBCA3}" dt="2026-07-22T13:16:50.319" v="97" actId="700"/>
          <ac:spMkLst>
            <pc:docMk/>
            <pc:sldMk cId="2895843105" sldId="258"/>
            <ac:spMk id="2" creationId="{24FB5E02-7515-9876-B496-05DBDCDD649F}"/>
          </ac:spMkLst>
        </pc:spChg>
        <pc:spChg chg="add mod ord">
          <ac:chgData name="Axmann, Paul" userId="fbc82133-129a-4dcf-80c4-e933ee85612e" providerId="ADAL" clId="{865C5255-48DE-4BF3-A9A9-8C777D2FBCA3}" dt="2026-07-22T13:16:50.319" v="97" actId="700"/>
          <ac:spMkLst>
            <pc:docMk/>
            <pc:sldMk cId="2895843105" sldId="258"/>
            <ac:spMk id="4" creationId="{B17175E7-5E25-6D4C-AD46-53CE452DACFD}"/>
          </ac:spMkLst>
        </pc:spChg>
        <pc:spChg chg="add del mod topLvl">
          <ac:chgData name="Axmann, Paul" userId="fbc82133-129a-4dcf-80c4-e933ee85612e" providerId="ADAL" clId="{865C5255-48DE-4BF3-A9A9-8C777D2FBCA3}" dt="2026-07-22T13:16:44.554" v="96" actId="478"/>
          <ac:spMkLst>
            <pc:docMk/>
            <pc:sldMk cId="2895843105" sldId="258"/>
            <ac:spMk id="5" creationId="{8E76DACD-B206-A8BC-C7E6-A1ADEBDCAF64}"/>
          </ac:spMkLst>
        </pc:spChg>
        <pc:spChg chg="del mod ord">
          <ac:chgData name="Axmann, Paul" userId="fbc82133-129a-4dcf-80c4-e933ee85612e" providerId="ADAL" clId="{865C5255-48DE-4BF3-A9A9-8C777D2FBCA3}" dt="2026-07-22T13:16:50.319" v="97" actId="700"/>
          <ac:spMkLst>
            <pc:docMk/>
            <pc:sldMk cId="2895843105" sldId="258"/>
            <ac:spMk id="8" creationId="{0E314AB3-8E17-8C03-C902-BB93857E04A0}"/>
          </ac:spMkLst>
        </pc:spChg>
        <pc:spChg chg="del mod ord">
          <ac:chgData name="Axmann, Paul" userId="fbc82133-129a-4dcf-80c4-e933ee85612e" providerId="ADAL" clId="{865C5255-48DE-4BF3-A9A9-8C777D2FBCA3}" dt="2026-07-22T13:16:50.319" v="97" actId="700"/>
          <ac:spMkLst>
            <pc:docMk/>
            <pc:sldMk cId="2895843105" sldId="258"/>
            <ac:spMk id="9" creationId="{07954675-4C93-20E7-67E7-3D1752E8C678}"/>
          </ac:spMkLst>
        </pc:spChg>
        <pc:spChg chg="del mod ord">
          <ac:chgData name="Axmann, Paul" userId="fbc82133-129a-4dcf-80c4-e933ee85612e" providerId="ADAL" clId="{865C5255-48DE-4BF3-A9A9-8C777D2FBCA3}" dt="2026-07-22T13:16:50.319" v="97" actId="700"/>
          <ac:spMkLst>
            <pc:docMk/>
            <pc:sldMk cId="2895843105" sldId="258"/>
            <ac:spMk id="10" creationId="{50A0C943-A884-08CC-C4CB-7B58983AD670}"/>
          </ac:spMkLst>
        </pc:spChg>
        <pc:spChg chg="add mod ord">
          <ac:chgData name="Axmann, Paul" userId="fbc82133-129a-4dcf-80c4-e933ee85612e" providerId="ADAL" clId="{865C5255-48DE-4BF3-A9A9-8C777D2FBCA3}" dt="2026-07-22T13:16:50.319" v="97" actId="700"/>
          <ac:spMkLst>
            <pc:docMk/>
            <pc:sldMk cId="2895843105" sldId="258"/>
            <ac:spMk id="12" creationId="{7CC3B3E3-D519-B9EC-5BEA-D17925F3C060}"/>
          </ac:spMkLst>
        </pc:spChg>
        <pc:grpChg chg="add del mod">
          <ac:chgData name="Axmann, Paul" userId="fbc82133-129a-4dcf-80c4-e933ee85612e" providerId="ADAL" clId="{865C5255-48DE-4BF3-A9A9-8C777D2FBCA3}" dt="2026-07-22T13:16:42.283" v="95" actId="478"/>
          <ac:grpSpMkLst>
            <pc:docMk/>
            <pc:sldMk cId="2895843105" sldId="258"/>
            <ac:grpSpMk id="7" creationId="{2BF27B01-2079-E0CA-6D27-40E0F4EB031D}"/>
          </ac:grpSpMkLst>
        </pc:grpChg>
        <pc:picChg chg="add del mod topLvl">
          <ac:chgData name="Axmann, Paul" userId="fbc82133-129a-4dcf-80c4-e933ee85612e" providerId="ADAL" clId="{865C5255-48DE-4BF3-A9A9-8C777D2FBCA3}" dt="2026-07-22T13:16:42.283" v="95" actId="478"/>
          <ac:picMkLst>
            <pc:docMk/>
            <pc:sldMk cId="2895843105" sldId="258"/>
            <ac:picMk id="6" creationId="{A8C050C3-039E-2699-901D-6942C37D2054}"/>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Score</c:v>
                </c:pt>
              </c:strCache>
            </c:strRef>
          </c:tx>
          <c:spPr>
            <a:solidFill>
              <a:srgbClr val="046A38"/>
            </a:solidFill>
            <a:ln w="25400">
              <a:solidFill>
                <a:srgbClr val="046A38"/>
              </a:solidFill>
            </a:ln>
          </c:spPr>
          <c:cat>
            <c:strRef>
              <c:f>Sheet1!$A$2:$A$12</c:f>
              <c:strCache>
                <c:ptCount val="11"/>
                <c:pt idx="0">
                  <c:v>R-03</c:v>
                </c:pt>
                <c:pt idx="1">
                  <c:v>R-04</c:v>
                </c:pt>
                <c:pt idx="2">
                  <c:v>R-06</c:v>
                </c:pt>
                <c:pt idx="3">
                  <c:v>R-07</c:v>
                </c:pt>
                <c:pt idx="4">
                  <c:v>R-11</c:v>
                </c:pt>
                <c:pt idx="5">
                  <c:v>Maintain the RAID register and apply the escalation threshold</c:v>
                </c:pt>
                <c:pt idx="6">
                  <c:v>Entity rationalisation slips and delays
the transfer pricing model, creating an
exposure at the first combined year
end</c:v>
                </c:pt>
                <c:pt idx="7">
                  <c:v>Key talent attrition in the combined field organisation before the coverage mo</c:v>
                </c:pt>
                <c:pt idx="8">
                  <c:v>Key talent attrition in the combined field organisation before the cov</c:v>
                </c:pt>
                <c:pt idx="9">
                  <c:v>Debt service constrains discretionary
integration spend below the level the
plan assumes</c:v>
                </c:pt>
                <c:pt idx="10">
                  <c:v>Key talent attrition in the combined
field organisation before the coverage
model is in force</c:v>
                </c:pt>
              </c:strCache>
            </c:strRef>
          </c:cat>
          <c:val>
            <c:numRef>
              <c:f>Sheet1!$B$2:$B$12</c:f>
              <c:numCache>
                <c:formatCode>General</c:formatCode>
                <c:ptCount val="11"/>
                <c:pt idx="0">
                  <c:v>16.0</c:v>
                </c:pt>
                <c:pt idx="1">
                  <c:v>15.0</c:v>
                </c:pt>
                <c:pt idx="2">
                  <c:v>12.0</c:v>
                </c:pt>
                <c:pt idx="3">
                  <c:v>12.0</c:v>
                </c:pt>
                <c:pt idx="4">
                  <c:v>10.0</c:v>
                </c:pt>
              </c:numCache>
            </c:numRef>
          </c:val>
        </c:ser>
        <c:dLbls>
          <c:numFmt sourceLinked="0" formatCode="#,##0"/>
          <c:txPr>
            <a:bodyPr/>
            <a:lstStyle/>
            <a:p>
              <a:pPr>
                <a:defRPr sz="900">
                  <a:solidFill>
                    <a:srgbClr val="222222"/>
                  </a:solidFill>
                </a:defRPr>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75787B"/>
            </a:solidFill>
          </a:ln>
        </c:spPr>
        <c:txPr>
          <a:bodyPr/>
          <a:lstStyle/>
          <a:p>
            <a:pPr>
              <a:defRPr sz="1000">
                <a:solidFill>
                  <a:srgbClr val="75787B"/>
                </a:solidFill>
              </a:defRPr>
            </a:pPr>
          </a:p>
        </c:txPr>
        <c:crossAx val="-2113994440"/>
        <c:crosses val="autoZero"/>
        <c:auto val="1"/>
        <c:lblAlgn val="ctr"/>
        <c:lblOffset val="100"/>
        <c:noMultiLvlLbl val="0"/>
      </c:catAx>
      <c:valAx>
        <c:axId val="-2113994440"/>
        <c:scaling/>
        <c:delete val="0"/>
        <c:axPos val="b"/>
        <c:majorGridlines>
          <c:spPr>
            <a:ln w="9525">
              <a:solidFill>
                <a:srgbClr val="E6E6E6"/>
              </a:solidFill>
            </a:ln>
          </c:spPr>
        </c:majorGridlines>
        <c:numFmt sourceLinked="0" formatCode="#,##0"/>
        <c:majorTickMark val="out"/>
        <c:minorTickMark val="none"/>
        <c:tickLblPos val="nextTo"/>
        <c:spPr>
          <a:ln>
            <a:solidFill>
              <a:srgbClr val="75787B"/>
            </a:solidFill>
          </a:ln>
        </c:spPr>
        <c:txPr>
          <a:bodyPr/>
          <a:lstStyle/>
          <a:p>
            <a:pPr>
              <a:defRPr sz="900">
                <a:solidFill>
                  <a:srgbClr val="75787B"/>
                </a:solidFill>
              </a:defRPr>
            </a:pPr>
          </a:p>
        </c:txPr>
        <c:crossAx val="-2068027336"/>
        <c:crosses val="autoZero"/>
      </c:valAx>
    </c:plotArea>
    <c:dispBlanksAs val="gap"/>
  </c:chart>
  <c:txPr>
    <a:bodyPr/>
    <a:lstStyle/>
    <a:p>
      <a:pPr>
        <a:defRPr sz="900">
          <a:solidFill>
            <a:srgbClr val="222222"/>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Budget</c:v>
                </c:pt>
              </c:strCache>
            </c:strRef>
          </c:tx>
          <c:spPr>
            <a:solidFill>
              <a:srgbClr val="046A38"/>
            </a:solidFill>
            <a:ln w="25400">
              <a:solidFill>
                <a:srgbClr val="046A38"/>
              </a:solidFill>
            </a:ln>
          </c:spPr>
          <c:cat>
            <c:strRef>
              <c:f>Sheet1!$A$2:$A$13</c:f>
              <c:strCache>
                <c:ptCount val="12"/>
                <c:pt idx="0">
                  <c:v>Delivery cost for Rationalise marketing spend and event portfoli</c:v>
                </c:pt>
                <c:pt idx="1">
                  <c:v>Indirect procurement, addressable
spend</c:v>
                </c:pt>
                <c:pt idx="2">
                  <c:v>Indirect procurement, addressable spend</c:v>
                </c:pt>
                <c:pt idx="3">
                  <c:v>Property lease and facilities cost</c:v>
                </c:pt>
                <c:pt idx="4">
                  <c:v>Warehouse and distribution operating
cost</c:v>
                </c:pt>
                <c:pt idx="5">
                  <c:v>Property lease and facilities cost</c:v>
                </c:pt>
                <c:pt idx="6">
                  <c:v>Warehouse and distribution operating cost</c:v>
                </c:pt>
                <c:pt idx="7">
                  <c:v>Sales compensation, plan cost</c:v>
                </c:pt>
                <c:pt idx="8">
                  <c:v>Sales compensation, plan cost</c:v>
                </c:pt>
                <c:pt idx="9">
                  <c:v>Corporate and shared service
personnel cost</c:v>
                </c:pt>
                <c:pt idx="10">
                  <c:v>Corporate and shared service personnel cost</c:v>
                </c:pt>
                <c:pt idx="11">
                  <c:v>Delivery cost for Renegotiate logistics and freight with the top</c:v>
                </c:pt>
              </c:strCache>
            </c:strRef>
          </c:cat>
          <c:val>
            <c:numRef>
              <c:f>Sheet1!$B$2:$B$13</c:f>
              <c:numCache>
                <c:formatCode>General</c:formatCode>
                <c:ptCount val="12"/>
                <c:pt idx="0">
                  <c:v>7.0</c:v>
                </c:pt>
                <c:pt idx="1">
                  <c:v>4402.0</c:v>
                </c:pt>
                <c:pt idx="2">
                  <c:v>4402.0</c:v>
                </c:pt>
                <c:pt idx="3">
                  <c:v>903.0</c:v>
                </c:pt>
                <c:pt idx="4">
                  <c:v>628.0</c:v>
                </c:pt>
                <c:pt idx="5">
                  <c:v>903.0</c:v>
                </c:pt>
                <c:pt idx="6">
                  <c:v>628.0</c:v>
                </c:pt>
                <c:pt idx="7">
                  <c:v>1702.0</c:v>
                </c:pt>
                <c:pt idx="8">
                  <c:v>1702.0</c:v>
                </c:pt>
                <c:pt idx="9">
                  <c:v>2951.0</c:v>
                </c:pt>
                <c:pt idx="10">
                  <c:v>2951.0</c:v>
                </c:pt>
                <c:pt idx="11">
                  <c:v>21.0</c:v>
                </c:pt>
              </c:numCache>
            </c:numRef>
          </c:val>
        </c:ser>
        <c:ser>
          <c:idx val="1"/>
          <c:order val="1"/>
          <c:tx>
            <c:strRef>
              <c:f>Sheet1!$C$1</c:f>
              <c:strCache>
                <c:ptCount val="1"/>
                <c:pt idx="0">
                  <c:v>Actual</c:v>
                </c:pt>
              </c:strCache>
            </c:strRef>
          </c:tx>
          <c:spPr>
            <a:solidFill>
              <a:srgbClr val="0097A9"/>
            </a:solidFill>
            <a:ln w="25400">
              <a:solidFill>
                <a:srgbClr val="0097A9"/>
              </a:solidFill>
            </a:ln>
          </c:spPr>
          <c:cat>
            <c:strRef>
              <c:f>Sheet1!$A$2:$A$13</c:f>
              <c:strCache>
                <c:ptCount val="12"/>
                <c:pt idx="0">
                  <c:v>Delivery cost for Rationalise marketing spend and event portfoli</c:v>
                </c:pt>
                <c:pt idx="1">
                  <c:v>Indirect procurement, addressable
spend</c:v>
                </c:pt>
                <c:pt idx="2">
                  <c:v>Indirect procurement, addressable spend</c:v>
                </c:pt>
                <c:pt idx="3">
                  <c:v>Property lease and facilities cost</c:v>
                </c:pt>
                <c:pt idx="4">
                  <c:v>Warehouse and distribution operating
cost</c:v>
                </c:pt>
                <c:pt idx="5">
                  <c:v>Property lease and facilities cost</c:v>
                </c:pt>
                <c:pt idx="6">
                  <c:v>Warehouse and distribution operating cost</c:v>
                </c:pt>
                <c:pt idx="7">
                  <c:v>Sales compensation, plan cost</c:v>
                </c:pt>
                <c:pt idx="8">
                  <c:v>Sales compensation, plan cost</c:v>
                </c:pt>
                <c:pt idx="9">
                  <c:v>Corporate and shared service
personnel cost</c:v>
                </c:pt>
                <c:pt idx="10">
                  <c:v>Corporate and shared service personnel cost</c:v>
                </c:pt>
                <c:pt idx="11">
                  <c:v>Delivery cost for Renegotiate logistics and freight with the top</c:v>
                </c:pt>
              </c:strCache>
            </c:strRef>
          </c:cat>
          <c:val>
            <c:numRef>
              <c:f>Sheet1!$C$2:$C$13</c:f>
              <c:numCache>
                <c:formatCode>General</c:formatCode>
                <c:ptCount val="12"/>
                <c:pt idx="0">
                  <c:v>2.0</c:v>
                </c:pt>
                <c:pt idx="1">
                  <c:v>4310.0</c:v>
                </c:pt>
                <c:pt idx="2">
                  <c:v>4310.0</c:v>
                </c:pt>
                <c:pt idx="3">
                  <c:v>884.0</c:v>
                </c:pt>
                <c:pt idx="4">
                  <c:v>612.0</c:v>
                </c:pt>
                <c:pt idx="5">
                  <c:v>884.0</c:v>
                </c:pt>
                <c:pt idx="6">
                  <c:v>612.0</c:v>
                </c:pt>
                <c:pt idx="7">
                  <c:v>1638.0</c:v>
                </c:pt>
                <c:pt idx="8">
                  <c:v>1638.0</c:v>
                </c:pt>
                <c:pt idx="9">
                  <c:v>2874.0</c:v>
                </c:pt>
                <c:pt idx="10">
                  <c:v>2874.0</c:v>
                </c:pt>
                <c:pt idx="11">
                  <c:v>5.0</c:v>
                </c:pt>
              </c:numCache>
            </c:numRef>
          </c:val>
        </c:ser>
        <c:ser>
          <c:idx val="2"/>
          <c:order val="2"/>
          <c:tx>
            <c:strRef>
              <c:f>Sheet1!$D$1</c:f>
              <c:strCache>
                <c:ptCount val="1"/>
                <c:pt idx="0">
                  <c:v>Forecast</c:v>
                </c:pt>
              </c:strCache>
            </c:strRef>
          </c:tx>
          <c:spPr>
            <a:solidFill>
              <a:srgbClr val="0076A8"/>
            </a:solidFill>
            <a:ln w="25400">
              <a:solidFill>
                <a:srgbClr val="0076A8"/>
              </a:solidFill>
            </a:ln>
          </c:spPr>
          <c:cat>
            <c:strRef>
              <c:f>Sheet1!$A$2:$A$13</c:f>
              <c:strCache>
                <c:ptCount val="12"/>
                <c:pt idx="0">
                  <c:v>Delivery cost for Rationalise marketing spend and event portfoli</c:v>
                </c:pt>
                <c:pt idx="1">
                  <c:v>Indirect procurement, addressable
spend</c:v>
                </c:pt>
                <c:pt idx="2">
                  <c:v>Indirect procurement, addressable spend</c:v>
                </c:pt>
                <c:pt idx="3">
                  <c:v>Property lease and facilities cost</c:v>
                </c:pt>
                <c:pt idx="4">
                  <c:v>Warehouse and distribution operating
cost</c:v>
                </c:pt>
                <c:pt idx="5">
                  <c:v>Property lease and facilities cost</c:v>
                </c:pt>
                <c:pt idx="6">
                  <c:v>Warehouse and distribution operating cost</c:v>
                </c:pt>
                <c:pt idx="7">
                  <c:v>Sales compensation, plan cost</c:v>
                </c:pt>
                <c:pt idx="8">
                  <c:v>Sales compensation, plan cost</c:v>
                </c:pt>
                <c:pt idx="9">
                  <c:v>Corporate and shared service
personnel cost</c:v>
                </c:pt>
                <c:pt idx="10">
                  <c:v>Corporate and shared service personnel cost</c:v>
                </c:pt>
                <c:pt idx="11">
                  <c:v>Delivery cost for Renegotiate logistics and freight with the top</c:v>
                </c:pt>
              </c:strCache>
            </c:strRef>
          </c:cat>
          <c:val>
            <c:numRef>
              <c:f>Sheet1!$D$2:$D$13</c:f>
              <c:numCache>
                <c:formatCode>General</c:formatCode>
                <c:ptCount val="12"/>
              </c:numCache>
            </c:numRef>
          </c:val>
        </c:ser>
        <c:dLbls>
          <c:numFmt sourceLinked="0" formatCode="#,##0"/>
          <c:txPr>
            <a:bodyPr/>
            <a:lstStyle/>
            <a:p>
              <a:pPr>
                <a:defRPr sz="900">
                  <a:solidFill>
                    <a:srgbClr val="222222"/>
                  </a:solidFill>
                </a:defRPr>
              </a:pPr>
            </a:p>
          </c:txPr>
          <c:showLegendKey val="0"/>
          <c:showVal val="1"/>
          <c:showCatName val="0"/>
          <c:showSerName val="0"/>
          <c:showPercent val="0"/>
          <c:showBubbleSize val="0"/>
          <c:showLeaderLines val="1"/>
        </c:dLbls>
        <c:gapWidth val="40"/>
        <c:overlap val="-10"/>
        <c:axId val="-2068027336"/>
        <c:axId val="-2113994440"/>
      </c:barChart>
      <c:catAx>
        <c:axId val="-2068027336"/>
        <c:scaling>
          <c:orientation val="minMax"/>
        </c:scaling>
        <c:delete val="0"/>
        <c:axPos val="l"/>
        <c:majorTickMark val="out"/>
        <c:minorTickMark val="none"/>
        <c:tickLblPos val="nextTo"/>
        <c:spPr>
          <a:ln>
            <a:solidFill>
              <a:srgbClr val="75787B"/>
            </a:solidFill>
          </a:ln>
        </c:spPr>
        <c:txPr>
          <a:bodyPr/>
          <a:lstStyle/>
          <a:p>
            <a:pPr>
              <a:defRPr sz="1000">
                <a:solidFill>
                  <a:srgbClr val="75787B"/>
                </a:solidFill>
              </a:defRPr>
            </a:pPr>
          </a:p>
        </c:txPr>
        <c:crossAx val="-2113994440"/>
        <c:crosses val="autoZero"/>
        <c:auto val="1"/>
        <c:lblAlgn val="ctr"/>
        <c:lblOffset val="100"/>
        <c:noMultiLvlLbl val="0"/>
      </c:catAx>
      <c:valAx>
        <c:axId val="-2113994440"/>
        <c:scaling/>
        <c:delete val="0"/>
        <c:axPos val="b"/>
        <c:majorGridlines>
          <c:spPr>
            <a:ln w="9525">
              <a:solidFill>
                <a:srgbClr val="E6E6E6"/>
              </a:solidFill>
            </a:ln>
          </c:spPr>
        </c:majorGridlines>
        <c:numFmt sourceLinked="0" formatCode="#,##0"/>
        <c:majorTickMark val="out"/>
        <c:minorTickMark val="none"/>
        <c:tickLblPos val="nextTo"/>
        <c:spPr>
          <a:ln>
            <a:solidFill>
              <a:srgbClr val="75787B"/>
            </a:solidFill>
          </a:ln>
        </c:spPr>
        <c:txPr>
          <a:bodyPr/>
          <a:lstStyle/>
          <a:p>
            <a:pPr>
              <a:defRPr sz="900">
                <a:solidFill>
                  <a:srgbClr val="75787B"/>
                </a:solidFill>
              </a:defRPr>
            </a:pPr>
          </a:p>
        </c:txPr>
        <c:crossAx val="-2068027336"/>
        <c:crosses val="autoZero"/>
      </c:valAx>
    </c:plotArea>
    <c:legend>
      <c:legendPos val="b"/>
      <c:overlay val="0"/>
      <c:txPr>
        <a:bodyPr/>
        <a:lstStyle/>
        <a:p>
          <a:pPr>
            <a:defRPr sz="900"/>
          </a:pPr>
        </a:p>
      </c:txPr>
    </c:legend>
    <c:dispBlanksAs val="gap"/>
  </c:chart>
  <c:txPr>
    <a:bodyPr/>
    <a:lstStyle/>
    <a:p>
      <a:pPr>
        <a:defRPr sz="900">
          <a:solidFill>
            <a:srgbClr val="222222"/>
          </a:solidFil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6.emf"/><Relationship Id="rId5"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6.emf"/><Relationship Id="rId5"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6.emf"/></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6.emf"/></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6.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6.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8.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7FC5E484-EB26-0B50-B87A-799C320E830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73700984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A9C623ED-9A31-E94B-385F-DFBB34F5916A}"/>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01058214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 CM centered ">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668108487"/>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White - CM centered ">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047953367"/>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ale Green with tagline logo lockup">
    <p:bg bwMode="gray">
      <p:bgPr>
        <a:solidFill>
          <a:schemeClr val="accent6"/>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9A09F874-9939-7788-F7E8-1E902B5632A8}"/>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69777382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ale Green">
    <p:bg bwMode="gray">
      <p:bgPr>
        <a:solidFill>
          <a:schemeClr val="accent6"/>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72956925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with tagline logo lockup">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descr="Deloitte logo lockup with Together makes progress tagline">
            <a:extLst>
              <a:ext uri="{FF2B5EF4-FFF2-40B4-BE49-F238E27FC236}">
                <a16:creationId xmlns:a16="http://schemas.microsoft.com/office/drawing/2014/main" id="{A1983826-29C7-9575-AAA8-E0D864E527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pic>
        <p:nvPicPr>
          <p:cNvPr id="4" name="Picture 3" descr="Deloitte logo lockup with Together makes progress tagline">
            <a:extLst>
              <a:ext uri="{FF2B5EF4-FFF2-40B4-BE49-F238E27FC236}">
                <a16:creationId xmlns:a16="http://schemas.microsoft.com/office/drawing/2014/main" id="{8E4A851A-D19A-CC7E-CF9F-4EEAB1DF2E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spTree>
    <p:extLst>
      <p:ext uri="{BB962C8B-B14F-4D97-AF65-F5344CB8AC3E}">
        <p14:creationId xmlns:p14="http://schemas.microsoft.com/office/powerpoint/2010/main" val="137146057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175604727"/>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D417F91-0FD9-83FB-569A-B960E93D5A0F}"/>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05659139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FB2FFE14-03CA-6135-58A2-5C311D365127}"/>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08561485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 CM centered ">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31090652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Black - CM centered ">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16321028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Dark Green with tagline logo lockup">
    <p:bg bwMode="gray">
      <p:bgPr>
        <a:solidFill>
          <a:schemeClr val="accent4"/>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3F8A2FFF-A4B2-D935-C7DC-1DB5EDE4A71C}"/>
              </a:ext>
            </a:extLst>
          </p:cNvPr>
          <p:cNvSpPr>
            <a:spLocks noGrp="1"/>
          </p:cNvSpPr>
          <p:nvPr>
            <p:ph type="pic" sz="quarter" idx="11"/>
          </p:nvPr>
        </p:nvSpPr>
        <p:spPr>
          <a:xfrm>
            <a:off x="5959257" y="698373"/>
            <a:ext cx="5544000" cy="5544000"/>
          </a:xfrm>
          <a:prstGeom prst="rect">
            <a:avLst/>
          </a:prstGeom>
        </p:spPr>
        <p:txBody>
          <a:bodyPr/>
          <a:lstStyle>
            <a:lvl1pPr>
              <a:defRPr>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376792615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 Dark Green">
    <p:bg bwMode="gray">
      <p:bgPr>
        <a:solidFill>
          <a:schemeClr val="accent4"/>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5BCB8175-C467-0B04-B004-47252C8E68C3}"/>
              </a:ext>
            </a:extLst>
          </p:cNvPr>
          <p:cNvSpPr>
            <a:spLocks noGrp="1"/>
          </p:cNvSpPr>
          <p:nvPr>
            <p:ph type="pic" sz="quarter" idx="11"/>
          </p:nvPr>
        </p:nvSpPr>
        <p:spPr>
          <a:xfrm>
            <a:off x="5959257" y="698373"/>
            <a:ext cx="5544000" cy="5544000"/>
          </a:xfrm>
          <a:prstGeom prst="rect">
            <a:avLst/>
          </a:prstGeom>
        </p:spPr>
        <p:txBody>
          <a:bodyPr/>
          <a:lstStyle>
            <a:lvl1pPr>
              <a:defRPr>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353767834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lvl1pPr>
              <a:defRPr>
                <a:solidFill>
                  <a:schemeClr val="bg1"/>
                </a:solidFill>
              </a:defRPr>
            </a:lvl1pPr>
          </a:lstStyle>
          <a:p>
            <a:r>
              <a:rPr lang="en-US" noProof="0"/>
              <a:t>Click icon to add picture</a:t>
            </a:r>
            <a:endParaRPr lang="en-US" noProof="0" dirty="0"/>
          </a:p>
        </p:txBody>
      </p:sp>
      <p:pic>
        <p:nvPicPr>
          <p:cNvPr id="2" name="Picture 1" descr="Deloitte logo lockup with Together makes progress tagline">
            <a:extLst>
              <a:ext uri="{FF2B5EF4-FFF2-40B4-BE49-F238E27FC236}">
                <a16:creationId xmlns:a16="http://schemas.microsoft.com/office/drawing/2014/main" id="{BE86AADC-48FD-960B-F4EC-82693FA4991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pic>
        <p:nvPicPr>
          <p:cNvPr id="3" name="Picture 2" descr="Deloitte logo lockup with Together makes progress tagline">
            <a:extLst>
              <a:ext uri="{FF2B5EF4-FFF2-40B4-BE49-F238E27FC236}">
                <a16:creationId xmlns:a16="http://schemas.microsoft.com/office/drawing/2014/main" id="{0EB08596-6566-04B7-6E40-E9321F1A98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Tree>
    <p:extLst>
      <p:ext uri="{BB962C8B-B14F-4D97-AF65-F5344CB8AC3E}">
        <p14:creationId xmlns:p14="http://schemas.microsoft.com/office/powerpoint/2010/main" val="405869958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lvl1pPr>
              <a:defRPr>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60434107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Tree>
    <p:extLst>
      <p:ext uri="{BB962C8B-B14F-4D97-AF65-F5344CB8AC3E}">
        <p14:creationId xmlns:p14="http://schemas.microsoft.com/office/powerpoint/2010/main" val="350947572"/>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 Glow">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3462267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descr="A green circle on a green background&#10;&#10;AI-generated content may be incorrect.">
            <a:extLst>
              <a:ext uri="{FF2B5EF4-FFF2-40B4-BE49-F238E27FC236}">
                <a16:creationId xmlns:a16="http://schemas.microsoft.com/office/drawing/2014/main" id="{45E3228C-6488-D962-AD57-9F2A5C5896EE}"/>
              </a:ext>
            </a:extLst>
          </p:cNvPr>
          <p:cNvPicPr>
            <a:picLocks noChangeAspect="1"/>
          </p:cNvPicPr>
          <p:nvPr/>
        </p:nvPicPr>
        <p:blipFill>
          <a:blip r:embed="rId5"/>
          <a:stretch>
            <a:fillRect/>
          </a:stretch>
        </p:blipFill>
        <p:spPr>
          <a:xfrm>
            <a:off x="762" y="428"/>
            <a:ext cx="12190476" cy="6857143"/>
          </a:xfrm>
          <a:prstGeom prst="rect">
            <a:avLst/>
          </a:prstGeom>
        </p:spPr>
      </p:pic>
      <p:sp>
        <p:nvSpPr>
          <p:cNvPr id="5" name="CaseCode">
            <a:extLst>
              <a:ext uri="{FF2B5EF4-FFF2-40B4-BE49-F238E27FC236}">
                <a16:creationId xmlns:a16="http://schemas.microsoft.com/office/drawing/2014/main" id="{731E6BB5-C9D1-E35B-D6D9-245F1063E86F}"/>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B5B05F3-7BE5-74BC-C267-D563E5B2A301}"/>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2026</a:t>
            </a:r>
          </a:p>
        </p:txBody>
      </p:sp>
      <p:sp>
        <p:nvSpPr>
          <p:cNvPr id="7" name="TextBox 6">
            <a:extLst>
              <a:ext uri="{FF2B5EF4-FFF2-40B4-BE49-F238E27FC236}">
                <a16:creationId xmlns:a16="http://schemas.microsoft.com/office/drawing/2014/main" id="{0182C802-4131-8DA8-7683-E68E2E309BA0}"/>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9" name="Text Placeholder 2">
            <a:extLst>
              <a:ext uri="{FF2B5EF4-FFF2-40B4-BE49-F238E27FC236}">
                <a16:creationId xmlns:a16="http://schemas.microsoft.com/office/drawing/2014/main" id="{32671CB7-EA0F-58E4-4174-1D1922A3AB24}"/>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spTree>
    <p:extLst>
      <p:ext uri="{BB962C8B-B14F-4D97-AF65-F5344CB8AC3E}">
        <p14:creationId xmlns:p14="http://schemas.microsoft.com/office/powerpoint/2010/main" val="339846895"/>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 United">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781903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sp>
        <p:nvSpPr>
          <p:cNvPr id="4" name="Rechteck 3">
            <a:extLst>
              <a:ext uri="{FF2B5EF4-FFF2-40B4-BE49-F238E27FC236}">
                <a16:creationId xmlns:a16="http://schemas.microsoft.com/office/drawing/2014/main" id="{66B8C9E7-4466-7BA5-F810-207C3AD47343}"/>
              </a:ext>
            </a:extLst>
          </p:cNvPr>
          <p:cNvSpPr/>
          <p:nvPr userDrawn="1"/>
        </p:nvSpPr>
        <p:spPr bwMode="gray">
          <a:xfrm>
            <a:off x="0" y="6134100"/>
            <a:ext cx="12192000" cy="723900"/>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pic>
        <p:nvPicPr>
          <p:cNvPr id="2" name="Picture 1" descr="A circle of small green and blue dots&#10;&#10;Description automatically generated">
            <a:extLst>
              <a:ext uri="{FF2B5EF4-FFF2-40B4-BE49-F238E27FC236}">
                <a16:creationId xmlns:a16="http://schemas.microsoft.com/office/drawing/2014/main" id="{56245C15-57A3-6DF3-1754-20E77EB5CAD9}"/>
              </a:ext>
            </a:extLst>
          </p:cNvPr>
          <p:cNvPicPr>
            <a:picLocks noChangeAspect="1"/>
          </p:cNvPicPr>
          <p:nvPr/>
        </p:nvPicPr>
        <p:blipFill rotWithShape="1">
          <a:blip r:embed="rId5" cstate="email">
            <a:extLst>
              <a:ext uri="{28A0092B-C50C-407E-A947-70E740481C1C}">
                <a14:useLocalDpi xmlns:a14="http://schemas.microsoft.com/office/drawing/2010/main" val="0"/>
              </a:ext>
            </a:extLst>
          </a:blip>
          <a:srcRect l="11095" t="20842" r="-653" b="10449"/>
          <a:stretch>
            <a:fillRect/>
          </a:stretch>
        </p:blipFill>
        <p:spPr>
          <a:xfrm>
            <a:off x="0" y="0"/>
            <a:ext cx="12192000" cy="6858000"/>
          </a:xfrm>
          <a:prstGeom prst="rect">
            <a:avLst/>
          </a:prstGeom>
        </p:spPr>
      </p:pic>
      <p:sp>
        <p:nvSpPr>
          <p:cNvPr id="6" name="CaseCode">
            <a:extLst>
              <a:ext uri="{FF2B5EF4-FFF2-40B4-BE49-F238E27FC236}">
                <a16:creationId xmlns:a16="http://schemas.microsoft.com/office/drawing/2014/main" id="{5B845E89-F80E-32AE-4F61-BAF2AA74950B}"/>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Copyright">
            <a:extLst>
              <a:ext uri="{FF2B5EF4-FFF2-40B4-BE49-F238E27FC236}">
                <a16:creationId xmlns:a16="http://schemas.microsoft.com/office/drawing/2014/main" id="{B7CF71EE-0CD0-8C9C-7BDE-2A50106D047E}"/>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2026</a:t>
            </a:r>
          </a:p>
        </p:txBody>
      </p:sp>
      <p:sp>
        <p:nvSpPr>
          <p:cNvPr id="9" name="TextBox 6">
            <a:extLst>
              <a:ext uri="{FF2B5EF4-FFF2-40B4-BE49-F238E27FC236}">
                <a16:creationId xmlns:a16="http://schemas.microsoft.com/office/drawing/2014/main" id="{B2E2EDCA-A039-A543-5967-C567708E407B}"/>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72023914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Pale Green">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Deloitte 2026</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27237997-F2A9-D664-587D-4BF3816A0DA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30353369"/>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Deloitte 2026</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12CD58D-2BFB-3387-A814-C06828E88CA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004131089"/>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Deloitte 2026</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26288D3C-20C4-200E-7A39-8253F3E6AD58}"/>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3659958800"/>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Divider - Deloitte Deep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2026</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7582AB9-92F7-B2E5-BF9C-744E1F477FC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60995045"/>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Divider - Dark-Bright gradient ">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2FC75865-6F76-C54E-DF22-E2B4689596A8}"/>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4D8129D5-9039-E8B3-5F13-E4574BC308FD}"/>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Deloitte 2026</a:t>
            </a:r>
          </a:p>
        </p:txBody>
      </p:sp>
      <p:sp>
        <p:nvSpPr>
          <p:cNvPr id="7" name="TextBox 6">
            <a:extLst>
              <a:ext uri="{FF2B5EF4-FFF2-40B4-BE49-F238E27FC236}">
                <a16:creationId xmlns:a16="http://schemas.microsoft.com/office/drawing/2014/main" id="{A0CBBC4D-3C0B-94BF-1ABE-F74D334FD22C}"/>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559336F-A28E-132F-AE15-43D8D49F242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321776487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Divider - Deloitte Bright Green">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Deloitte 2026</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61F4FDF0-825B-9D05-FCBA-CD50EF6CC824}"/>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020604408"/>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vider -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418629849"/>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ivider - Full bleed image">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 name="Title 1">
            <a:extLst>
              <a:ext uri="{FF2B5EF4-FFF2-40B4-BE49-F238E27FC236}">
                <a16:creationId xmlns:a16="http://schemas.microsoft.com/office/drawing/2014/main" id="{AEE1843C-9C47-5853-9CCF-75A6755EA090}"/>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776662715"/>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153599953"/>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a:solidFill>
            <a:schemeClr val="bg1"/>
          </a:solidFill>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516246814"/>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846829878"/>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69900" y="168249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8249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099169720"/>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699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903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28753875"/>
      </p:ext>
    </p:extLst>
  </p:cSld>
  <p:clrMapOvr>
    <a:masterClrMapping/>
  </p:clrMapOvr>
  <p:transition>
    <p:fade/>
  </p:transition>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699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30019"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90138"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748897783"/>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502570706"/>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2401478124"/>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dirty="0"/>
              <a:t>Click to add text</a:t>
            </a:r>
          </a:p>
        </p:txBody>
      </p:sp>
      <p:pic>
        <p:nvPicPr>
          <p:cNvPr id="2" name="Picture 1" descr="Deloitte logo">
            <a:extLst>
              <a:ext uri="{FF2B5EF4-FFF2-40B4-BE49-F238E27FC236}">
                <a16:creationId xmlns:a16="http://schemas.microsoft.com/office/drawing/2014/main" id="{1BEBA89D-3AAC-3CB0-C580-EB5B545736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Tree>
    <p:extLst>
      <p:ext uri="{BB962C8B-B14F-4D97-AF65-F5344CB8AC3E}">
        <p14:creationId xmlns:p14="http://schemas.microsoft.com/office/powerpoint/2010/main" val="3735021166"/>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 - Light Gray">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999176619"/>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1 column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028455440"/>
      </p:ext>
    </p:extLst>
  </p:cSld>
  <p:clrMapOvr>
    <a:masterClrMapping/>
  </p:clrMapOvr>
  <p:transition>
    <p:fade/>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subtitle, 2 columns - Light Gray">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69900" y="168249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083530930"/>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ubtitle, 3 columns - Light Gray">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699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903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161872240"/>
      </p:ext>
    </p:extLst>
  </p:cSld>
  <p:clrMapOvr>
    <a:masterClrMapping/>
  </p:clrMapOvr>
  <p:transition>
    <p:fade/>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ubtitle, 4 columns - Light Gray">
    <p:bg>
      <p:bgPr>
        <a:solidFill>
          <a:schemeClr val="bg2"/>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699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30019"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90138"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956908113"/>
      </p:ext>
    </p:extLst>
  </p:cSld>
  <p:clrMapOvr>
    <a:masterClrMapping/>
  </p:clrMapOvr>
  <p:transition>
    <p:fade/>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eam profile - Light Gray">
    <p:bg>
      <p:bgPr>
        <a:solidFill>
          <a:schemeClr val="bg2"/>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86188365"/>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alifications 2 x 1 - Light Gray">
    <p:bg>
      <p:bgPr>
        <a:solidFill>
          <a:schemeClr val="bg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698923985"/>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Only - Pale Green">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54254996"/>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1 column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8463129"/>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2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69900" y="168249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8249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874486067"/>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ubtitle, 3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699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903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335045997"/>
      </p:ext>
    </p:extLst>
  </p:cSld>
  <p:clrMapOvr>
    <a:masterClrMapping/>
  </p:clrMapOvr>
  <p:transition>
    <p:fade/>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ubtitle, 4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699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30019"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90138"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45075143"/>
      </p:ext>
    </p:extLst>
  </p:cSld>
  <p:clrMapOvr>
    <a:masterClrMapping/>
  </p:clrMapOvr>
  <p:transition>
    <p:fade/>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am profile - Pale Green">
    <p:bg>
      <p:bgPr>
        <a:solidFill>
          <a:schemeClr val="accent6"/>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87553440"/>
      </p:ext>
    </p:extLst>
  </p:cSld>
  <p:clrMapOvr>
    <a:masterClrMapping/>
  </p:clrMapOvr>
  <p:transition>
    <p:fade/>
  </p:transition>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alifications 2 x 1 - Pale Green">
    <p:bg>
      <p:bgPr>
        <a:solidFill>
          <a:schemeClr val="accent6"/>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838946909"/>
      </p:ext>
    </p:extLst>
  </p:cSld>
  <p:clrMapOvr>
    <a:masterClrMapping/>
  </p:clrMapOvr>
  <p:transition>
    <p:fade/>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425900896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rgbClr val="D0D0CE"/>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8469708"/>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69900" y="1682496"/>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4116751606"/>
      </p:ext>
    </p:extLst>
  </p:cSld>
  <p:clrMapOvr>
    <a:masterClrMapping/>
  </p:clrMapOvr>
  <p:transition>
    <p:fade/>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69900" y="168249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8249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96380655"/>
      </p:ext>
    </p:extLst>
  </p:cSld>
  <p:clrMapOvr>
    <a:masterClrMapping/>
  </p:clrMapOvr>
  <p:transition>
    <p:fade/>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699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dirty="0"/>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31462"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953788966"/>
      </p:ext>
    </p:extLst>
  </p:cSld>
  <p:clrMapOvr>
    <a:masterClrMapping/>
  </p:clrMapOvr>
  <p:transition>
    <p:fade/>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699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30787"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91674"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036883267"/>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dirty="0"/>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993841633"/>
      </p:ext>
    </p:extLst>
  </p:cSld>
  <p:clrMapOvr>
    <a:masterClrMapping/>
  </p:clrMapOvr>
  <p:transition>
    <p:fade/>
  </p:transition>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dirty="0"/>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dirty="0"/>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4" name="Rectangle 9">
            <a:extLst>
              <a:ext uri="{FF2B5EF4-FFF2-40B4-BE49-F238E27FC236}">
                <a16:creationId xmlns:a16="http://schemas.microsoft.com/office/drawing/2014/main" id="{FAF1A226-15D9-1330-BC7B-DBA485ECA6B6}"/>
              </a:ext>
            </a:extLst>
          </p:cNvPr>
          <p:cNvSpPr/>
          <p:nvPr userDrawn="1"/>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10">
            <a:extLst>
              <a:ext uri="{FF2B5EF4-FFF2-40B4-BE49-F238E27FC236}">
                <a16:creationId xmlns:a16="http://schemas.microsoft.com/office/drawing/2014/main" id="{FA52BBBB-A981-58D6-6AC0-87FD0B6CA84A}"/>
              </a:ext>
            </a:extLst>
          </p:cNvPr>
          <p:cNvSpPr/>
          <p:nvPr userDrawn="1"/>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Tree>
    <p:extLst>
      <p:ext uri="{BB962C8B-B14F-4D97-AF65-F5344CB8AC3E}">
        <p14:creationId xmlns:p14="http://schemas.microsoft.com/office/powerpoint/2010/main" val="608181783"/>
      </p:ext>
    </p:extLst>
  </p:cSld>
  <p:clrMapOvr>
    <a:masterClrMapping/>
  </p:clrMapOvr>
  <p:transition>
    <p:fade/>
  </p:transition>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dirty="0"/>
              <a:t>Click to add text</a:t>
            </a:r>
          </a:p>
        </p:txBody>
      </p:sp>
      <p:pic>
        <p:nvPicPr>
          <p:cNvPr id="2" name="Picture 1" descr="Deloitte logo">
            <a:extLst>
              <a:ext uri="{FF2B5EF4-FFF2-40B4-BE49-F238E27FC236}">
                <a16:creationId xmlns:a16="http://schemas.microsoft.com/office/drawing/2014/main" id="{4C074566-129B-653D-CAB9-0DAF93F2A1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Tree>
    <p:extLst>
      <p:ext uri="{BB962C8B-B14F-4D97-AF65-F5344CB8AC3E}">
        <p14:creationId xmlns:p14="http://schemas.microsoft.com/office/powerpoint/2010/main" val="47009073"/>
      </p:ext>
    </p:extLst>
  </p:cSld>
  <p:clrMapOvr>
    <a:masterClrMapping/>
  </p:clrMapOvr>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theme" Target="../theme/theme1.xml"/><Relationship Id="rId61" Type="http://schemas.openxmlformats.org/officeDocument/2006/relationships/tags" Target="../tags/tag1.xml"/><Relationship Id="rId62" Type="http://schemas.openxmlformats.org/officeDocument/2006/relationships/tags" Target="../tags/tag2.xml"/><Relationship Id="rId63" Type="http://schemas.openxmlformats.org/officeDocument/2006/relationships/oleObject" Target="../embeddings/oleObject1.bin"/><Relationship Id="rId6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p:cNvGraphicFramePr>
          <p:nvPr>
            <p:custDataLst>
              <p:tags r:id="rId61"/>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63" imgW="270" imgH="270" progId="TCLayout.ActiveDocument.1">
                  <p:embed/>
                </p:oleObj>
              </mc:Choice>
              <mc:Fallback>
                <p:oleObj name="think-cell Slide" r:id="rId63" imgW="270" imgH="270" progId="TCLayout.ActiveDocument.1">
                  <p:embed/>
                  <p:pic>
                    <p:nvPicPr>
                      <p:cNvPr id="4" name="Object 3" hidden="1"/>
                      <p:cNvPicPr/>
                      <p:nvPr/>
                    </p:nvPicPr>
                    <p:blipFill>
                      <a:blip r:embed="rId64"/>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Presentation title</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8" name="Copyright"/>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Deloitte 2026</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rgbClr val="75787B"/>
              </a:solidFill>
              <a:latin typeface="Aptos" panose="020B0004020202020204" pitchFamily="34" charset="0"/>
              <a:cs typeface="Calibri" panose="020F0502020204030204" pitchFamily="34" charset="0"/>
            </a:endParaRPr>
          </a:p>
        </p:txBody>
      </p:sp>
      <p:sp>
        <p:nvSpPr>
          <p:cNvPr id="5" name="empower - DO NOT DELETE!!!" hidden="1">
            <a:extLst>
              <a:ext uri="{FF2B5EF4-FFF2-40B4-BE49-F238E27FC236}">
                <a16:creationId xmlns:a16="http://schemas.microsoft.com/office/drawing/2014/main" id="{F0D1FA80-C256-A670-1626-C6A1C11F42B7}"/>
              </a:ext>
            </a:extLst>
          </p:cNvPr>
          <p:cNvSpPr/>
          <p:nvPr>
            <p:custDataLst>
              <p:tags r:id="rId62"/>
            </p:custDataLst>
          </p:nvPr>
        </p:nvSpPr>
        <p:spPr bwMode="gray">
          <a:xfrm>
            <a:off x="0" y="0"/>
            <a:ext cx="0" cy="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Tree>
    <p:extLst>
      <p:ext uri="{BB962C8B-B14F-4D97-AF65-F5344CB8AC3E}">
        <p14:creationId xmlns:p14="http://schemas.microsoft.com/office/powerpoint/2010/main" val="19128546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95" pos="3936">
          <p15:clr>
            <a:srgbClr val="F26B43"/>
          </p15:clr>
        </p15:guide>
        <p15:guide id="96" orient="horz" pos="4008">
          <p15:clr>
            <a:srgbClr val="F26B43"/>
          </p15:clr>
        </p15:guide>
        <p15:guide id="97" orient="horz" pos="4104">
          <p15:clr>
            <a:srgbClr val="F26B43"/>
          </p15:clr>
        </p15:guide>
        <p15:guide id="98" orient="horz" pos="1056">
          <p15:clr>
            <a:srgbClr val="F26B43"/>
          </p15:clr>
        </p15:guide>
        <p15:guide id="99" pos="3840">
          <p15:clr>
            <a:srgbClr val="F26B43"/>
          </p15:clr>
        </p15:guide>
        <p15:guide id="100" pos="7392">
          <p15:clr>
            <a:srgbClr val="F26B43"/>
          </p15:clr>
        </p15:guide>
        <p15:guide id="101" orient="horz" pos="216">
          <p15:clr>
            <a:srgbClr val="F26B43"/>
          </p15:clr>
        </p15:guide>
        <p15:guide id="102" orient="horz" pos="432">
          <p15:clr>
            <a:srgbClr val="F26B43"/>
          </p15:clr>
        </p15:guide>
        <p15:guide id="103" pos="288">
          <p15:clr>
            <a:srgbClr val="F26B43"/>
          </p15:clr>
        </p15:guide>
        <p15:guide id="104" pos="37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r>
              <a:t>Status of eval-with_errors_Z_1_40f42e80</a:t>
            </a:r>
          </a:p>
        </p:txBody>
      </p:sp>
      <p:sp>
        <p:nvSpPr>
          <p:cNvPr id="3" name="Text Placeholder 2"/>
          <p:cNvSpPr>
            <a:spLocks noGrp="1"/>
          </p:cNvSpPr>
          <p:nvPr>
            <p:ph type="body" idx="10" sz="quarter"/>
          </p:nvPr>
        </p:nvSpPr>
        <p:spPr/>
        <p:txBody>
          <a:bodyPr wrap="square">
            <a:normAutofit/>
          </a:bodyPr>
          <a:lstStyle/>
          <a:p>
            <a:r>
              <a:t>eval-with_errors_Z_1_40f42e80</a:t>
            </a:r>
          </a:p>
        </p:txBody>
      </p:sp>
      <p:sp>
        <p:nvSpPr>
          <p:cNvPr id="5" name="pmi:callout"/>
          <p:cNvSpPr/>
          <p:nvPr/>
        </p:nvSpPr>
        <p:spPr>
          <a:xfrm>
            <a:off x="466344" y="5806440"/>
            <a:ext cx="6095984" cy="54864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a:normAutofit/>
          </a:bodyPr>
          <a:lstStyle/>
          <a:p>
            <a:pPr>
              <a:defRPr sz="1000">
                <a:solidFill>
                  <a:srgbClr val="222222"/>
                </a:solidFill>
              </a:defRPr>
            </a:pPr>
            <a:r>
              <a:t>This document did not pass its own review: The caption on this page names Key Milestones, which appears in no source. Somebody will go looking for them. The caption on this page names Critical Risks, which appears in no source. Somebody will go looking for them. The caption on this page names Financial Status, which appears in no source. Somebody will go looking for them.</a:t>
            </a:r>
          </a:p>
        </p:txBody>
      </p:sp>
      <p:sp>
        <p:nvSpPr>
          <p:cNvPr id="6" name="pmi:callout-rule"/>
          <p:cNvSpPr/>
          <p:nvPr/>
        </p:nvSpPr>
        <p:spPr>
          <a:xfrm>
            <a:off x="466344" y="5806440"/>
            <a:ext cx="45720" cy="5486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wrap="square">
            <a:normAutofit/>
          </a:bodyPr>
          <a:lstStyle/>
          <a:p>
            <a:r>
              <a:t>Executive Summary</a:t>
            </a:r>
          </a:p>
        </p:txBody>
      </p:sp>
      <p:graphicFrame>
        <p:nvGraphicFramePr>
          <p:cNvPr id="4" name="pmi:table:executive-summary.table1-table"/>
          <p:cNvGraphicFramePr>
            <a:graphicFrameLocks noGrp="1"/>
          </p:cNvGraphicFramePr>
          <p:nvPr/>
        </p:nvGraphicFramePr>
        <p:xfrm>
          <a:off x="469900" y="1682496"/>
          <a:ext cx="11274552" cy="2834640"/>
        </p:xfrm>
        <a:graphic>
          <a:graphicData uri="http://schemas.openxmlformats.org/drawingml/2006/table">
            <a:tbl>
              <a:tblPr firstRow="1" bandRow="1">
                <a:tableStyleId>{5C22544A-7EE6-4342-B048-85BDC9FD1C3A}</a:tableStyleId>
              </a:tblPr>
              <a:tblGrid>
                <a:gridCol w="1879092"/>
                <a:gridCol w="1879092"/>
                <a:gridCol w="1879092"/>
                <a:gridCol w="1879092"/>
                <a:gridCol w="1879092"/>
                <a:gridCol w="1879092"/>
              </a:tblGrid>
              <a:tr h="566928">
                <a:tc>
                  <a:txBody>
                    <a:bodyPr wrap="square">
                      <a:normAutofit/>
                    </a:bodyPr>
                    <a:lstStyle/>
                    <a:p>
                      <a:pPr>
                        <a:defRPr sz="1000" b="1">
                          <a:solidFill>
                            <a:srgbClr val="FFFFFF"/>
                          </a:solidFill>
                        </a:defRPr>
                      </a:pPr>
                      <a:r>
                        <a:t>Risk</a:t>
                      </a:r>
                    </a:p>
                  </a:txBody>
                  <a:tcPr marL="54864" marR="54864" marT="18288" marB="18288">
                    <a:solidFill>
                      <a:srgbClr val="046A38"/>
                    </a:solidFill>
                  </a:tcPr>
                </a:tc>
                <a:tc>
                  <a:txBody>
                    <a:bodyPr wrap="square">
                      <a:normAutofit/>
                    </a:bodyPr>
                    <a:lstStyle/>
                    <a:p>
                      <a:pPr>
                        <a:defRPr sz="1000" b="1">
                          <a:solidFill>
                            <a:srgbClr val="FFFFFF"/>
                          </a:solidFill>
                        </a:defRPr>
                      </a:pPr>
                      <a:r>
                        <a:t>Workstream</a:t>
                      </a:r>
                    </a:p>
                  </a:txBody>
                  <a:tcPr marL="54864" marR="54864" marT="18288" marB="18288">
                    <a:solidFill>
                      <a:srgbClr val="046A38"/>
                    </a:solidFill>
                  </a:tcPr>
                </a:tc>
                <a:tc>
                  <a:txBody>
                    <a:bodyPr wrap="square">
                      <a:normAutofit/>
                    </a:bodyPr>
                    <a:lstStyle/>
                    <a:p>
                      <a:pPr algn="r">
                        <a:defRPr sz="1000" b="1">
                          <a:solidFill>
                            <a:srgbClr val="FFFFFF"/>
                          </a:solidFill>
                        </a:defRPr>
                      </a:pPr>
                      <a:r>
                        <a:t>Score</a:t>
                      </a:r>
                    </a:p>
                  </a:txBody>
                  <a:tcPr marL="54864" marR="54864" marT="18288" marB="18288">
                    <a:solidFill>
                      <a:srgbClr val="046A38"/>
                    </a:solidFill>
                  </a:tcPr>
                </a:tc>
                <a:tc>
                  <a:txBody>
                    <a:bodyPr wrap="square">
                      <a:normAutofit/>
                    </a:bodyPr>
                    <a:lstStyle/>
                    <a:p>
                      <a:pPr>
                        <a:defRPr sz="1000" b="1">
                          <a:solidFill>
                            <a:srgbClr val="FFFFFF"/>
                          </a:solidFill>
                        </a:defRPr>
                      </a:pPr>
                      <a:r>
                        <a:t>Owner</a:t>
                      </a:r>
                    </a:p>
                  </a:txBody>
                  <a:tcPr marL="54864" marR="54864" marT="18288" marB="18288">
                    <a:solidFill>
                      <a:srgbClr val="046A38"/>
                    </a:solidFill>
                  </a:tcPr>
                </a:tc>
                <a:tc>
                  <a:txBody>
                    <a:bodyPr wrap="square">
                      <a:normAutofit/>
                    </a:bodyPr>
                    <a:lstStyle/>
                    <a:p>
                      <a:pPr>
                        <a:defRPr sz="1000" b="1">
                          <a:solidFill>
                            <a:srgbClr val="FFFFFF"/>
                          </a:solidFill>
                        </a:defRPr>
                      </a:pPr>
                      <a:r>
                        <a:t>Mitigation</a:t>
                      </a:r>
                    </a:p>
                  </a:txBody>
                  <a:tcPr marL="54864" marR="54864" marT="18288" marB="18288">
                    <a:solidFill>
                      <a:srgbClr val="046A38"/>
                    </a:solidFill>
                  </a:tcPr>
                </a:tc>
                <a:tc>
                  <a:txBody>
                    <a:bodyPr wrap="square">
                      <a:normAutofit/>
                    </a:bodyPr>
                    <a:lstStyle/>
                    <a:p>
                      <a:pPr>
                        <a:defRPr sz="1000" b="1">
                          <a:solidFill>
                            <a:srgbClr val="FFFFFF"/>
                          </a:solidFill>
                        </a:defRPr>
                      </a:pPr>
                      <a:r>
                        <a:t>Status</a:t>
                      </a:r>
                    </a:p>
                  </a:txBody>
                  <a:tcPr marL="54864" marR="54864" marT="18288" marB="18288">
                    <a:solidFill>
                      <a:srgbClr val="046A38"/>
                    </a:solidFill>
                  </a:tcPr>
                </a:tc>
              </a:tr>
              <a:tr h="566928">
                <a:tc>
                  <a:txBody>
                    <a:bodyPr wrap="square">
                      <a:normAutofit/>
                    </a:bodyPr>
                    <a:lstStyle/>
                    <a:p>
                      <a:pPr>
                        <a:defRPr sz="1000" b="0">
                          <a:solidFill>
                            <a:srgbClr val="222222"/>
                          </a:solidFill>
                        </a:defRPr>
                      </a:pPr>
                      <a:r>
                        <a:t>Key talent attrition in the combined field organisat</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Adeyemi</a:t>
                      </a:r>
                    </a:p>
                  </a:txBody>
                  <a:tcPr marL="54864" marR="54864" marT="18288" marB="18288">
                    <a:solidFill>
                      <a:srgbClr val="FFFFFF"/>
                    </a:solidFill>
                  </a:tcPr>
                </a:tc>
                <a:tc>
                  <a:txBody>
                    <a:bodyPr wrap="square">
                      <a:normAutofit/>
                    </a:bodyPr>
                    <a:lstStyle/>
                    <a:p>
                      <a:pPr>
                        <a:defRPr sz="1000" b="0">
                          <a:solidFill>
                            <a:srgbClr val="222222"/>
                          </a:solidFill>
                        </a:defRPr>
                      </a:pPr>
                      <a:r>
                        <a:t>Confirm retention packages for named critica</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566928">
                <a:tc>
                  <a:txBody>
                    <a:bodyPr wrap="square">
                      <a:normAutofit/>
                    </a:bodyPr>
                    <a:lstStyle/>
                    <a:p>
                      <a:pPr>
                        <a:defRPr sz="1000" b="0">
                          <a:solidFill>
                            <a:srgbClr val="222222"/>
                          </a:solidFill>
                        </a:defRPr>
                      </a:pPr>
                      <a:r>
                        <a:t>Key talent attrition in the combined field organisation before the coverage mo</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DA291C"/>
                          </a:solidFill>
                        </a:defRPr>
                      </a:pPr>
                      <a:r>
                        <a:t>⚠ NO OWNER</a:t>
                      </a:r>
                    </a:p>
                  </a:txBody>
                  <a:tcPr marL="54864" marR="54864" marT="18288" marB="18288">
                    <a:solidFill>
                      <a:srgbClr val="E6E6E6"/>
                    </a:solidFill>
                  </a:tcPr>
                </a:tc>
                <a:tc>
                  <a:txBody>
                    <a:bodyPr wrap="square">
                      <a:normAutofit/>
                    </a:bodyPr>
                    <a:lstStyle/>
                    <a:p>
                      <a:pPr>
                        <a:defRPr sz="1000" b="0">
                          <a:solidFill>
                            <a:srgbClr val="222222"/>
                          </a:solidFill>
                        </a:defRPr>
                      </a:pPr>
                      <a:r>
                        <a:t>Confirm retention packages for named critical roles, bring the c</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r h="566928">
                <a:tc>
                  <a:txBody>
                    <a:bodyPr wrap="square">
                      <a:normAutofit/>
                    </a:bodyPr>
                    <a:lstStyle/>
                    <a:p>
                      <a:pPr>
                        <a:defRPr sz="1000" b="0">
                          <a:solidFill>
                            <a:srgbClr val="222222"/>
                          </a:solidFill>
                        </a:defRPr>
                      </a:pPr>
                      <a:r>
                        <a:t>Key talent attrition in the combined field organisation before the cov</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J. Adeyemi</a:t>
                      </a:r>
                    </a:p>
                  </a:txBody>
                  <a:tcPr marL="54864" marR="54864" marT="18288" marB="18288">
                    <a:solidFill>
                      <a:srgbClr val="FFFFFF"/>
                    </a:solidFill>
                  </a:tcPr>
                </a:tc>
                <a:tc>
                  <a:txBody>
                    <a:bodyPr wrap="square">
                      <a:normAutofit/>
                    </a:bodyPr>
                    <a:lstStyle/>
                    <a:p>
                      <a:pPr>
                        <a:defRPr sz="1000" b="0">
                          <a:solidFill>
                            <a:srgbClr val="222222"/>
                          </a:solidFill>
                        </a:defRPr>
                      </a:pPr>
                      <a:r>
                        <a:t>Confirm retention packages for named critical roles, bring the cov</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566928">
                <a:tc>
                  <a:txBody>
                    <a:bodyPr wrap="square">
                      <a:normAutofit/>
                    </a:bodyPr>
                    <a:lstStyle/>
                    <a:p>
                      <a:pPr>
                        <a:defRPr sz="1000" b="0">
                          <a:solidFill>
                            <a:srgbClr val="222222"/>
                          </a:solidFill>
                        </a:defRPr>
                      </a:pPr>
                      <a:r>
                        <a:t>Key talent attrition in the combined field organisation before the coverage model is in force</a:t>
                      </a:r>
                    </a:p>
                  </a:txBody>
                  <a:tcPr marL="54864" marR="54864" marT="18288" marB="18288">
                    <a:solidFill>
                      <a:srgbClr val="E6E6E6"/>
                    </a:solidFill>
                  </a:tcPr>
                </a:tc>
                <a:tc>
                  <a:txBody>
                    <a:bodyPr wrap="square">
                      <a:normAutofit/>
                    </a:bodyPr>
                    <a:lstStyle/>
                    <a:p>
                      <a:pPr>
                        <a:defRPr sz="1000" b="0">
                          <a:solidFill>
                            <a:srgbClr val="222222"/>
                          </a:solidFill>
                        </a:defRPr>
                      </a:pPr>
                      <a:r>
                        <a:t>WS4 Human Capital</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J. Adeyemi</a:t>
                      </a:r>
                    </a:p>
                  </a:txBody>
                  <a:tcPr marL="54864" marR="54864" marT="18288" marB="18288">
                    <a:solidFill>
                      <a:srgbClr val="E6E6E6"/>
                    </a:solidFill>
                  </a:tcPr>
                </a:tc>
                <a:tc>
                  <a:txBody>
                    <a:bodyPr wrap="square">
                      <a:normAutofit/>
                    </a:bodyPr>
                    <a:lstStyle/>
                    <a:p>
                      <a:pPr>
                        <a:defRPr sz="1000" b="0">
                          <a:solidFill>
                            <a:srgbClr val="222222"/>
                          </a:solidFill>
                        </a:defRPr>
                      </a:pPr>
                      <a:r>
                        <a:t>Confirm retention packages for named critical roles, bring the coverage model communication forward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bl>
          </a:graphicData>
        </a:graphic>
      </p:graphicFrame>
      <p:sp>
        <p:nvSpPr>
          <p:cNvPr id="5"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DellEMC_VCIO_Workstream_Status_HumanCapital_W3_2016-09-28.pptx (slide 1); DellEMC_VCIO_Weekly_Highlight_Report_W3_2016-09-30.docx (table 5); DellEMC_VCIO_SteerCo_Update_Session02_2016-09-29.pptx (slide 5); DellEMC_VCIO_SteerCo_Minutes_Session01_signed_2016-09-22.pdf (page 2).</a:t>
            </a:r>
          </a:p>
        </p:txBody>
      </p:sp>
      <p:sp>
        <p:nvSpPr>
          <p:cNvPr id="6"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eval-with_errors_Z_1_40f42e80  |  Steering Committee</a:t>
            </a:r>
          </a:p>
        </p:txBody>
      </p:sp>
      <p:sp>
        <p:nvSpPr>
          <p:cNvPr id="7"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wrap="square">
            <a:normAutofit/>
          </a:bodyPr>
          <a:lstStyle/>
          <a:p>
            <a:r>
              <a:t>Overall Integration Status</a:t>
            </a:r>
          </a:p>
        </p:txBody>
      </p:sp>
      <p:graphicFrame>
        <p:nvGraphicFramePr>
          <p:cNvPr id="4" name="pmi:table:overall-integration-status.table1-table"/>
          <p:cNvGraphicFramePr>
            <a:graphicFrameLocks noGrp="1"/>
          </p:cNvGraphicFramePr>
          <p:nvPr/>
        </p:nvGraphicFramePr>
        <p:xfrm>
          <a:off x="469900" y="1682496"/>
          <a:ext cx="11274552" cy="4133088"/>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459232">
                <a:tc>
                  <a:txBody>
                    <a:bodyPr wrap="square">
                      <a:normAutofit/>
                    </a:bodyPr>
                    <a:lstStyle/>
                    <a:p>
                      <a:pPr>
                        <a:defRPr sz="1000" b="1">
                          <a:solidFill>
                            <a:srgbClr val="FFFFFF"/>
                          </a:solidFill>
                        </a:defRPr>
                      </a:pPr>
                      <a:r>
                        <a:t>Dependency</a:t>
                      </a:r>
                    </a:p>
                  </a:txBody>
                  <a:tcPr marL="54864" marR="54864" marT="18288" marB="18288">
                    <a:solidFill>
                      <a:srgbClr val="046A38"/>
                    </a:solidFill>
                  </a:tcPr>
                </a:tc>
                <a:tc>
                  <a:txBody>
                    <a:bodyPr wrap="square">
                      <a:normAutofit/>
                    </a:bodyPr>
                    <a:lstStyle/>
                    <a:p>
                      <a:pPr>
                        <a:defRPr sz="1000" b="1">
                          <a:solidFill>
                            <a:srgbClr val="FFFFFF"/>
                          </a:solidFill>
                        </a:defRPr>
                      </a:pPr>
                      <a:r>
                        <a:t>From</a:t>
                      </a:r>
                    </a:p>
                  </a:txBody>
                  <a:tcPr marL="54864" marR="54864" marT="18288" marB="18288">
                    <a:solidFill>
                      <a:srgbClr val="046A38"/>
                    </a:solidFill>
                  </a:tcPr>
                </a:tc>
                <a:tc>
                  <a:txBody>
                    <a:bodyPr wrap="square">
                      <a:normAutofit/>
                    </a:bodyPr>
                    <a:lstStyle/>
                    <a:p>
                      <a:pPr>
                        <a:defRPr sz="1000" b="1">
                          <a:solidFill>
                            <a:srgbClr val="FFFFFF"/>
                          </a:solidFill>
                        </a:defRPr>
                      </a:pPr>
                      <a:r>
                        <a:t>To</a:t>
                      </a:r>
                    </a:p>
                  </a:txBody>
                  <a:tcPr marL="54864" marR="54864" marT="18288" marB="18288">
                    <a:solidFill>
                      <a:srgbClr val="046A38"/>
                    </a:solidFill>
                  </a:tcPr>
                </a:tc>
                <a:tc>
                  <a:txBody>
                    <a:bodyPr wrap="square">
                      <a:normAutofit/>
                    </a:bodyPr>
                    <a:lstStyle/>
                    <a:p>
                      <a:pPr>
                        <a:defRPr sz="1000" b="1">
                          <a:solidFill>
                            <a:srgbClr val="FFFFFF"/>
                          </a:solidFill>
                        </a:defRPr>
                      </a:pPr>
                      <a:r>
                        <a:t>Required</a:t>
                      </a:r>
                    </a:p>
                  </a:txBody>
                  <a:tcPr marL="54864" marR="54864" marT="18288" marB="18288">
                    <a:solidFill>
                      <a:srgbClr val="046A38"/>
                    </a:solidFill>
                  </a:tcPr>
                </a:tc>
                <a:tc>
                  <a:txBody>
                    <a:bodyPr wrap="square">
                      <a:normAutofit/>
                    </a:bodyPr>
                    <a:lstStyle/>
                    <a:p>
                      <a:pPr>
                        <a:defRPr sz="1000" b="1">
                          <a:solidFill>
                            <a:srgbClr val="FFFFFF"/>
                          </a:solidFill>
                        </a:defRPr>
                      </a:pPr>
                      <a:r>
                        <a:t>Status</a:t>
                      </a:r>
                    </a:p>
                  </a:txBody>
                  <a:tcPr marL="54864" marR="54864" marT="18288" marB="18288">
                    <a:solidFill>
                      <a:srgbClr val="046A38"/>
                    </a:solidFill>
                  </a:tcPr>
                </a:tc>
              </a:tr>
              <a:tr h="459232">
                <a:tc>
                  <a:txBody>
                    <a:bodyPr wrap="square">
                      <a:normAutofit/>
                    </a:bodyPr>
                    <a:lstStyle/>
                    <a:p>
                      <a:pPr>
                        <a:defRPr sz="1000" b="0">
                          <a:solidFill>
                            <a:srgbClr val="222222"/>
                          </a:solidFill>
                        </a:defRPr>
                      </a:pPr>
                      <a:r>
                        <a:t>Integration organisation transitioned to</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ED8B00"/>
                          </a:solidFill>
                        </a:defRPr>
                      </a:pPr>
                      <a:r>
                        <a:t>in_progress</a:t>
                      </a:r>
                    </a:p>
                  </a:txBody>
                  <a:tcPr marL="54864" marR="54864" marT="18288" marB="18288">
                    <a:solidFill>
                      <a:srgbClr val="FFFFFF"/>
                    </a:solidFill>
                  </a:tcPr>
                </a:tc>
              </a:tr>
              <a:tr h="459232">
                <a:tc>
                  <a:txBody>
                    <a:bodyPr wrap="square">
                      <a:normAutofit/>
                    </a:bodyPr>
                    <a:lstStyle/>
                    <a:p>
                      <a:pPr>
                        <a:defRPr sz="1000" b="0">
                          <a:solidFill>
                            <a:srgbClr val="222222"/>
                          </a:solidFill>
                        </a:defRPr>
                      </a:pPr>
                      <a:r>
                        <a:t>Spend cube required before logistics renegotiation can be scoped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ED8B00"/>
                          </a:solidFill>
                        </a:defRPr>
                      </a:pPr>
                      <a:r>
                        <a:t>in_progress</a:t>
                      </a:r>
                    </a:p>
                  </a:txBody>
                  <a:tcPr marL="54864" marR="54864" marT="18288" marB="18288">
                    <a:solidFill>
                      <a:srgbClr val="E6E6E6"/>
                    </a:solidFill>
                  </a:tcPr>
                </a:tc>
              </a:tr>
              <a:tr h="459232">
                <a:tc>
                  <a:txBody>
                    <a:bodyPr wrap="square">
                      <a:normAutofit/>
                    </a:bodyPr>
                    <a:lstStyle/>
                    <a:p>
                      <a:pPr>
                        <a:defRPr sz="1000" b="0">
                          <a:solidFill>
                            <a:srgbClr val="222222"/>
                          </a:solidFill>
                        </a:defRPr>
                      </a:pPr>
                      <a:r>
                        <a:t>Approved legal entity structure required to fix the consolidation scope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DA291C"/>
                          </a:solidFill>
                        </a:defRPr>
                      </a:pPr>
                      <a:r>
                        <a:t>at_risk</a:t>
                      </a:r>
                    </a:p>
                  </a:txBody>
                  <a:tcPr marL="54864" marR="54864" marT="18288" marB="18288">
                    <a:solidFill>
                      <a:srgbClr val="FFFFFF"/>
                    </a:solidFill>
                  </a:tcPr>
                </a:tc>
              </a:tr>
              <a:tr h="459232">
                <a:tc>
                  <a:txBody>
                    <a:bodyPr wrap="square">
                      <a:normAutofit/>
                    </a:bodyPr>
                    <a:lstStyle/>
                    <a:p>
                      <a:pPr>
                        <a:defRPr sz="1000" b="0">
                          <a:solidFill>
                            <a:srgbClr val="222222"/>
                          </a:solidFill>
                        </a:defRPr>
                      </a:pPr>
                      <a:r>
                        <a:t>Works council conclusion required before the organisation structure rele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DA291C"/>
                          </a:solidFill>
                        </a:defRPr>
                      </a:pPr>
                      <a:r>
                        <a:t>at_risk</a:t>
                      </a:r>
                    </a:p>
                  </a:txBody>
                  <a:tcPr marL="54864" marR="54864" marT="18288" marB="18288">
                    <a:solidFill>
                      <a:srgbClr val="E6E6E6"/>
                    </a:solidFill>
                  </a:tcPr>
                </a:tc>
              </a:tr>
              <a:tr h="459232">
                <a:tc>
                  <a:txBody>
                    <a:bodyPr wrap="square">
                      <a:normAutofit/>
                    </a:bodyPr>
                    <a:lstStyle/>
                    <a:p>
                      <a:pPr>
                        <a:defRPr sz="1000" b="0">
                          <a:solidFill>
                            <a:srgbClr val="222222"/>
                          </a:solidFill>
                        </a:defRPr>
                      </a:pPr>
                      <a:r>
                        <a:t>Compensation plan design required before territory and quota alignment</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ED8B00"/>
                          </a:solidFill>
                        </a:defRPr>
                      </a:pPr>
                      <a:r>
                        <a:t>in_progress</a:t>
                      </a:r>
                    </a:p>
                  </a:txBody>
                  <a:tcPr marL="54864" marR="54864" marT="18288" marB="18288">
                    <a:solidFill>
                      <a:srgbClr val="FFFFFF"/>
                    </a:solidFill>
                  </a:tcPr>
                </a:tc>
              </a:tr>
              <a:tr h="459232">
                <a:tc>
                  <a:txBody>
                    <a:bodyPr wrap="square">
                      <a:normAutofit/>
                    </a:bodyPr>
                    <a:lstStyle/>
                    <a:p>
                      <a:pPr>
                        <a:defRPr sz="1000" b="0">
                          <a:solidFill>
                            <a:srgbClr val="222222"/>
                          </a:solidFill>
                        </a:defRPr>
                      </a:pPr>
                      <a:r>
                        <a:t>Entity plan required before transfer pricing documentation can begin</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DA291C"/>
                          </a:solidFill>
                        </a:defRPr>
                      </a:pPr>
                      <a:r>
                        <a:t>at_risk</a:t>
                      </a:r>
                    </a:p>
                  </a:txBody>
                  <a:tcPr marL="54864" marR="54864" marT="18288" marB="18288">
                    <a:solidFill>
                      <a:srgbClr val="E6E6E6"/>
                    </a:solidFill>
                  </a:tcPr>
                </a:tc>
              </a:tr>
              <a:tr h="459232">
                <a:tc>
                  <a:txBody>
                    <a:bodyPr wrap="square">
                      <a:normAutofit/>
                    </a:bodyPr>
                    <a:lstStyle/>
                    <a:p>
                      <a:pPr>
                        <a:defRPr sz="1000" b="0">
                          <a:solidFill>
                            <a:srgbClr val="222222"/>
                          </a:solidFill>
                        </a:defRPr>
                      </a:pPr>
                      <a:r>
                        <a:t>Portfolio cross-reference required before the flagship event narrative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ED8B00"/>
                          </a:solidFill>
                        </a:defRPr>
                      </a:pPr>
                      <a:r>
                        <a:t>in_progress</a:t>
                      </a:r>
                    </a:p>
                  </a:txBody>
                  <a:tcPr marL="54864" marR="54864" marT="18288" marB="18288">
                    <a:solidFill>
                      <a:srgbClr val="FFFFFF"/>
                    </a:solidFill>
                  </a:tcPr>
                </a:tc>
              </a:tr>
              <a:tr h="459232">
                <a:tc>
                  <a:txBody>
                    <a:bodyPr wrap="square">
                      <a:normAutofit/>
                    </a:bodyPr>
                    <a:lstStyle/>
                    <a:p>
                      <a:pPr>
                        <a:defRPr sz="1000" b="0">
                          <a:solidFill>
                            <a:srgbClr val="222222"/>
                          </a:solidFill>
                        </a:defRPr>
                      </a:pPr>
                      <a:r>
                        <a:t>Lease expiry analysis required before the EMEA site plan is approved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ED8B00"/>
                          </a:solidFill>
                        </a:defRPr>
                      </a:pPr>
                      <a:r>
                        <a:t>in_progress</a:t>
                      </a:r>
                    </a:p>
                  </a:txBody>
                  <a:tcPr marL="54864" marR="54864" marT="18288" marB="18288">
                    <a:solidFill>
                      <a:srgbClr val="E6E6E6"/>
                    </a:solidFill>
                  </a:tcPr>
                </a:tc>
              </a:tr>
            </a:tbl>
          </a:graphicData>
        </a:graphic>
      </p:graphicFrame>
      <p:sp>
        <p:nvSpPr>
          <p:cNvPr id="5" name="pmi:caption"/>
          <p:cNvSpPr txBox="1"/>
          <p:nvPr/>
        </p:nvSpPr>
        <p:spPr>
          <a:xfrm>
            <a:off x="469900" y="5815584"/>
            <a:ext cx="11274552" cy="219456"/>
          </a:xfrm>
          <a:prstGeom prst="rect">
            <a:avLst/>
          </a:prstGeom>
          <a:noFill/>
        </p:spPr>
        <p:txBody>
          <a:bodyPr wrap="square">
            <a:normAutofit/>
          </a:bodyPr>
          <a:lstStyle/>
          <a:p>
            <a:pPr>
              <a:defRPr sz="900" b="0" i="1">
                <a:solidFill>
                  <a:srgbClr val="75787B"/>
                </a:solidFill>
              </a:defRPr>
            </a:pPr>
            <a:r>
              <a:t>Showing 8 of 9 rows.</a:t>
            </a:r>
          </a:p>
        </p:txBody>
      </p:sp>
      <p:sp>
        <p:nvSpPr>
          <p:cNvPr id="6"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DellEMC_VCIO_Eskalation_Mailverlauf_M-07_2016-09-28.html (table 1); DellEMC_VCIO_Expertenrunde_ERP_Konsolidierung_2016-09-21.docx (table 2); DellEMC_VCIO_Expertenrunde_ERP_Konsolidierung_2016-09-21.docx (table 7); DellEMC_VCIO_Integration_Tracker_W3_2016-09-29.xlsx (sheet 'Massnahmenplan'!A5:J5); and 79 more.</a:t>
            </a:r>
          </a:p>
        </p:txBody>
      </p:sp>
      <p:sp>
        <p:nvSpPr>
          <p:cNvPr id="7"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eval-with_errors_Z_1_40f42e80  |  Steering Committee</a:t>
            </a:r>
          </a:p>
        </p:txBody>
      </p:sp>
      <p:sp>
        <p:nvSpPr>
          <p:cNvPr id="8"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wrap="square">
            <a:normAutofit/>
          </a:bodyPr>
          <a:lstStyle/>
          <a:p>
            <a:r>
              <a:t>Workstream Status</a:t>
            </a:r>
          </a:p>
        </p:txBody>
      </p:sp>
      <p:sp>
        <p:nvSpPr>
          <p:cNvPr id="4" name="Content Placeholder 3"/>
          <p:cNvSpPr>
            <a:spLocks noGrp="1"/>
          </p:cNvSpPr>
          <p:nvPr>
            <p:ph idx="1"/>
          </p:nvPr>
        </p:nvSpPr>
        <p:spPr/>
        <p:txBody>
          <a:bodyPr wrap="square">
            <a:normAutofit/>
          </a:bodyPr>
          <a:lstStyle/>
          <a:p>
            <a:r>
              <a:t>Not enough data</a:t>
            </a:r>
          </a:p>
        </p:txBody>
      </p:sp>
      <p:sp>
        <p:nvSpPr>
          <p:cNvPr id="5"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eval-with_errors_Z_1_40f42e80  |  Steering Committee</a:t>
            </a:r>
          </a:p>
        </p:txBody>
      </p:sp>
      <p:sp>
        <p:nvSpPr>
          <p:cNvPr id="6"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normAutofit/>
          </a:bodyPr>
          <a:lstStyle/>
          <a:p>
            <a:r>
              <a:t>All milestones are on plan</a:t>
            </a:r>
          </a:p>
        </p:txBody>
      </p:sp>
      <p:sp>
        <p:nvSpPr>
          <p:cNvPr id="3" name="Title 2"/>
          <p:cNvSpPr>
            <a:spLocks noGrp="1"/>
          </p:cNvSpPr>
          <p:nvPr>
            <p:ph type="title"/>
          </p:nvPr>
        </p:nvSpPr>
        <p:spPr/>
        <p:txBody>
          <a:bodyPr wrap="square">
            <a:normAutofit/>
          </a:bodyPr>
          <a:lstStyle/>
          <a:p>
            <a:r>
              <a:t>Key Milestones</a:t>
            </a:r>
          </a:p>
        </p:txBody>
      </p:sp>
      <p:graphicFrame>
        <p:nvGraphicFramePr>
          <p:cNvPr id="4" name="pmi:table:key-milestones.table1-table"/>
          <p:cNvGraphicFramePr>
            <a:graphicFrameLocks noGrp="1"/>
          </p:cNvGraphicFramePr>
          <p:nvPr/>
        </p:nvGraphicFramePr>
        <p:xfrm>
          <a:off x="469900" y="1682496"/>
          <a:ext cx="11274552" cy="4133088"/>
        </p:xfrm>
        <a:graphic>
          <a:graphicData uri="http://schemas.openxmlformats.org/drawingml/2006/table">
            <a:tbl>
              <a:tblPr firstRow="1" bandRow="1">
                <a:tableStyleId>{5C22544A-7EE6-4342-B048-85BDC9FD1C3A}</a:tableStyleId>
              </a:tblPr>
              <a:tblGrid>
                <a:gridCol w="1879092"/>
                <a:gridCol w="1879092"/>
                <a:gridCol w="1879092"/>
                <a:gridCol w="1879092"/>
                <a:gridCol w="1879092"/>
                <a:gridCol w="1879092"/>
              </a:tblGrid>
              <a:tr h="459232">
                <a:tc>
                  <a:txBody>
                    <a:bodyPr wrap="square">
                      <a:normAutofit/>
                    </a:bodyPr>
                    <a:lstStyle/>
                    <a:p>
                      <a:pPr>
                        <a:defRPr sz="1000" b="1">
                          <a:solidFill>
                            <a:srgbClr val="FFFFFF"/>
                          </a:solidFill>
                        </a:defRPr>
                      </a:pPr>
                      <a:r>
                        <a:t>Milestone</a:t>
                      </a:r>
                    </a:p>
                  </a:txBody>
                  <a:tcPr marL="54864" marR="54864" marT="18288" marB="18288">
                    <a:solidFill>
                      <a:srgbClr val="046A38"/>
                    </a:solidFill>
                  </a:tcPr>
                </a:tc>
                <a:tc>
                  <a:txBody>
                    <a:bodyPr wrap="square">
                      <a:normAutofit/>
                    </a:bodyPr>
                    <a:lstStyle/>
                    <a:p>
                      <a:pPr>
                        <a:defRPr sz="1000" b="1">
                          <a:solidFill>
                            <a:srgbClr val="FFFFFF"/>
                          </a:solidFill>
                        </a:defRPr>
                      </a:pPr>
                      <a:r>
                        <a:t>Workstream</a:t>
                      </a:r>
                    </a:p>
                  </a:txBody>
                  <a:tcPr marL="54864" marR="54864" marT="18288" marB="18288">
                    <a:solidFill>
                      <a:srgbClr val="046A38"/>
                    </a:solidFill>
                  </a:tcPr>
                </a:tc>
                <a:tc>
                  <a:txBody>
                    <a:bodyPr wrap="square">
                      <a:normAutofit/>
                    </a:bodyPr>
                    <a:lstStyle/>
                    <a:p>
                      <a:pPr>
                        <a:defRPr sz="1000" b="1">
                          <a:solidFill>
                            <a:srgbClr val="FFFFFF"/>
                          </a:solidFill>
                        </a:defRPr>
                      </a:pPr>
                      <a:r>
                        <a:t>Planned</a:t>
                      </a:r>
                    </a:p>
                  </a:txBody>
                  <a:tcPr marL="54864" marR="54864" marT="18288" marB="18288">
                    <a:solidFill>
                      <a:srgbClr val="046A38"/>
                    </a:solidFill>
                  </a:tcPr>
                </a:tc>
                <a:tc>
                  <a:txBody>
                    <a:bodyPr wrap="square">
                      <a:normAutofit/>
                    </a:bodyPr>
                    <a:lstStyle/>
                    <a:p>
                      <a:pPr>
                        <a:defRPr sz="1000" b="1">
                          <a:solidFill>
                            <a:srgbClr val="FFFFFF"/>
                          </a:solidFill>
                        </a:defRPr>
                      </a:pPr>
                      <a:r>
                        <a:t>Forecast</a:t>
                      </a:r>
                    </a:p>
                  </a:txBody>
                  <a:tcPr marL="54864" marR="54864" marT="18288" marB="18288">
                    <a:solidFill>
                      <a:srgbClr val="046A38"/>
                    </a:solidFill>
                  </a:tcPr>
                </a:tc>
                <a:tc>
                  <a:txBody>
                    <a:bodyPr wrap="square">
                      <a:normAutofit/>
                    </a:bodyPr>
                    <a:lstStyle/>
                    <a:p>
                      <a:pPr algn="r">
                        <a:defRPr sz="1000" b="1">
                          <a:solidFill>
                            <a:srgbClr val="FFFFFF"/>
                          </a:solidFill>
                        </a:defRPr>
                      </a:pPr>
                      <a:r>
                        <a:t>Slippage</a:t>
                      </a:r>
                    </a:p>
                  </a:txBody>
                  <a:tcPr marL="54864" marR="54864" marT="18288" marB="18288">
                    <a:solidFill>
                      <a:srgbClr val="046A38"/>
                    </a:solidFill>
                  </a:tcPr>
                </a:tc>
                <a:tc>
                  <a:txBody>
                    <a:bodyPr wrap="square">
                      <a:normAutofit/>
                    </a:bodyPr>
                    <a:lstStyle/>
                    <a:p>
                      <a:pPr>
                        <a:defRPr sz="1000" b="1">
                          <a:solidFill>
                            <a:srgbClr val="FFFFFF"/>
                          </a:solidFill>
                        </a:defRPr>
                      </a:pPr>
                      <a:r>
                        <a:t>Status</a:t>
                      </a:r>
                    </a:p>
                  </a:txBody>
                  <a:tcPr marL="54864" marR="54864" marT="18288" marB="18288">
                    <a:solidFill>
                      <a:srgbClr val="046A38"/>
                    </a:solidFill>
                  </a:tcPr>
                </a:tc>
              </a:tr>
              <a:tr h="459232">
                <a:tc>
                  <a:txBody>
                    <a:bodyPr wrap="square">
                      <a:normAutofit/>
                    </a:bodyPr>
                    <a:lstStyle/>
                    <a:p>
                      <a:pPr>
                        <a:defRPr sz="1000" b="0">
                          <a:solidFill>
                            <a:srgbClr val="222222"/>
                          </a:solidFill>
                        </a:defRPr>
                      </a:pPr>
                      <a:r>
                        <a:t>Kombinierte Eroeffnungsbilanz erstellt</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459232">
                <a:tc>
                  <a:txBody>
                    <a:bodyPr wrap="square">
                      <a:normAutofit/>
                    </a:bodyPr>
                    <a:lstStyle/>
                    <a:p>
                      <a:pPr>
                        <a:defRPr sz="1000" b="0">
                          <a:solidFill>
                            <a:srgbClr val="222222"/>
                          </a:solidFill>
                        </a:defRPr>
                      </a:pPr>
                      <a:r>
                        <a:t>0 delayed of 3</a:t>
                      </a:r>
                    </a:p>
                  </a:txBody>
                  <a:tcPr marL="54864" marR="54864" marT="18288" marB="18288">
                    <a:solidFill>
                      <a:srgbClr val="E6E6E6"/>
                    </a:solidFill>
                  </a:tcPr>
                </a:tc>
                <a:tc>
                  <a:txBody>
                    <a:bodyPr wrap="square">
                      <a:normAutofit/>
                    </a:bodyPr>
                    <a:lstStyle/>
                    <a:p>
                      <a:pPr>
                        <a:defRPr sz="1000" b="0">
                          <a:solidFill>
                            <a:srgbClr val="222222"/>
                          </a:solidFill>
                        </a:defRPr>
                      </a:pPr>
                      <a:r>
                        <a:t>Finance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ED8B00"/>
                          </a:solidFill>
                        </a:defRPr>
                      </a:pPr>
                      <a:r>
                        <a:t>in_progress</a:t>
                      </a:r>
                    </a:p>
                  </a:txBody>
                  <a:tcPr marL="54864" marR="54864" marT="18288" marB="18288">
                    <a:solidFill>
                      <a:srgbClr val="E6E6E6"/>
                    </a:solidFill>
                  </a:tcPr>
                </a:tc>
              </a:tr>
              <a:tr h="459232">
                <a:tc>
                  <a:txBody>
                    <a:bodyPr wrap="square">
                      <a:normAutofit/>
                    </a:bodyPr>
                    <a:lstStyle/>
                    <a:p>
                      <a:pPr>
                        <a:defRPr sz="1000" b="0">
                          <a:solidFill>
                            <a:srgbClr val="222222"/>
                          </a:solidFill>
                        </a:defRPr>
                      </a:pPr>
                      <a:r>
                        <a:t>1 delayed of 2</a:t>
                      </a:r>
                    </a:p>
                  </a:txBody>
                  <a:tcPr marL="54864" marR="54864" marT="18288" marB="18288">
                    <a:solidFill>
                      <a:srgbClr val="FFFFFF"/>
                    </a:solidFill>
                  </a:tcPr>
                </a:tc>
                <a:tc>
                  <a:txBody>
                    <a:bodyPr wrap="square">
                      <a:normAutofit/>
                    </a:bodyPr>
                    <a:lstStyle/>
                    <a:p>
                      <a:pPr>
                        <a:defRPr sz="1000" b="0">
                          <a:solidFill>
                            <a:srgbClr val="222222"/>
                          </a:solidFill>
                        </a:defRPr>
                      </a:pPr>
                      <a:r>
                        <a:t>Tax</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DA291C"/>
                          </a:solidFill>
                        </a:defRPr>
                      </a:pPr>
                      <a:r>
                        <a:t>at_risk</a:t>
                      </a:r>
                    </a:p>
                  </a:txBody>
                  <a:tcPr marL="54864" marR="54864" marT="18288" marB="18288">
                    <a:solidFill>
                      <a:srgbClr val="FFFFFF"/>
                    </a:solidFill>
                  </a:tcPr>
                </a:tc>
              </a:tr>
              <a:tr h="459232">
                <a:tc>
                  <a:txBody>
                    <a:bodyPr wrap="square">
                      <a:normAutofit/>
                    </a:bodyPr>
                    <a:lstStyle/>
                    <a:p>
                      <a:pPr>
                        <a:defRPr sz="1000" b="0">
                          <a:solidFill>
                            <a:srgbClr val="222222"/>
                          </a:solidFill>
                        </a:defRPr>
                      </a:pPr>
                      <a:r>
                        <a:t>Integration organisation transitioned to run</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ED8B00"/>
                          </a:solidFill>
                        </a:defRPr>
                      </a:pPr>
                      <a:r>
                        <a:t>in_progress</a:t>
                      </a:r>
                    </a:p>
                  </a:txBody>
                  <a:tcPr marL="54864" marR="54864" marT="18288" marB="18288">
                    <a:solidFill>
                      <a:srgbClr val="E6E6E6"/>
                    </a:solidFill>
                  </a:tcPr>
                </a:tc>
              </a:tr>
              <a:tr h="459232">
                <a:tc>
                  <a:txBody>
                    <a:bodyPr wrap="square">
                      <a:normAutofit/>
                    </a:bodyPr>
                    <a:lstStyle/>
                    <a:p>
                      <a:pPr>
                        <a:defRPr sz="1000" b="0">
                          <a:solidFill>
                            <a:srgbClr val="222222"/>
                          </a:solidFill>
                        </a:defRPr>
                      </a:pPr>
                      <a:r>
                        <a:t>Legal entity rationalisation plan approved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DA291C"/>
                          </a:solidFill>
                        </a:defRPr>
                      </a:pPr>
                      <a:r>
                        <a:t>at_risk</a:t>
                      </a:r>
                    </a:p>
                  </a:txBody>
                  <a:tcPr marL="54864" marR="54864" marT="18288" marB="18288">
                    <a:solidFill>
                      <a:srgbClr val="FFFFFF"/>
                    </a:solidFill>
                  </a:tcPr>
                </a:tc>
              </a:tr>
              <a:tr h="459232">
                <a:tc>
                  <a:txBody>
                    <a:bodyPr wrap="square">
                      <a:normAutofit/>
                    </a:bodyPr>
                    <a:lstStyle/>
                    <a:p>
                      <a:pPr>
                        <a:defRPr sz="1000" b="0">
                          <a:solidFill>
                            <a:srgbClr val="222222"/>
                          </a:solidFill>
                        </a:defRPr>
                      </a:pPr>
                      <a:r>
                        <a:t>ERP consolidation blueprint signed off</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DA291C"/>
                          </a:solidFill>
                        </a:defRPr>
                      </a:pPr>
                      <a:r>
                        <a:t>at_risk</a:t>
                      </a:r>
                    </a:p>
                  </a:txBody>
                  <a:tcPr marL="54864" marR="54864" marT="18288" marB="18288">
                    <a:solidFill>
                      <a:srgbClr val="E6E6E6"/>
                    </a:solidFill>
                  </a:tcPr>
                </a:tc>
              </a:tr>
              <a:tr h="459232">
                <a:tc>
                  <a:txBody>
                    <a:bodyPr wrap="square">
                      <a:normAutofit/>
                    </a:bodyPr>
                    <a:lstStyle/>
                    <a:p>
                      <a:pPr>
                        <a:defRPr sz="1000" b="0">
                          <a:solidFill>
                            <a:srgbClr val="222222"/>
                          </a:solidFill>
                        </a:defRPr>
                      </a:pPr>
                      <a:r>
                        <a:t>Harmonised sales compensation plan communicated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DA291C"/>
                          </a:solidFill>
                        </a:defRPr>
                      </a:pPr>
                      <a:r>
                        <a:t>at_risk</a:t>
                      </a:r>
                    </a:p>
                  </a:txBody>
                  <a:tcPr marL="54864" marR="54864" marT="18288" marB="18288">
                    <a:solidFill>
                      <a:srgbClr val="FFFFFF"/>
                    </a:solidFill>
                  </a:tcPr>
                </a:tc>
              </a:tr>
              <a:tr h="459232">
                <a:tc>
                  <a:txBody>
                    <a:bodyPr wrap="square">
                      <a:normAutofit/>
                    </a:bodyPr>
                    <a:lstStyle/>
                    <a:p>
                      <a:pPr>
                        <a:defRPr sz="1000" b="0">
                          <a:solidFill>
                            <a:srgbClr val="222222"/>
                          </a:solidFill>
                        </a:defRPr>
                      </a:pPr>
                      <a:r>
                        <a:t>Works council consultation DACH concluded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DA291C"/>
                          </a:solidFill>
                        </a:defRPr>
                      </a:pPr>
                      <a:r>
                        <a:t>at_risk</a:t>
                      </a:r>
                    </a:p>
                  </a:txBody>
                  <a:tcPr marL="54864" marR="54864" marT="18288" marB="18288">
                    <a:solidFill>
                      <a:srgbClr val="E6E6E6"/>
                    </a:solidFill>
                  </a:tcPr>
                </a:tc>
              </a:tr>
            </a:tbl>
          </a:graphicData>
        </a:graphic>
      </p:graphicFrame>
      <p:sp>
        <p:nvSpPr>
          <p:cNvPr id="5" name="pmi:caption"/>
          <p:cNvSpPr txBox="1"/>
          <p:nvPr/>
        </p:nvSpPr>
        <p:spPr>
          <a:xfrm>
            <a:off x="469900" y="5815584"/>
            <a:ext cx="11274552" cy="219456"/>
          </a:xfrm>
          <a:prstGeom prst="rect">
            <a:avLst/>
          </a:prstGeom>
          <a:noFill/>
        </p:spPr>
        <p:txBody>
          <a:bodyPr wrap="square">
            <a:normAutofit/>
          </a:bodyPr>
          <a:lstStyle/>
          <a:p>
            <a:pPr>
              <a:defRPr sz="900" b="0" i="1">
                <a:solidFill>
                  <a:srgbClr val="75787B"/>
                </a:solidFill>
              </a:defRPr>
            </a:pPr>
            <a:r>
              <a:t>Showing 8 of 12 rows.</a:t>
            </a:r>
          </a:p>
        </p:txBody>
      </p:sp>
      <p:sp>
        <p:nvSpPr>
          <p:cNvPr id="6"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DellEMC_VCIO_Integration_Tracker_W3_2016-09-29.xlsx (sheet 'Meilensteine'!A8:K8); DellEMC_VCIO_Weekly_Highlight_Report_W3_2016-09-30.docx (table 3); DellEMC_VCIO_Integration_Roadmap_Day1_to_Day100_2016-09-16.pptx (slide 3); DellEMC_VCIO_SteerCo_Update_Session02_2016-09-29.pptx (slide 4).</a:t>
            </a:r>
          </a:p>
        </p:txBody>
      </p:sp>
      <p:sp>
        <p:nvSpPr>
          <p:cNvPr id="7"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eval-with_errors_Z_1_40f42e80  |  Steering Committee</a:t>
            </a:r>
          </a:p>
        </p:txBody>
      </p:sp>
      <p:sp>
        <p:nvSpPr>
          <p:cNvPr id="8"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3" sz="quarter"/>
          </p:nvPr>
        </p:nvSpPr>
        <p:spPr/>
        <p:txBody>
          <a:bodyPr wrap="square">
            <a:normAutofit/>
          </a:bodyPr>
          <a:lstStyle/>
          <a:p>
            <a:r>
              <a:t>4 critical risk(s) are open and mitigated</a:t>
            </a:r>
          </a:p>
        </p:txBody>
      </p:sp>
      <p:sp>
        <p:nvSpPr>
          <p:cNvPr id="5" name="Title 4"/>
          <p:cNvSpPr>
            <a:spLocks noGrp="1"/>
          </p:cNvSpPr>
          <p:nvPr>
            <p:ph type="title"/>
          </p:nvPr>
        </p:nvSpPr>
        <p:spPr/>
        <p:txBody>
          <a:bodyPr wrap="square">
            <a:normAutofit/>
          </a:bodyPr>
          <a:lstStyle/>
          <a:p>
            <a:r>
              <a:t>Critical Risks and Issues</a:t>
            </a:r>
          </a:p>
        </p:txBody>
      </p:sp>
      <p:graphicFrame>
        <p:nvGraphicFramePr>
          <p:cNvPr id="6" name="Chart 5"/>
          <p:cNvGraphicFramePr>
            <a:graphicFrameLocks noGrp="1"/>
          </p:cNvGraphicFramePr>
          <p:nvPr/>
        </p:nvGraphicFramePr>
        <p:xfrm>
          <a:off x="469900" y="1682496"/>
          <a:ext cx="5486400" cy="4389120"/>
        </p:xfrm>
        <a:graphic>
          <a:graphicData uri="http://schemas.openxmlformats.org/drawingml/2006/chart">
            <c:chart xmlns:c="http://schemas.openxmlformats.org/drawingml/2006/chart" r:id="rId2"/>
          </a:graphicData>
        </a:graphic>
      </p:graphicFrame>
      <p:sp>
        <p:nvSpPr>
          <p:cNvPr id="7"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DellEMC_VCIO_RACI_Matrix_Integration_Hub_2016-09-23.html (table 2); DellEMC_VCIO_RAID_Log_W3_2016-09-29.xlsx (sheet 'Issues'!A8:L8); DellEMC_VCIO_SteerCo_Minutes_Session01_signed_2016-09-22.pdf (page 2); DellEMC_VCIO_RAID_Log_W3_2016-09-29.xlsx (sheet 'Risks'!A8:M8); and 6 more.</a:t>
            </a:r>
          </a:p>
        </p:txBody>
      </p:sp>
      <p:sp>
        <p:nvSpPr>
          <p:cNvPr id="8"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eval-with_errors_Z_1_40f42e80  |  Steering Committee</a:t>
            </a:r>
          </a:p>
        </p:txBody>
      </p:sp>
      <p:sp>
        <p:nvSpPr>
          <p:cNvPr id="9"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3" sz="quarter"/>
          </p:nvPr>
        </p:nvSpPr>
        <p:spPr/>
        <p:txBody>
          <a:bodyPr wrap="square">
            <a:normAutofit/>
          </a:bodyPr>
          <a:lstStyle/>
          <a:p>
            <a:r>
              <a:t>Integration spend is within budget</a:t>
            </a:r>
          </a:p>
        </p:txBody>
      </p:sp>
      <p:sp>
        <p:nvSpPr>
          <p:cNvPr id="5" name="Title 4"/>
          <p:cNvSpPr>
            <a:spLocks noGrp="1"/>
          </p:cNvSpPr>
          <p:nvPr>
            <p:ph type="title"/>
          </p:nvPr>
        </p:nvSpPr>
        <p:spPr/>
        <p:txBody>
          <a:bodyPr wrap="square">
            <a:normAutofit/>
          </a:bodyPr>
          <a:lstStyle/>
          <a:p>
            <a:r>
              <a:t>Financial Status: synergies and budget</a:t>
            </a:r>
          </a:p>
        </p:txBody>
      </p:sp>
      <p:graphicFrame>
        <p:nvGraphicFramePr>
          <p:cNvPr id="6" name="Chart 5"/>
          <p:cNvGraphicFramePr>
            <a:graphicFrameLocks noGrp="1"/>
          </p:cNvGraphicFramePr>
          <p:nvPr/>
        </p:nvGraphicFramePr>
        <p:xfrm>
          <a:off x="469900" y="1682496"/>
          <a:ext cx="5486400" cy="4389120"/>
        </p:xfrm>
        <a:graphic>
          <a:graphicData uri="http://schemas.openxmlformats.org/drawingml/2006/chart">
            <c:chart xmlns:c="http://schemas.openxmlformats.org/drawingml/2006/chart" r:id="rId2"/>
          </a:graphicData>
        </a:graphic>
      </p:graphicFrame>
      <p:sp>
        <p:nvSpPr>
          <p:cNvPr id="7"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DellEMC_VCIO_Synergy_Tracker_W3_2016-09-28.xlsx (sheet 'Cost to Achieve'!A15:I15); DellEMC_VCIO_Synergy_Baseline_SignOff_2016-09-02.pdf (page 1); DellEMC_VCIO_Synergy_Tracker_W3_2016-09-28.xlsx (sheet 'Baseline'!A7:G7); DellEMC_VCIO_Synergy_Tracker_W3_2016-09-28.xlsx (sheet 'Baseline'!A12:G12); and 4 more.</a:t>
            </a:r>
          </a:p>
        </p:txBody>
      </p:sp>
      <p:sp>
        <p:nvSpPr>
          <p:cNvPr id="8"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eval-with_errors_Z_1_40f42e80  |  Steering Committee</a:t>
            </a:r>
          </a:p>
        </p:txBody>
      </p:sp>
      <p:sp>
        <p:nvSpPr>
          <p:cNvPr id="9"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wrap="square">
            <a:normAutofit/>
          </a:bodyPr>
          <a:lstStyle/>
          <a:p>
            <a:r>
              <a:t>Decisions Required</a:t>
            </a:r>
          </a:p>
        </p:txBody>
      </p:sp>
      <p:graphicFrame>
        <p:nvGraphicFramePr>
          <p:cNvPr id="4" name="pmi:table:decisions-required.table1-table"/>
          <p:cNvGraphicFramePr>
            <a:graphicFrameLocks noGrp="1"/>
          </p:cNvGraphicFramePr>
          <p:nvPr/>
        </p:nvGraphicFramePr>
        <p:xfrm>
          <a:off x="469900" y="1682496"/>
          <a:ext cx="11274552" cy="4133088"/>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459232">
                <a:tc>
                  <a:txBody>
                    <a:bodyPr wrap="square">
                      <a:normAutofit/>
                    </a:bodyPr>
                    <a:lstStyle/>
                    <a:p>
                      <a:pPr>
                        <a:defRPr sz="1000" b="1">
                          <a:solidFill>
                            <a:srgbClr val="FFFFFF"/>
                          </a:solidFill>
                        </a:defRPr>
                      </a:pPr>
                      <a:r>
                        <a:t>Decision</a:t>
                      </a:r>
                    </a:p>
                  </a:txBody>
                  <a:tcPr marL="54864" marR="54864" marT="18288" marB="18288">
                    <a:solidFill>
                      <a:srgbClr val="046A38"/>
                    </a:solidFill>
                  </a:tcPr>
                </a:tc>
                <a:tc>
                  <a:txBody>
                    <a:bodyPr wrap="square">
                      <a:normAutofit/>
                    </a:bodyPr>
                    <a:lstStyle/>
                    <a:p>
                      <a:pPr>
                        <a:defRPr sz="1000" b="1">
                          <a:solidFill>
                            <a:srgbClr val="FFFFFF"/>
                          </a:solidFill>
                        </a:defRPr>
                      </a:pPr>
                      <a:r>
                        <a:t>Body</a:t>
                      </a:r>
                    </a:p>
                  </a:txBody>
                  <a:tcPr marL="54864" marR="54864" marT="18288" marB="18288">
                    <a:solidFill>
                      <a:srgbClr val="046A38"/>
                    </a:solidFill>
                  </a:tcPr>
                </a:tc>
                <a:tc>
                  <a:txBody>
                    <a:bodyPr wrap="square">
                      <a:normAutofit/>
                    </a:bodyPr>
                    <a:lstStyle/>
                    <a:p>
                      <a:pPr>
                        <a:defRPr sz="1000" b="1">
                          <a:solidFill>
                            <a:srgbClr val="FFFFFF"/>
                          </a:solidFill>
                        </a:defRPr>
                      </a:pPr>
                      <a:r>
                        <a:t>Owner</a:t>
                      </a:r>
                    </a:p>
                  </a:txBody>
                  <a:tcPr marL="54864" marR="54864" marT="18288" marB="18288">
                    <a:solidFill>
                      <a:srgbClr val="046A38"/>
                    </a:solidFill>
                  </a:tcPr>
                </a:tc>
                <a:tc>
                  <a:txBody>
                    <a:bodyPr wrap="square">
                      <a:normAutofit/>
                    </a:bodyPr>
                    <a:lstStyle/>
                    <a:p>
                      <a:pPr>
                        <a:defRPr sz="1000" b="1">
                          <a:solidFill>
                            <a:srgbClr val="FFFFFF"/>
                          </a:solidFill>
                        </a:defRPr>
                      </a:pPr>
                      <a:r>
                        <a:t>Needed by</a:t>
                      </a:r>
                    </a:p>
                  </a:txBody>
                  <a:tcPr marL="54864" marR="54864" marT="18288" marB="18288">
                    <a:solidFill>
                      <a:srgbClr val="046A38"/>
                    </a:solidFill>
                  </a:tcPr>
                </a:tc>
                <a:tc>
                  <a:txBody>
                    <a:bodyPr wrap="square">
                      <a:normAutofit/>
                    </a:bodyPr>
                    <a:lstStyle/>
                    <a:p>
                      <a:pPr>
                        <a:defRPr sz="1000" b="1">
                          <a:solidFill>
                            <a:srgbClr val="FFFFFF"/>
                          </a:solidFill>
                        </a:defRPr>
                      </a:pPr>
                      <a:r>
                        <a:t>Recommendation</a:t>
                      </a:r>
                    </a:p>
                  </a:txBody>
                  <a:tcPr marL="54864" marR="54864" marT="18288" marB="18288">
                    <a:solidFill>
                      <a:srgbClr val="046A38"/>
                    </a:solidFill>
                  </a:tcPr>
                </a:tc>
              </a:tr>
              <a:tr h="459232">
                <a:tc>
                  <a:txBody>
                    <a:bodyPr wrap="square">
                      <a:normAutofit/>
                    </a:bodyPr>
                    <a:lstStyle/>
                    <a:p>
                      <a:pPr>
                        <a:defRPr sz="1000" b="0">
                          <a:solidFill>
                            <a:srgbClr val="222222"/>
                          </a:solidFill>
                        </a:defRPr>
                      </a:pPr>
                      <a:r>
                        <a:t>Mandate the integration tracker as the single source of truth for tasks, milestones and dates</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c>
                  <a:txBody>
                    <a:bodyPr wrap="square">
                      <a:normAutofit/>
                    </a:bodyPr>
                    <a:lstStyle/>
                    <a:p>
                      <a:pPr>
                        <a:defRPr sz="1000" b="0">
                          <a:solidFill>
                            <a:srgbClr val="222222"/>
                          </a:solidFill>
                        </a:defRPr>
                      </a:pPr>
                      <a:r>
                        <a:t>S. Lindqvist</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r>
              <a:tr h="459232">
                <a:tc>
                  <a:txBody>
                    <a:bodyPr wrap="square">
                      <a:normAutofit/>
                    </a:bodyPr>
                    <a:lstStyle/>
                    <a:p>
                      <a:pPr>
                        <a:defRPr sz="1000" b="0">
                          <a:solidFill>
                            <a:srgbClr val="222222"/>
                          </a:solidFill>
                        </a:defRPr>
                      </a:pPr>
                      <a:r>
                        <a:t>Mandate the integration tracker as the single source of truth for tasks, m</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c>
                  <a:txBody>
                    <a:bodyPr wrap="square">
                      <a:normAutofit/>
                    </a:bodyPr>
                    <a:lstStyle/>
                    <a:p>
                      <a:pPr>
                        <a:defRPr sz="1000" b="0">
                          <a:solidFill>
                            <a:srgbClr val="DA291C"/>
                          </a:solidFill>
                        </a:defRPr>
                      </a:pPr>
                      <a:r>
                        <a:t>⚠ NO OWNER</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r>
              <a:tr h="459232">
                <a:tc>
                  <a:txBody>
                    <a:bodyPr wrap="square">
                      <a:normAutofit/>
                    </a:bodyPr>
                    <a:lstStyle/>
                    <a:p>
                      <a:pPr>
                        <a:defRPr sz="1000" b="0">
                          <a:solidFill>
                            <a:srgbClr val="222222"/>
                          </a:solidFill>
                        </a:defRPr>
                      </a:pPr>
                      <a:r>
                        <a:t>Confirm the works council consultation timetable in writing</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c>
                  <a:txBody>
                    <a:bodyPr wrap="square">
                      <a:normAutofit/>
                    </a:bodyPr>
                    <a:lstStyle/>
                    <a:p>
                      <a:pPr>
                        <a:defRPr sz="1000" b="0">
                          <a:solidFill>
                            <a:srgbClr val="222222"/>
                          </a:solidFill>
                        </a:defRPr>
                      </a:pPr>
                      <a:r>
                        <a:t>W. Kempowski</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r>
              <a:tr h="459232">
                <a:tc>
                  <a:txBody>
                    <a:bodyPr wrap="square">
                      <a:normAutofit/>
                    </a:bodyPr>
                    <a:lstStyle/>
                    <a:p>
                      <a:pPr>
                        <a:defRPr sz="1000" b="0">
                          <a:solidFill>
                            <a:srgbClr val="222222"/>
                          </a:solidFill>
                        </a:defRPr>
                      </a:pPr>
                      <a:r>
                        <a:t>Exclude co-determined units from the first organisation announcement</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c>
                  <a:txBody>
                    <a:bodyPr wrap="square">
                      <a:normAutofit/>
                    </a:bodyPr>
                    <a:lstStyle/>
                    <a:p>
                      <a:pPr>
                        <a:defRPr sz="1000" b="0">
                          <a:solidFill>
                            <a:srgbClr val="DA291C"/>
                          </a:solidFill>
                        </a:defRPr>
                      </a:pPr>
                      <a:r>
                        <a:t>⚠ NO OWNER</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r>
              <a:tr h="459232">
                <a:tc>
                  <a:txBody>
                    <a:bodyPr wrap="square">
                      <a:normAutofit/>
                    </a:bodyPr>
                    <a:lstStyle/>
                    <a:p>
                      <a:pPr>
                        <a:defRPr sz="1000" b="0">
                          <a:solidFill>
                            <a:srgbClr val="222222"/>
                          </a:solidFill>
                        </a:defRPr>
                      </a:pPr>
                      <a:r>
                        <a:t>Report the ERP blueprint recovery plan with a dated forecast</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c>
                  <a:txBody>
                    <a:bodyPr wrap="square">
                      <a:normAutofit/>
                    </a:bodyPr>
                    <a:lstStyle/>
                    <a:p>
                      <a:pPr>
                        <a:defRPr sz="1000" b="0">
                          <a:solidFill>
                            <a:srgbClr val="222222"/>
                          </a:solidFill>
                        </a:defRPr>
                      </a:pPr>
                      <a:r>
                        <a:t>T. Bergström</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r>
              <a:tr h="459232">
                <a:tc>
                  <a:txBody>
                    <a:bodyPr wrap="square">
                      <a:normAutofit/>
                    </a:bodyPr>
                    <a:lstStyle/>
                    <a:p>
                      <a:pPr>
                        <a:defRPr sz="1000" b="0">
                          <a:solidFill>
                            <a:srgbClr val="222222"/>
                          </a:solidFill>
                        </a:defRPr>
                      </a:pPr>
                      <a:r>
                        <a:t>Circulate the refreshed cross-workstream dependency map to all leads</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c>
                  <a:txBody>
                    <a:bodyPr wrap="square">
                      <a:normAutofit/>
                    </a:bodyPr>
                    <a:lstStyle/>
                    <a:p>
                      <a:pPr>
                        <a:defRPr sz="1000" b="0">
                          <a:solidFill>
                            <a:srgbClr val="222222"/>
                          </a:solidFill>
                        </a:defRPr>
                      </a:pPr>
                      <a:r>
                        <a:t>D. Okonjo</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r>
              <a:tr h="459232">
                <a:tc>
                  <a:txBody>
                    <a:bodyPr wrap="square">
                      <a:normAutofit/>
                    </a:bodyPr>
                    <a:lstStyle/>
                    <a:p>
                      <a:pPr>
                        <a:defRPr sz="1000" b="0">
                          <a:solidFill>
                            <a:srgbClr val="222222"/>
                          </a:solidFill>
                        </a:defRPr>
                      </a:pPr>
                      <a:r>
                        <a:t>Count only Finance-validated initiatives towards secured synergy</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c>
                  <a:txBody>
                    <a:bodyPr wrap="square">
                      <a:normAutofit/>
                    </a:bodyPr>
                    <a:lstStyle/>
                    <a:p>
                      <a:pPr>
                        <a:defRPr sz="1000" b="0">
                          <a:solidFill>
                            <a:srgbClr val="222222"/>
                          </a:solidFill>
                        </a:defRPr>
                      </a:pPr>
                      <a:r>
                        <a:t>M. Haddad</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r>
              <a:tr h="459232">
                <a:tc>
                  <a:txBody>
                    <a:bodyPr wrap="square">
                      <a:normAutofit/>
                    </a:bodyPr>
                    <a:lstStyle/>
                    <a:p>
                      <a:pPr>
                        <a:defRPr sz="1000" b="0">
                          <a:solidFill>
                            <a:srgbClr val="222222"/>
                          </a:solidFill>
                        </a:defRPr>
                      </a:pPr>
                      <a:r>
                        <a:t>Adopt the value prioritisation framework as the single basis for sequencing integration work</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c>
                  <a:txBody>
                    <a:bodyPr wrap="square">
                      <a:normAutofit/>
                    </a:bodyPr>
                    <a:lstStyle/>
                    <a:p>
                      <a:pPr>
                        <a:defRPr sz="1000" b="0">
                          <a:solidFill>
                            <a:srgbClr val="222222"/>
                          </a:solidFill>
                        </a:defRPr>
                      </a:pPr>
                      <a:r>
                        <a:t>A. Vasquez</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r>
            </a:tbl>
          </a:graphicData>
        </a:graphic>
      </p:graphicFrame>
      <p:sp>
        <p:nvSpPr>
          <p:cNvPr id="5" name="pmi:caption"/>
          <p:cNvSpPr txBox="1"/>
          <p:nvPr/>
        </p:nvSpPr>
        <p:spPr>
          <a:xfrm>
            <a:off x="469900" y="5815584"/>
            <a:ext cx="11274552" cy="219456"/>
          </a:xfrm>
          <a:prstGeom prst="rect">
            <a:avLst/>
          </a:prstGeom>
          <a:noFill/>
        </p:spPr>
        <p:txBody>
          <a:bodyPr wrap="square">
            <a:normAutofit/>
          </a:bodyPr>
          <a:lstStyle/>
          <a:p>
            <a:pPr>
              <a:defRPr sz="900" b="0" i="1">
                <a:solidFill>
                  <a:srgbClr val="75787B"/>
                </a:solidFill>
              </a:defRPr>
            </a:pPr>
            <a:r>
              <a:t>Showing 8 of 12 rows.</a:t>
            </a:r>
          </a:p>
        </p:txBody>
      </p:sp>
      <p:sp>
        <p:nvSpPr>
          <p:cNvPr id="6"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DellEMC_VCIO_SteerCo_Minutes_Session01_signed_2016-09-22.pdf (page 2); DellEMC_VCIO_Weekly_Highlight_Report_W3_2016-09-30.docx (table 6); DellEMC_VCIO_SteerCo_Update_Session02_2016-09-29.pptx (slide 7); DellEMC_VCIO_RACI_Matrix_Integration_Hub_2016-09-23.html (table 11).</a:t>
            </a:r>
          </a:p>
        </p:txBody>
      </p:sp>
      <p:sp>
        <p:nvSpPr>
          <p:cNvPr id="7"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eval-with_errors_Z_1_40f42e80  |  Steering Committee</a:t>
            </a:r>
          </a:p>
        </p:txBody>
      </p:sp>
      <p:sp>
        <p:nvSpPr>
          <p:cNvPr id="8"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wrap="square">
            <a:normAutofit/>
          </a:bodyPr>
          <a:lstStyle/>
          <a:p>
            <a:r>
              <a:t>Recommended Next Steps</a:t>
            </a:r>
          </a:p>
        </p:txBody>
      </p:sp>
      <p:graphicFrame>
        <p:nvGraphicFramePr>
          <p:cNvPr id="4" name="pmi:table:recommended-next-steps.table1-table"/>
          <p:cNvGraphicFramePr>
            <a:graphicFrameLocks noGrp="1"/>
          </p:cNvGraphicFramePr>
          <p:nvPr/>
        </p:nvGraphicFramePr>
        <p:xfrm>
          <a:off x="469900" y="1682496"/>
          <a:ext cx="11274552" cy="4133088"/>
        </p:xfrm>
        <a:graphic>
          <a:graphicData uri="http://schemas.openxmlformats.org/drawingml/2006/table">
            <a:tbl>
              <a:tblPr firstRow="1" bandRow="1">
                <a:tableStyleId>{5C22544A-7EE6-4342-B048-85BDC9FD1C3A}</a:tableStyleId>
              </a:tblPr>
              <a:tblGrid>
                <a:gridCol w="2818638"/>
                <a:gridCol w="2818638"/>
                <a:gridCol w="2818638"/>
                <a:gridCol w="2818638"/>
              </a:tblGrid>
              <a:tr h="459232">
                <a:tc>
                  <a:txBody>
                    <a:bodyPr wrap="square">
                      <a:normAutofit/>
                    </a:bodyPr>
                    <a:lstStyle/>
                    <a:p>
                      <a:pPr>
                        <a:defRPr sz="1000" b="1">
                          <a:solidFill>
                            <a:srgbClr val="FFFFFF"/>
                          </a:solidFill>
                        </a:defRPr>
                      </a:pPr>
                      <a:r>
                        <a:t>Item</a:t>
                      </a:r>
                    </a:p>
                  </a:txBody>
                  <a:tcPr marL="54864" marR="54864" marT="18288" marB="18288">
                    <a:solidFill>
                      <a:srgbClr val="046A38"/>
                    </a:solidFill>
                  </a:tcPr>
                </a:tc>
                <a:tc>
                  <a:txBody>
                    <a:bodyPr wrap="square">
                      <a:normAutofit/>
                    </a:bodyPr>
                    <a:lstStyle/>
                    <a:p>
                      <a:pPr>
                        <a:defRPr sz="1000" b="1">
                          <a:solidFill>
                            <a:srgbClr val="FFFFFF"/>
                          </a:solidFill>
                        </a:defRPr>
                      </a:pPr>
                      <a:r>
                        <a:t>What it says</a:t>
                      </a:r>
                    </a:p>
                  </a:txBody>
                  <a:tcPr marL="54864" marR="54864" marT="18288" marB="18288">
                    <a:solidFill>
                      <a:srgbClr val="046A38"/>
                    </a:solidFill>
                  </a:tcPr>
                </a:tc>
                <a:tc>
                  <a:txBody>
                    <a:bodyPr wrap="square">
                      <a:normAutofit/>
                    </a:bodyPr>
                    <a:lstStyle/>
                    <a:p>
                      <a:pPr>
                        <a:defRPr sz="1000" b="1">
                          <a:solidFill>
                            <a:srgbClr val="FFFFFF"/>
                          </a:solidFill>
                        </a:defRPr>
                      </a:pPr>
                      <a:r>
                        <a:t>Value</a:t>
                      </a:r>
                    </a:p>
                  </a:txBody>
                  <a:tcPr marL="54864" marR="54864" marT="18288" marB="18288">
                    <a:solidFill>
                      <a:srgbClr val="046A38"/>
                    </a:solidFill>
                  </a:tcPr>
                </a:tc>
                <a:tc>
                  <a:txBody>
                    <a:bodyPr wrap="square">
                      <a:normAutofit/>
                    </a:bodyPr>
                    <a:lstStyle/>
                    <a:p>
                      <a:pPr>
                        <a:defRPr sz="1000" b="1">
                          <a:solidFill>
                            <a:srgbClr val="FFFFFF"/>
                          </a:solidFill>
                        </a:defRPr>
                      </a:pPr>
                      <a:r>
                        <a:t>Source</a:t>
                      </a:r>
                    </a:p>
                  </a:txBody>
                  <a:tcPr marL="54864" marR="54864" marT="18288" marB="18288">
                    <a:solidFill>
                      <a:srgbClr val="046A38"/>
                    </a:solidFill>
                  </a:tcPr>
                </a:tc>
              </a:tr>
              <a:tr h="459232">
                <a:tc>
                  <a:txBody>
                    <a:bodyPr wrap="square">
                      <a:normAutofit/>
                    </a:bodyPr>
                    <a:lstStyle/>
                    <a:p>
                      <a:pPr>
                        <a:defRPr sz="1000" b="1">
                          <a:solidFill>
                            <a:srgbClr val="222222"/>
                          </a:solidFill>
                        </a:defRPr>
                      </a:pPr>
                      <a:r>
                        <a:t>R-04</a:t>
                      </a:r>
                    </a:p>
                  </a:txBody>
                  <a:tcPr marL="54864" marR="54864" marT="18288" marB="18288">
                    <a:solidFill>
                      <a:srgbClr val="FFFFFF"/>
                    </a:solidFill>
                  </a:tcPr>
                </a:tc>
                <a:tc>
                  <a:txBody>
                    <a:bodyPr wrap="square">
                      <a:normAutofit/>
                    </a:bodyPr>
                    <a:lstStyle/>
                    <a:p>
                      <a:pPr>
                        <a:defRPr sz="1000" b="1">
                          <a:solidFill>
                            <a:srgbClr val="222222"/>
                          </a:solidFill>
                        </a:defRPr>
                      </a:pPr>
                      <a:r>
                        <a:t>Risk 'R-04' is in_progress, scored 15. Owned by J. Adeyemi. Mitigation: Confirm retention packages for named…</a:t>
                      </a:r>
                    </a:p>
                  </a:txBody>
                  <a:tcPr marL="54864" marR="54864" marT="18288" marB="18288">
                    <a:solidFill>
                      <a:srgbClr val="FFFFFF"/>
                    </a:solidFill>
                  </a:tcPr>
                </a:tc>
                <a:tc>
                  <a:txBody>
                    <a:bodyPr wrap="square">
                      <a:normAutofit/>
                    </a:bodyPr>
                    <a:lstStyle/>
                    <a:p>
                      <a:pPr>
                        <a:defRPr sz="1000" b="1">
                          <a:solidFill>
                            <a:srgbClr val="222222"/>
                          </a:solidFill>
                        </a:defRPr>
                      </a:pPr>
                      <a:r>
                        <a:t>15</a:t>
                      </a:r>
                    </a:p>
                  </a:txBody>
                  <a:tcPr marL="54864" marR="54864" marT="18288" marB="18288">
                    <a:solidFill>
                      <a:srgbClr val="FFFFFF"/>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FFFFFF"/>
                    </a:solidFill>
                  </a:tcPr>
                </a:tc>
              </a:tr>
              <a:tr h="459232">
                <a:tc>
                  <a:txBody>
                    <a:bodyPr wrap="square">
                      <a:normAutofit/>
                    </a:bodyPr>
                    <a:lstStyle/>
                    <a:p>
                      <a:pPr>
                        <a:defRPr sz="1000" b="1">
                          <a:solidFill>
                            <a:srgbClr val="222222"/>
                          </a:solidFill>
                        </a:defRPr>
                      </a:pPr>
                      <a:r>
                        <a:t>Debt service constrains discretionary integration spend below the level the plan assumes</a:t>
                      </a:r>
                    </a:p>
                  </a:txBody>
                  <a:tcPr marL="54864" marR="54864" marT="18288" marB="18288">
                    <a:solidFill>
                      <a:srgbClr val="E6E6E6"/>
                    </a:solidFill>
                  </a:tcPr>
                </a:tc>
                <a:tc>
                  <a:txBody>
                    <a:bodyPr wrap="square">
                      <a:normAutofit/>
                    </a:bodyPr>
                    <a:lstStyle/>
                    <a:p>
                      <a:pPr>
                        <a:defRPr sz="1000" b="1">
                          <a:solidFill>
                            <a:srgbClr val="222222"/>
                          </a:solidFill>
                        </a:defRPr>
                      </a:pPr>
                      <a:r>
                        <a:t>Risk 'Debt service constrains discretionary integration spend below the level the plan assumes' has a…</a:t>
                      </a:r>
                    </a:p>
                  </a:txBody>
                  <a:tcPr marL="54864" marR="54864" marT="18288" marB="18288">
                    <a:solidFill>
                      <a:srgbClr val="E6E6E6"/>
                    </a:solidFill>
                  </a:tcPr>
                </a:tc>
                <a:tc>
                  <a:txBody>
                    <a:bodyPr wrap="square">
                      <a:normAutofit/>
                    </a:bodyPr>
                    <a:lstStyle/>
                    <a:p>
                      <a:pPr>
                        <a:defRPr sz="1000" b="1">
                          <a:solidFill>
                            <a:srgbClr val="75787B"/>
                          </a:solidFill>
                        </a:defRPr>
                      </a:pPr>
                      <a:r>
                        <a:t>Not Reported</a:t>
                      </a:r>
                    </a:p>
                  </a:txBody>
                  <a:tcPr marL="54864" marR="54864" marT="18288" marB="18288">
                    <a:solidFill>
                      <a:srgbClr val="E6E6E6"/>
                    </a:solidFill>
                  </a:tcPr>
                </a:tc>
                <a:tc>
                  <a:txBody>
                    <a:bodyPr wrap="square">
                      <a:normAutofit/>
                    </a:bodyPr>
                    <a:lstStyle/>
                    <a:p>
                      <a:pPr>
                        <a:defRPr sz="1000" b="1">
                          <a:solidFill>
                            <a:srgbClr val="222222"/>
                          </a:solidFill>
                        </a:defRPr>
                      </a:pPr>
                      <a:r>
                        <a:t>DellEMC_VCIO_SteerCo_Minutes_Session01_signed_2016-09-22.pdf</a:t>
                      </a:r>
                    </a:p>
                  </a:txBody>
                  <a:tcPr marL="54864" marR="54864" marT="18288" marB="18288">
                    <a:solidFill>
                      <a:srgbClr val="E6E6E6"/>
                    </a:solidFill>
                  </a:tcPr>
                </a:tc>
              </a:tr>
              <a:tr h="459232">
                <a:tc>
                  <a:txBody>
                    <a:bodyPr wrap="square">
                      <a:normAutofit/>
                    </a:bodyPr>
                    <a:lstStyle/>
                    <a:p>
                      <a:pPr>
                        <a:defRPr sz="1000" b="0">
                          <a:solidFill>
                            <a:srgbClr val="222222"/>
                          </a:solidFill>
                        </a:defRPr>
                      </a:pPr>
                      <a:r>
                        <a:t>Key talent attrition in the combined field organisation before the coverage model is in force</a:t>
                      </a:r>
                    </a:p>
                  </a:txBody>
                  <a:tcPr marL="54864" marR="54864" marT="18288" marB="18288">
                    <a:solidFill>
                      <a:srgbClr val="FFFFFF"/>
                    </a:solidFill>
                  </a:tcPr>
                </a:tc>
                <a:tc>
                  <a:txBody>
                    <a:bodyPr wrap="square">
                      <a:normAutofit/>
                    </a:bodyPr>
                    <a:lstStyle/>
                    <a:p>
                      <a:pPr>
                        <a:defRPr sz="1000" b="0">
                          <a:solidFill>
                            <a:srgbClr val="222222"/>
                          </a:solidFill>
                        </a:defRPr>
                      </a:pPr>
                      <a:r>
                        <a:t>Risk 'Key talent attrition in the combined field organisation before the coverage model is in force' is…</a:t>
                      </a:r>
                    </a:p>
                  </a:txBody>
                  <a:tcPr marL="54864" marR="54864" marT="18288" marB="18288">
                    <a:solidFill>
                      <a:srgbClr val="FFFFFF"/>
                    </a:solidFill>
                  </a:tcPr>
                </a:tc>
                <a:tc>
                  <a:txBody>
                    <a:bodyPr wrap="square">
                      <a:normAutofit/>
                    </a:bodyPr>
                    <a:lstStyle/>
                    <a:p>
                      <a:pPr>
                        <a:defRPr sz="1000" b="0">
                          <a:solidFill>
                            <a:srgbClr val="222222"/>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DellEMC_VCIO_SteerCo_Minutes_Session01_signed_2016-09-22.pdf</a:t>
                      </a:r>
                    </a:p>
                  </a:txBody>
                  <a:tcPr marL="54864" marR="54864" marT="18288" marB="18288">
                    <a:solidFill>
                      <a:srgbClr val="FFFFFF"/>
                    </a:solidFill>
                  </a:tcPr>
                </a:tc>
              </a:tr>
              <a:tr h="459232">
                <a:tc>
                  <a:txBody>
                    <a:bodyPr wrap="square">
                      <a:normAutofit/>
                    </a:bodyPr>
                    <a:lstStyle/>
                    <a:p>
                      <a:pPr>
                        <a:defRPr sz="1000" b="1">
                          <a:solidFill>
                            <a:srgbClr val="222222"/>
                          </a:solidFill>
                        </a:defRPr>
                      </a:pPr>
                      <a:r>
                        <a:t>R-01</a:t>
                      </a:r>
                    </a:p>
                  </a:txBody>
                  <a:tcPr marL="54864" marR="54864" marT="18288" marB="18288">
                    <a:solidFill>
                      <a:srgbClr val="E6E6E6"/>
                    </a:solidFill>
                  </a:tcPr>
                </a:tc>
                <a:tc>
                  <a:txBody>
                    <a:bodyPr wrap="square">
                      <a:normAutofit/>
                    </a:bodyPr>
                    <a:lstStyle/>
                    <a:p>
                      <a:pPr>
                        <a:defRPr sz="1000" b="1">
                          <a:solidFill>
                            <a:srgbClr val="222222"/>
                          </a:solidFill>
                        </a:defRPr>
                      </a:pPr>
                      <a:r>
                        <a:t>Risk 'R-01' has a mitigation action but nobody is assigned to it.</a:t>
                      </a:r>
                    </a:p>
                  </a:txBody>
                  <a:tcPr marL="54864" marR="54864" marT="18288" marB="18288">
                    <a:solidFill>
                      <a:srgbClr val="E6E6E6"/>
                    </a:solidFill>
                  </a:tcPr>
                </a:tc>
                <a:tc>
                  <a:txBody>
                    <a:bodyPr wrap="square">
                      <a:normAutofit/>
                    </a:bodyPr>
                    <a:lstStyle/>
                    <a:p>
                      <a:pPr>
                        <a:defRPr sz="1000" b="1">
                          <a:solidFill>
                            <a:srgbClr val="75787B"/>
                          </a:solidFill>
                        </a:defRPr>
                      </a:pPr>
                      <a:r>
                        <a:t>Not Reported</a:t>
                      </a:r>
                    </a:p>
                  </a:txBody>
                  <a:tcPr marL="54864" marR="54864" marT="18288" marB="18288">
                    <a:solidFill>
                      <a:srgbClr val="E6E6E6"/>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E6E6E6"/>
                    </a:solidFill>
                  </a:tcPr>
                </a:tc>
              </a:tr>
              <a:tr h="459232">
                <a:tc>
                  <a:txBody>
                    <a:bodyPr wrap="square">
                      <a:normAutofit/>
                    </a:bodyPr>
                    <a:lstStyle/>
                    <a:p>
                      <a:pPr>
                        <a:defRPr sz="1000" b="1">
                          <a:solidFill>
                            <a:srgbClr val="222222"/>
                          </a:solidFill>
                        </a:defRPr>
                      </a:pPr>
                      <a:r>
                        <a:t>R-03</a:t>
                      </a:r>
                    </a:p>
                  </a:txBody>
                  <a:tcPr marL="54864" marR="54864" marT="18288" marB="18288">
                    <a:solidFill>
                      <a:srgbClr val="FFFFFF"/>
                    </a:solidFill>
                  </a:tcPr>
                </a:tc>
                <a:tc>
                  <a:txBody>
                    <a:bodyPr wrap="square">
                      <a:normAutofit/>
                    </a:bodyPr>
                    <a:lstStyle/>
                    <a:p>
                      <a:pPr>
                        <a:defRPr sz="1000" b="1">
                          <a:solidFill>
                            <a:srgbClr val="222222"/>
                          </a:solidFill>
                        </a:defRPr>
                      </a:pPr>
                      <a:r>
                        <a:t>Risk 'R-03' has a mitigation action but nobody is assigned to it.</a:t>
                      </a:r>
                    </a:p>
                  </a:txBody>
                  <a:tcPr marL="54864" marR="54864" marT="18288" marB="18288">
                    <a:solidFill>
                      <a:srgbClr val="FFFFFF"/>
                    </a:solidFill>
                  </a:tcPr>
                </a:tc>
                <a:tc>
                  <a:txBody>
                    <a:bodyPr wrap="square">
                      <a:normAutofit/>
                    </a:bodyPr>
                    <a:lstStyle/>
                    <a:p>
                      <a:pPr>
                        <a:defRPr sz="1000" b="1">
                          <a:solidFill>
                            <a:srgbClr val="75787B"/>
                          </a:solidFill>
                        </a:defRPr>
                      </a:pPr>
                      <a:r>
                        <a:t>Not Reported</a:t>
                      </a:r>
                    </a:p>
                  </a:txBody>
                  <a:tcPr marL="54864" marR="54864" marT="18288" marB="18288">
                    <a:solidFill>
                      <a:srgbClr val="FFFFFF"/>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FFFFFF"/>
                    </a:solidFill>
                  </a:tcPr>
                </a:tc>
              </a:tr>
              <a:tr h="459232">
                <a:tc>
                  <a:txBody>
                    <a:bodyPr wrap="square">
                      <a:normAutofit/>
                    </a:bodyPr>
                    <a:lstStyle/>
                    <a:p>
                      <a:pPr>
                        <a:defRPr sz="1000" b="1">
                          <a:solidFill>
                            <a:srgbClr val="222222"/>
                          </a:solidFill>
                        </a:defRPr>
                      </a:pPr>
                      <a:r>
                        <a:t>R-07</a:t>
                      </a:r>
                    </a:p>
                  </a:txBody>
                  <a:tcPr marL="54864" marR="54864" marT="18288" marB="18288">
                    <a:solidFill>
                      <a:srgbClr val="E6E6E6"/>
                    </a:solidFill>
                  </a:tcPr>
                </a:tc>
                <a:tc>
                  <a:txBody>
                    <a:bodyPr wrap="square">
                      <a:normAutofit/>
                    </a:bodyPr>
                    <a:lstStyle/>
                    <a:p>
                      <a:pPr>
                        <a:defRPr sz="1000" b="1">
                          <a:solidFill>
                            <a:srgbClr val="222222"/>
                          </a:solidFill>
                        </a:defRPr>
                      </a:pPr>
                      <a:r>
                        <a:t>Risk 'R-07' has a mitigation action but nobody is assigned to it.</a:t>
                      </a:r>
                    </a:p>
                  </a:txBody>
                  <a:tcPr marL="54864" marR="54864" marT="18288" marB="18288">
                    <a:solidFill>
                      <a:srgbClr val="E6E6E6"/>
                    </a:solidFill>
                  </a:tcPr>
                </a:tc>
                <a:tc>
                  <a:txBody>
                    <a:bodyPr wrap="square">
                      <a:normAutofit/>
                    </a:bodyPr>
                    <a:lstStyle/>
                    <a:p>
                      <a:pPr>
                        <a:defRPr sz="1000" b="1">
                          <a:solidFill>
                            <a:srgbClr val="75787B"/>
                          </a:solidFill>
                        </a:defRPr>
                      </a:pPr>
                      <a:r>
                        <a:t>Not Reported</a:t>
                      </a:r>
                    </a:p>
                  </a:txBody>
                  <a:tcPr marL="54864" marR="54864" marT="18288" marB="18288">
                    <a:solidFill>
                      <a:srgbClr val="E6E6E6"/>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E6E6E6"/>
                    </a:solidFill>
                  </a:tcPr>
                </a:tc>
              </a:tr>
              <a:tr h="459232">
                <a:tc>
                  <a:txBody>
                    <a:bodyPr wrap="square">
                      <a:normAutofit/>
                    </a:bodyPr>
                    <a:lstStyle/>
                    <a:p>
                      <a:pPr>
                        <a:defRPr sz="1000" b="1">
                          <a:solidFill>
                            <a:srgbClr val="222222"/>
                          </a:solidFill>
                        </a:defRPr>
                      </a:pPr>
                      <a:r>
                        <a:t>R-02</a:t>
                      </a:r>
                    </a:p>
                  </a:txBody>
                  <a:tcPr marL="54864" marR="54864" marT="18288" marB="18288">
                    <a:solidFill>
                      <a:srgbClr val="FFFFFF"/>
                    </a:solidFill>
                  </a:tcPr>
                </a:tc>
                <a:tc>
                  <a:txBody>
                    <a:bodyPr wrap="square">
                      <a:normAutofit/>
                    </a:bodyPr>
                    <a:lstStyle/>
                    <a:p>
                      <a:pPr>
                        <a:defRPr sz="1000" b="1">
                          <a:solidFill>
                            <a:srgbClr val="222222"/>
                          </a:solidFill>
                        </a:defRPr>
                      </a:pPr>
                      <a:r>
                        <a:t>Risk 'R-02' has a mitigation action but nobody is assigned to it.</a:t>
                      </a:r>
                    </a:p>
                  </a:txBody>
                  <a:tcPr marL="54864" marR="54864" marT="18288" marB="18288">
                    <a:solidFill>
                      <a:srgbClr val="FFFFFF"/>
                    </a:solidFill>
                  </a:tcPr>
                </a:tc>
                <a:tc>
                  <a:txBody>
                    <a:bodyPr wrap="square">
                      <a:normAutofit/>
                    </a:bodyPr>
                    <a:lstStyle/>
                    <a:p>
                      <a:pPr>
                        <a:defRPr sz="1000" b="1">
                          <a:solidFill>
                            <a:srgbClr val="75787B"/>
                          </a:solidFill>
                        </a:defRPr>
                      </a:pPr>
                      <a:r>
                        <a:t>Not Reported</a:t>
                      </a:r>
                    </a:p>
                  </a:txBody>
                  <a:tcPr marL="54864" marR="54864" marT="18288" marB="18288">
                    <a:solidFill>
                      <a:srgbClr val="FFFFFF"/>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FFFFFF"/>
                    </a:solidFill>
                  </a:tcPr>
                </a:tc>
              </a:tr>
              <a:tr h="459232">
                <a:tc>
                  <a:txBody>
                    <a:bodyPr wrap="square">
                      <a:normAutofit/>
                    </a:bodyPr>
                    <a:lstStyle/>
                    <a:p>
                      <a:pPr>
                        <a:defRPr sz="1000" b="1">
                          <a:solidFill>
                            <a:srgbClr val="222222"/>
                          </a:solidFill>
                        </a:defRPr>
                      </a:pPr>
                      <a:r>
                        <a:t>I-01</a:t>
                      </a:r>
                    </a:p>
                  </a:txBody>
                  <a:tcPr marL="54864" marR="54864" marT="18288" marB="18288">
                    <a:solidFill>
                      <a:srgbClr val="E6E6E6"/>
                    </a:solidFill>
                  </a:tcPr>
                </a:tc>
                <a:tc>
                  <a:txBody>
                    <a:bodyPr wrap="square">
                      <a:normAutofit/>
                    </a:bodyPr>
                    <a:lstStyle/>
                    <a:p>
                      <a:pPr>
                        <a:defRPr sz="1000" b="1">
                          <a:solidFill>
                            <a:srgbClr val="222222"/>
                          </a:solidFill>
                        </a:defRPr>
                      </a:pPr>
                      <a:r>
                        <a:t>Risk 'I-01' is rated high but has no mitigation action.</a:t>
                      </a:r>
                    </a:p>
                  </a:txBody>
                  <a:tcPr marL="54864" marR="54864" marT="18288" marB="18288">
                    <a:solidFill>
                      <a:srgbClr val="E6E6E6"/>
                    </a:solidFill>
                  </a:tcPr>
                </a:tc>
                <a:tc>
                  <a:txBody>
                    <a:bodyPr wrap="square">
                      <a:normAutofit/>
                    </a:bodyPr>
                    <a:lstStyle/>
                    <a:p>
                      <a:pPr>
                        <a:defRPr sz="1000" b="1">
                          <a:solidFill>
                            <a:srgbClr val="75787B"/>
                          </a:solidFill>
                        </a:defRPr>
                      </a:pPr>
                      <a:r>
                        <a:t>Not Reported</a:t>
                      </a:r>
                    </a:p>
                  </a:txBody>
                  <a:tcPr marL="54864" marR="54864" marT="18288" marB="18288">
                    <a:solidFill>
                      <a:srgbClr val="E6E6E6"/>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E6E6E6"/>
                    </a:solidFill>
                  </a:tcPr>
                </a:tc>
              </a:tr>
            </a:tbl>
          </a:graphicData>
        </a:graphic>
      </p:graphicFrame>
      <p:sp>
        <p:nvSpPr>
          <p:cNvPr id="5" name="pmi:caption"/>
          <p:cNvSpPr txBox="1"/>
          <p:nvPr/>
        </p:nvSpPr>
        <p:spPr>
          <a:xfrm>
            <a:off x="469900" y="5815584"/>
            <a:ext cx="11274552" cy="219456"/>
          </a:xfrm>
          <a:prstGeom prst="rect">
            <a:avLst/>
          </a:prstGeom>
          <a:noFill/>
        </p:spPr>
        <p:txBody>
          <a:bodyPr wrap="square">
            <a:normAutofit/>
          </a:bodyPr>
          <a:lstStyle/>
          <a:p>
            <a:pPr>
              <a:defRPr sz="900" b="0" i="1">
                <a:solidFill>
                  <a:srgbClr val="75787B"/>
                </a:solidFill>
              </a:defRPr>
            </a:pPr>
            <a:r>
              <a:t>Showing 8 of 12 rows.</a:t>
            </a:r>
          </a:p>
        </p:txBody>
      </p:sp>
      <p:sp>
        <p:nvSpPr>
          <p:cNvPr id="6"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DellEMC_VCIO_RAID_Log_W3_2016-09-29.xlsx (sheet 'Risks'!A8:M8); DellEMC_VCIO_SteerCo_Minutes_Session01_signed_2016-09-22.pdf (page 2); DellEMC_VCIO_RAID_Log_W3_2016-09-29.xlsx (sheet 'Risks'!A5:M5); DellEMC_VCIO_RAID_Log_W3_2016-09-29.xlsx (sheet 'Risks'!A7:M7); and 6 more.</a:t>
            </a:r>
          </a:p>
        </p:txBody>
      </p:sp>
      <p:sp>
        <p:nvSpPr>
          <p:cNvPr id="7"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eval-with_errors_Z_1_40f42e80  |  Steering Committee</a:t>
            </a:r>
          </a:p>
        </p:txBody>
      </p:sp>
      <p:sp>
        <p:nvSpPr>
          <p:cNvPr id="8"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normAutofit/>
          </a:bodyPr>
          <a:lstStyle/>
          <a:p>
            <a:r>
              <a:t>What follows qualifies everything above it.</a:t>
            </a:r>
          </a:p>
        </p:txBody>
      </p:sp>
      <p:sp>
        <p:nvSpPr>
          <p:cNvPr id="3" name="Title 2"/>
          <p:cNvSpPr>
            <a:spLocks noGrp="1"/>
          </p:cNvSpPr>
          <p:nvPr>
            <p:ph type="title"/>
          </p:nvPr>
        </p:nvSpPr>
        <p:spPr/>
        <p:txBody>
          <a:bodyPr wrap="square">
            <a:normAutofit/>
          </a:bodyPr>
          <a:lstStyle/>
          <a:p>
            <a:r>
              <a:t>Data quality and limitations</a:t>
            </a:r>
          </a:p>
        </p:txBody>
      </p:sp>
      <p:graphicFrame>
        <p:nvGraphicFramePr>
          <p:cNvPr id="4" name="pmi:table:data-quality-and-limitations.table1-table"/>
          <p:cNvGraphicFramePr>
            <a:graphicFrameLocks noGrp="1"/>
          </p:cNvGraphicFramePr>
          <p:nvPr/>
        </p:nvGraphicFramePr>
        <p:xfrm>
          <a:off x="469900" y="1682496"/>
          <a:ext cx="11274552" cy="4133088"/>
        </p:xfrm>
        <a:graphic>
          <a:graphicData uri="http://schemas.openxmlformats.org/drawingml/2006/table">
            <a:tbl>
              <a:tblPr firstRow="1" bandRow="1">
                <a:tableStyleId>{5C22544A-7EE6-4342-B048-85BDC9FD1C3A}</a:tableStyleId>
              </a:tblPr>
              <a:tblGrid>
                <a:gridCol w="2818638"/>
                <a:gridCol w="2818638"/>
                <a:gridCol w="2818638"/>
                <a:gridCol w="2818638"/>
              </a:tblGrid>
              <a:tr h="459232">
                <a:tc>
                  <a:txBody>
                    <a:bodyPr wrap="square">
                      <a:normAutofit/>
                    </a:bodyPr>
                    <a:lstStyle/>
                    <a:p>
                      <a:pPr>
                        <a:defRPr sz="1000" b="1">
                          <a:solidFill>
                            <a:srgbClr val="FFFFFF"/>
                          </a:solidFill>
                        </a:defRPr>
                      </a:pPr>
                      <a:r>
                        <a:t>Item</a:t>
                      </a:r>
                    </a:p>
                  </a:txBody>
                  <a:tcPr marL="54864" marR="54864" marT="18288" marB="18288">
                    <a:solidFill>
                      <a:srgbClr val="046A38"/>
                    </a:solidFill>
                  </a:tcPr>
                </a:tc>
                <a:tc>
                  <a:txBody>
                    <a:bodyPr wrap="square">
                      <a:normAutofit/>
                    </a:bodyPr>
                    <a:lstStyle/>
                    <a:p>
                      <a:pPr>
                        <a:defRPr sz="1000" b="1">
                          <a:solidFill>
                            <a:srgbClr val="FFFFFF"/>
                          </a:solidFill>
                        </a:defRPr>
                      </a:pPr>
                      <a:r>
                        <a:t>What it says</a:t>
                      </a:r>
                    </a:p>
                  </a:txBody>
                  <a:tcPr marL="54864" marR="54864" marT="18288" marB="18288">
                    <a:solidFill>
                      <a:srgbClr val="046A38"/>
                    </a:solidFill>
                  </a:tcPr>
                </a:tc>
                <a:tc>
                  <a:txBody>
                    <a:bodyPr wrap="square">
                      <a:normAutofit/>
                    </a:bodyPr>
                    <a:lstStyle/>
                    <a:p>
                      <a:pPr>
                        <a:defRPr sz="1000" b="1">
                          <a:solidFill>
                            <a:srgbClr val="FFFFFF"/>
                          </a:solidFill>
                        </a:defRPr>
                      </a:pPr>
                      <a:r>
                        <a:t>Value</a:t>
                      </a:r>
                    </a:p>
                  </a:txBody>
                  <a:tcPr marL="54864" marR="54864" marT="18288" marB="18288">
                    <a:solidFill>
                      <a:srgbClr val="046A38"/>
                    </a:solidFill>
                  </a:tcPr>
                </a:tc>
                <a:tc>
                  <a:txBody>
                    <a:bodyPr wrap="square">
                      <a:normAutofit/>
                    </a:bodyPr>
                    <a:lstStyle/>
                    <a:p>
                      <a:pPr>
                        <a:defRPr sz="1000" b="1">
                          <a:solidFill>
                            <a:srgbClr val="FFFFFF"/>
                          </a:solidFill>
                        </a:defRPr>
                      </a:pPr>
                      <a:r>
                        <a:t>Source</a:t>
                      </a:r>
                    </a:p>
                  </a:txBody>
                  <a:tcPr marL="54864" marR="54864" marT="18288" marB="18288">
                    <a:solidFill>
                      <a:srgbClr val="046A38"/>
                    </a:solidFill>
                  </a:tcPr>
                </a:tc>
              </a:tr>
              <a:tr h="459232">
                <a:tc>
                  <a:txBody>
                    <a:bodyPr wrap="square">
                      <a:normAutofit/>
                    </a:bodyPr>
                    <a:lstStyle/>
                    <a:p>
                      <a:pPr>
                        <a:defRPr sz="1000" b="0">
                          <a:solidFill>
                            <a:srgbClr val="222222"/>
                          </a:solidFill>
                        </a:defRPr>
                      </a:pPr>
                      <a:r>
                        <a:t>Zielsystem und Migrationspfad fuer das ERP festlegen — owner</a:t>
                      </a:r>
                    </a:p>
                  </a:txBody>
                  <a:tcPr marL="54864" marR="54864" marT="18288" marB="18288">
                    <a:solidFill>
                      <a:srgbClr val="FFFFFF"/>
                    </a:solidFill>
                  </a:tcPr>
                </a:tc>
                <a:tc>
                  <a:txBody>
                    <a:bodyPr wrap="square">
                      <a:normAutofit/>
                    </a:bodyPr>
                    <a:lstStyle/>
                    <a:p>
                      <a:pPr>
                        <a:defRPr sz="1000" b="0">
                          <a:solidFill>
                            <a:srgbClr val="222222"/>
                          </a:solidFill>
                        </a:defRPr>
                      </a:pPr>
                      <a:r>
                        <a:t>Resolved to K. Matsuda: Zielsystem und Migrationspfad fuer das ERP festlegen (owner) from…</a:t>
                      </a:r>
                    </a:p>
                  </a:txBody>
                  <a:tcPr marL="54864" marR="54864" marT="18288" marB="18288">
                    <a:solidFill>
                      <a:srgbClr val="FFFFFF"/>
                    </a:solidFill>
                  </a:tcPr>
                </a:tc>
                <a:tc>
                  <a:txBody>
                    <a:bodyPr wrap="square">
                      <a:normAutofit/>
                    </a:bodyPr>
                    <a:lstStyle/>
                    <a:p>
                      <a:pPr>
                        <a:defRPr sz="1000" b="0">
                          <a:solidFill>
                            <a:srgbClr val="222222"/>
                          </a:solidFill>
                        </a:defRPr>
                      </a:pPr>
                      <a:r>
                        <a:t>K. Matsuda</a:t>
                      </a:r>
                    </a:p>
                  </a:txBody>
                  <a:tcPr marL="54864" marR="54864" marT="18288" marB="18288">
                    <a:solidFill>
                      <a:srgbClr val="FFFFFF"/>
                    </a:solidFill>
                  </a:tcPr>
                </a:tc>
                <a:tc>
                  <a:txBody>
                    <a:bodyPr wrap="square">
                      <a:normAutofit/>
                    </a:bodyPr>
                    <a:lstStyle/>
                    <a:p>
                      <a:pPr>
                        <a:defRPr sz="1000" b="0">
                          <a:solidFill>
                            <a:srgbClr val="222222"/>
                          </a:solidFill>
                        </a:defRPr>
                      </a:pPr>
                      <a:r>
                        <a:t>DellEMC_VCIO_Integration_Tracker_W3_2016-09-29.xlsx</a:t>
                      </a:r>
                    </a:p>
                  </a:txBody>
                  <a:tcPr marL="54864" marR="54864" marT="18288" marB="18288">
                    <a:solidFill>
                      <a:srgbClr val="FFFFFF"/>
                    </a:solidFill>
                  </a:tcPr>
                </a:tc>
              </a:tr>
              <a:tr h="459232">
                <a:tc>
                  <a:txBody>
                    <a:bodyPr wrap="square">
                      <a:normAutofit/>
                    </a:bodyPr>
                    <a:lstStyle/>
                    <a:p>
                      <a:pPr>
                        <a:defRPr sz="1000" b="0">
                          <a:solidFill>
                            <a:srgbClr val="222222"/>
                          </a:solidFill>
                        </a:defRPr>
                      </a:pPr>
                      <a:r>
                        <a:t>Datenpaket zur Kaufpreisallokation erstellen</a:t>
                      </a:r>
                    </a:p>
                  </a:txBody>
                  <a:tcPr marL="54864" marR="54864" marT="18288" marB="18288">
                    <a:solidFill>
                      <a:srgbClr val="E6E6E6"/>
                    </a:solidFill>
                  </a:tcPr>
                </a:tc>
                <a:tc>
                  <a:txBody>
                    <a:bodyPr wrap="square">
                      <a:normAutofit/>
                    </a:bodyPr>
                    <a:lstStyle/>
                    <a:p>
                      <a:pPr>
                        <a:defRPr sz="1000" b="0">
                          <a:solidFill>
                            <a:srgbClr val="222222"/>
                          </a:solidFill>
                        </a:defRPr>
                      </a:pPr>
                      <a:r>
                        <a:t>Task 'Datenpaket zur Kaufpreisallokation erstellen' is marked complete but has no completion date.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DellEMC_VCIO_Integration_Tracker_W3_2016-09-29.xlsx</a:t>
                      </a:r>
                    </a:p>
                  </a:txBody>
                  <a:tcPr marL="54864" marR="54864" marT="18288" marB="18288">
                    <a:solidFill>
                      <a:srgbClr val="E6E6E6"/>
                    </a:solidFill>
                  </a:tcPr>
                </a:tc>
              </a:tr>
              <a:tr h="459232">
                <a:tc>
                  <a:txBody>
                    <a:bodyPr wrap="square">
                      <a:normAutofit/>
                    </a:bodyPr>
                    <a:lstStyle/>
                    <a:p>
                      <a:pPr>
                        <a:defRPr sz="1000" b="0">
                          <a:solidFill>
                            <a:srgbClr val="222222"/>
                          </a:solidFill>
                        </a:defRPr>
                      </a:pPr>
                      <a:r>
                        <a:t>Anwendungslandschaft beider Unternehmen vollstaendig erfassen</a:t>
                      </a:r>
                    </a:p>
                  </a:txBody>
                  <a:tcPr marL="54864" marR="54864" marT="18288" marB="18288">
                    <a:solidFill>
                      <a:srgbClr val="FFFFFF"/>
                    </a:solidFill>
                  </a:tcPr>
                </a:tc>
                <a:tc>
                  <a:txBody>
                    <a:bodyPr wrap="square">
                      <a:normAutofit/>
                    </a:bodyPr>
                    <a:lstStyle/>
                    <a:p>
                      <a:pPr>
                        <a:defRPr sz="1000" b="0">
                          <a:solidFill>
                            <a:srgbClr val="222222"/>
                          </a:solidFill>
                        </a:defRPr>
                      </a:pPr>
                      <a:r>
                        <a:t>Task 'Anwendungslandschaft beider Unternehmen vollstaendig erfassen' is marked complete but has no completion…</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DellEMC_VCIO_Integration_Tracker_W3_2016-09-29.xlsx</a:t>
                      </a:r>
                    </a:p>
                  </a:txBody>
                  <a:tcPr marL="54864" marR="54864" marT="18288" marB="18288">
                    <a:solidFill>
                      <a:srgbClr val="FFFFFF"/>
                    </a:solidFill>
                  </a:tcPr>
                </a:tc>
              </a:tr>
              <a:tr h="459232">
                <a:tc>
                  <a:txBody>
                    <a:bodyPr wrap="square">
                      <a:normAutofit/>
                    </a:bodyPr>
                    <a:lstStyle/>
                    <a:p>
                      <a:pPr>
                        <a:defRPr sz="1000" b="0">
                          <a:solidFill>
                            <a:srgbClr val="222222"/>
                          </a:solidFill>
                        </a:defRPr>
                      </a:pPr>
                      <a:r>
                        <a:t>Produktportfolio-Konkordanz veroeffentlichen</a:t>
                      </a:r>
                    </a:p>
                  </a:txBody>
                  <a:tcPr marL="54864" marR="54864" marT="18288" marB="18288">
                    <a:solidFill>
                      <a:srgbClr val="E6E6E6"/>
                    </a:solidFill>
                  </a:tcPr>
                </a:tc>
                <a:tc>
                  <a:txBody>
                    <a:bodyPr wrap="square">
                      <a:normAutofit/>
                    </a:bodyPr>
                    <a:lstStyle/>
                    <a:p>
                      <a:pPr>
                        <a:defRPr sz="1000" b="0">
                          <a:solidFill>
                            <a:srgbClr val="222222"/>
                          </a:solidFill>
                        </a:defRPr>
                      </a:pPr>
                      <a:r>
                        <a:t>Task 'Produktportfolio-Konkordanz veroeffentlichen' is marked complete but has no completion date.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DellEMC_VCIO_Integration_Tracker_W3_2016-09-29.xlsx</a:t>
                      </a:r>
                    </a:p>
                  </a:txBody>
                  <a:tcPr marL="54864" marR="54864" marT="18288" marB="18288">
                    <a:solidFill>
                      <a:srgbClr val="E6E6E6"/>
                    </a:solidFill>
                  </a:tcPr>
                </a:tc>
              </a:tr>
              <a:tr h="459232">
                <a:tc>
                  <a:txBody>
                    <a:bodyPr wrap="square">
                      <a:normAutofit/>
                    </a:bodyPr>
                    <a:lstStyle/>
                    <a:p>
                      <a:pPr>
                        <a:defRPr sz="1000" b="0">
                          <a:solidFill>
                            <a:srgbClr val="222222"/>
                          </a:solidFill>
                        </a:defRPr>
                      </a:pPr>
                      <a:r>
                        <a:t>Bewertung im Wertpriorisierungsrahmen veroeffentlichen</a:t>
                      </a:r>
                    </a:p>
                  </a:txBody>
                  <a:tcPr marL="54864" marR="54864" marT="18288" marB="18288">
                    <a:solidFill>
                      <a:srgbClr val="FFFFFF"/>
                    </a:solidFill>
                  </a:tcPr>
                </a:tc>
                <a:tc>
                  <a:txBody>
                    <a:bodyPr wrap="square">
                      <a:normAutofit/>
                    </a:bodyPr>
                    <a:lstStyle/>
                    <a:p>
                      <a:pPr>
                        <a:defRPr sz="1000" b="0">
                          <a:solidFill>
                            <a:srgbClr val="222222"/>
                          </a:solidFill>
                        </a:defRPr>
                      </a:pPr>
                      <a:r>
                        <a:t>Task 'Bewertung im Wertpriorisierungsrahmen veroeffentlichen' is marked complete but has no completion date.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DellEMC_VCIO_Integration_Tracker_W3_2016-09-29.xlsx</a:t>
                      </a:r>
                    </a:p>
                  </a:txBody>
                  <a:tcPr marL="54864" marR="54864" marT="18288" marB="18288">
                    <a:solidFill>
                      <a:srgbClr val="FFFFFF"/>
                    </a:solidFill>
                  </a:tcPr>
                </a:tc>
              </a:tr>
              <a:tr h="459232">
                <a:tc>
                  <a:txBody>
                    <a:bodyPr wrap="square">
                      <a:normAutofit/>
                    </a:bodyPr>
                    <a:lstStyle/>
                    <a:p>
                      <a:pPr>
                        <a:defRPr sz="1000" b="0">
                          <a:solidFill>
                            <a:srgbClr val="222222"/>
                          </a:solidFill>
                        </a:defRPr>
                      </a:pPr>
                      <a:r>
                        <a:t>Die berichtete gesicherte Synergie auf den von Finance validierten Wer</a:t>
                      </a:r>
                    </a:p>
                  </a:txBody>
                  <a:tcPr marL="54864" marR="54864" marT="18288" marB="18288">
                    <a:solidFill>
                      <a:srgbClr val="E6E6E6"/>
                    </a:solidFill>
                  </a:tcPr>
                </a:tc>
                <a:tc>
                  <a:txBody>
                    <a:bodyPr wrap="square">
                      <a:normAutofit/>
                    </a:bodyPr>
                    <a:lstStyle/>
                    <a:p>
                      <a:pPr>
                        <a:defRPr sz="1000" b="0">
                          <a:solidFill>
                            <a:srgbClr val="222222"/>
                          </a:solidFill>
                        </a:defRPr>
                      </a:pPr>
                      <a:r>
                        <a:t>Task 'Die berichtete gesicherte Synergie auf den von Finance validierten Wer' is marked complete but has no…</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DellEMC_VCIO_Teilprojekt_Protokoll_Finanzen_2016-09-27.docx</a:t>
                      </a:r>
                    </a:p>
                  </a:txBody>
                  <a:tcPr marL="54864" marR="54864" marT="18288" marB="18288">
                    <a:solidFill>
                      <a:srgbClr val="E6E6E6"/>
                    </a:solidFill>
                  </a:tcPr>
                </a:tc>
              </a:tr>
              <a:tr h="459232">
                <a:tc>
                  <a:txBody>
                    <a:bodyPr wrap="square">
                      <a:normAutofit/>
                    </a:bodyPr>
                    <a:lstStyle/>
                    <a:p>
                      <a:pPr>
                        <a:defRPr sz="1000" b="0">
                          <a:solidFill>
                            <a:srgbClr val="222222"/>
                          </a:solidFill>
                        </a:defRPr>
                      </a:pPr>
                      <a:r>
                        <a:t>Die berichtete gesicherte Synergie auf den von Finance validierten Wert ab</a:t>
                      </a:r>
                    </a:p>
                  </a:txBody>
                  <a:tcPr marL="54864" marR="54864" marT="18288" marB="18288">
                    <a:solidFill>
                      <a:srgbClr val="FFFFFF"/>
                    </a:solidFill>
                  </a:tcPr>
                </a:tc>
                <a:tc>
                  <a:txBody>
                    <a:bodyPr wrap="square">
                      <a:normAutofit/>
                    </a:bodyPr>
                    <a:lstStyle/>
                    <a:p>
                      <a:pPr>
                        <a:defRPr sz="1000" b="0">
                          <a:solidFill>
                            <a:srgbClr val="222222"/>
                          </a:solidFill>
                        </a:defRPr>
                      </a:pPr>
                      <a:r>
                        <a:t>Task 'Die berichtete gesicherte Synergie auf den von Finance validierten Wert ab' is marked complete but has…</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DellEMC_VCIO_Wochenprotokoll_KW39_2016-10-27.docx</a:t>
                      </a:r>
                    </a:p>
                  </a:txBody>
                  <a:tcPr marL="54864" marR="54864" marT="18288" marB="18288">
                    <a:solidFill>
                      <a:srgbClr val="FFFFFF"/>
                    </a:solidFill>
                  </a:tcPr>
                </a:tc>
              </a:tr>
              <a:tr h="459232">
                <a:tc>
                  <a:txBody>
                    <a:bodyPr wrap="square">
                      <a:normAutofit/>
                    </a:bodyPr>
                    <a:lstStyle/>
                    <a:p>
                      <a:pPr>
                        <a:defRPr sz="1000" b="0">
                          <a:solidFill>
                            <a:srgbClr val="222222"/>
                          </a:solidFill>
                        </a:defRPr>
                      </a:pPr>
                      <a:r>
                        <a:t>Die vorlaeufige Kundenzuordnung erstmals veroeffentlichen</a:t>
                      </a:r>
                    </a:p>
                  </a:txBody>
                  <a:tcPr marL="54864" marR="54864" marT="18288" marB="18288">
                    <a:solidFill>
                      <a:srgbClr val="E6E6E6"/>
                    </a:solidFill>
                  </a:tcPr>
                </a:tc>
                <a:tc>
                  <a:txBody>
                    <a:bodyPr wrap="square">
                      <a:normAutofit/>
                    </a:bodyPr>
                    <a:lstStyle/>
                    <a:p>
                      <a:pPr>
                        <a:defRPr sz="1000" b="0">
                          <a:solidFill>
                            <a:srgbClr val="222222"/>
                          </a:solidFill>
                        </a:defRPr>
                      </a:pPr>
                      <a:r>
                        <a:t>Task 'Die vorlaeufige Kundenzuordnung erstmals veroeffentlichen' is marked complete but has no completion…</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DellEMC_VCIO_Wochenprotokoll_KW39_2016-10-27.docx</a:t>
                      </a:r>
                    </a:p>
                  </a:txBody>
                  <a:tcPr marL="54864" marR="54864" marT="18288" marB="18288">
                    <a:solidFill>
                      <a:srgbClr val="E6E6E6"/>
                    </a:solidFill>
                  </a:tcPr>
                </a:tc>
              </a:tr>
            </a:tbl>
          </a:graphicData>
        </a:graphic>
      </p:graphicFrame>
      <p:sp>
        <p:nvSpPr>
          <p:cNvPr id="5" name="pmi:caption"/>
          <p:cNvSpPr txBox="1"/>
          <p:nvPr/>
        </p:nvSpPr>
        <p:spPr>
          <a:xfrm>
            <a:off x="469900" y="5815584"/>
            <a:ext cx="11274552" cy="219456"/>
          </a:xfrm>
          <a:prstGeom prst="rect">
            <a:avLst/>
          </a:prstGeom>
          <a:noFill/>
        </p:spPr>
        <p:txBody>
          <a:bodyPr wrap="square">
            <a:normAutofit/>
          </a:bodyPr>
          <a:lstStyle/>
          <a:p>
            <a:pPr>
              <a:defRPr sz="900" b="0" i="1">
                <a:solidFill>
                  <a:srgbClr val="75787B"/>
                </a:solidFill>
              </a:defRPr>
            </a:pPr>
            <a:r>
              <a:t>Showing 8 of 146 rows.</a:t>
            </a:r>
          </a:p>
        </p:txBody>
      </p:sp>
      <p:sp>
        <p:nvSpPr>
          <p:cNvPr id="6"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DellEMC_VCIO_Integration_Tracker_W3_2016-09-29.xlsx (sheet 'Massnahmenplan'!A16:J16); DellEMC_VCIO_Integration_Tracker_W3_2016-09-29.xlsx (sheet 'Massnahmenplan'!A8:J8); DellEMC_VCIO_Integration_Tracker_W3_2016-09-29.xlsx (sheet 'Massnahmenplan'!A15:J15); DellEMC_VCIO_Integration_Tracker_W3_2016-09-29.xlsx (sheet 'Massnahmenplan'!A31:J31); and 62 more.</a:t>
            </a:r>
          </a:p>
        </p:txBody>
      </p:sp>
      <p:sp>
        <p:nvSpPr>
          <p:cNvPr id="7"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eval-with_errors_Z_1_40f42e80  |  Steering Committee</a:t>
            </a:r>
          </a:p>
        </p:txBody>
      </p:sp>
      <p:sp>
        <p:nvSpPr>
          <p:cNvPr id="8"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10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FALLBACK_LAYOUT" val="29"/>
  <p:tag name="MIO_SHOW_DATE" val="False"/>
  <p:tag name="MIO_SHOW_FOOTER" val="False"/>
  <p:tag name="MIO_SHOW_PAGENUMBER" val="False"/>
  <p:tag name="MIO_AVOID_BLANK_LAYOUT" val="True"/>
  <p:tag name="MIO_CD_LAYOUT_VALID_AREA" val="False"/>
  <p:tag name="MIO_EMBED_FONT" val="False"/>
  <p:tag name="MIO_NUMBER_OF_VALID_LAYOUTS" val="59"/>
  <p:tag name="MIO_MATCH_COLOR_SCHEME" val="True"/>
  <p:tag name="MIO_EKGUID" val="a4fc2127-e6ee-4e73-b2a0-71faa570fb8a"/>
  <p:tag name="MIO_DBID" val="fede6900-895c-4459-b97c-72b2b9dac459"/>
  <p:tag name="MIO_VERSION" val="31.03.2026 12:29:06"/>
  <p:tag name="MIO_LASTDOWNLOADED" val="21.05.2026 16:51:09.075"/>
  <p:tag name="MIO_OBJECTNAME" val="Deloitte 16:9 (2026) long"/>
  <p:tag name="MIO_CONTENTTAG" val="xb4C46bb80ubw2k2KBbiQg=="/>
  <p:tag name="MIO_CDID" val="b832c4bc-5070-4232-bfdb-3d42c9da7c2d"/>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Deloitte">
      <a:dk1>
        <a:sysClr val="windowText" lastClr="000000"/>
      </a:dk1>
      <a:lt1>
        <a:sysClr val="window" lastClr="FFFFFF"/>
      </a:lt1>
      <a:dk2>
        <a:srgbClr val="222222"/>
      </a:dk2>
      <a:lt2>
        <a:srgbClr val="E6E6E6"/>
      </a:lt2>
      <a:accent1>
        <a:srgbClr val="86BC25"/>
      </a:accent1>
      <a:accent2>
        <a:srgbClr val="26890D"/>
      </a:accent2>
      <a:accent3>
        <a:srgbClr val="046A38"/>
      </a:accent3>
      <a:accent4>
        <a:srgbClr val="1C3D26"/>
      </a:accent4>
      <a:accent5>
        <a:srgbClr val="0DF200"/>
      </a:accent5>
      <a:accent6>
        <a:srgbClr val="F1F6E4"/>
      </a:accent6>
      <a:hlink>
        <a:srgbClr val="26890D"/>
      </a:hlink>
      <a:folHlink>
        <a:srgbClr val="75787B"/>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a:solidFill>
              <a:srgbClr val="313131"/>
            </a:solidFill>
          </a:defRPr>
        </a:defPPr>
      </a:lstStyle>
    </a:txDef>
  </a:objectDefaults>
  <a:extraClrSchemeLst/>
  <a:custClrLst>
    <a:custClr name="Green 1">
      <a:srgbClr val="E3E48D"/>
    </a:custClr>
    <a:custClr name="Green 2">
      <a:srgbClr val="C4D600"/>
    </a:custClr>
    <a:custClr name="Green 4">
      <a:srgbClr val="43B02A"/>
    </a:custClr>
    <a:custClr name="Green 5">
      <a:srgbClr val="009A44"/>
    </a:custClr>
    <a:custClr name="Teal 1">
      <a:srgbClr val="DDEFE8"/>
    </a:custClr>
    <a:custClr name="Teal 2">
      <a:srgbClr val="9DD4CF"/>
    </a:custClr>
    <a:custClr name="Teal 3">
      <a:srgbClr val="6FC2B4"/>
    </a:custClr>
    <a:custClr name="Teal 4">
      <a:srgbClr val="00ABAB"/>
    </a:custClr>
    <a:custClr name="Teal 5">
      <a:srgbClr val="0097A9"/>
    </a:custClr>
    <a:custClr name="Teal 6">
      <a:srgbClr val="007680"/>
    </a:custClr>
    <a:custClr name="Teal 7">
      <a:srgbClr val="004F59"/>
    </a:custClr>
    <a:custClr name="Teal 8">
      <a:srgbClr val="0D8390"/>
    </a:custClr>
    <a:custClr name="Blue 1">
      <a:srgbClr val="A0DCFF"/>
    </a:custClr>
    <a:custClr name="Blue 2">
      <a:srgbClr val="62B5E5"/>
    </a:custClr>
    <a:custClr name="Blue 3">
      <a:srgbClr val="00A3E0"/>
    </a:custClr>
    <a:custClr name="Blue 4">
      <a:srgbClr val="0076A8"/>
    </a:custClr>
    <a:custClr name="Blue 5">
      <a:srgbClr val="005587"/>
    </a:custClr>
    <a:custClr name="Blue 6">
      <a:srgbClr val="012169"/>
    </a:custClr>
    <a:custClr name="Blue 7">
      <a:srgbClr val="041E42"/>
    </a:custClr>
    <a:custClr name="Blue 8">
      <a:srgbClr val="007CB0"/>
    </a:custClr>
    <a:custClr name="Cool Gray 2">
      <a:srgbClr val="D0D0CE"/>
    </a:custClr>
    <a:custClr name="Cool Gray 4">
      <a:srgbClr val="BBBCBC"/>
    </a:custClr>
    <a:custClr name="Cool Gray 6">
      <a:srgbClr val="A7A8AA"/>
    </a:custClr>
    <a:custClr name="Cool Gray 7">
      <a:srgbClr val="97999B"/>
    </a:custClr>
    <a:custClr name="Cool Gray 9">
      <a:srgbClr val="75787B"/>
    </a:custClr>
    <a:custClr name="Cool Gray 10">
      <a:srgbClr val="63666A"/>
    </a:custClr>
    <a:custClr name="Cool Gray 11">
      <a:srgbClr val="53565A"/>
    </a:custClr>
    <a:custClr name="Red">
      <a:srgbClr val="DA291C"/>
    </a:custClr>
    <a:custClr name="Orange">
      <a:srgbClr val="ED8B00"/>
    </a:custClr>
    <a:custClr name="Yellow">
      <a:srgbClr val="FFCD00"/>
    </a:custClr>
    <a:custClr name="Bright Blue">
      <a:srgbClr val="33F0FF"/>
    </a:custClr>
    <a:custClr name="Bright Teal">
      <a:srgbClr val="3EFAC5"/>
    </a:custClr>
  </a:custClrLst>
  <a:extLst>
    <a:ext uri="{05A4C25C-085E-4340-85A3-A5531E510DB2}">
      <thm15:themeFamily xmlns:thm15="http://schemas.microsoft.com/office/thememl/2012/main" name="Deloitte_Brand_Theme" id="{917CC780-C041-4F84-B057-DE63A8CDEF25}" vid="{5A16EDA9-025E-49B0-B403-896FAE83D19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Default Theme</Template>
  <TotalTime>0</TotalTime>
  <Words>0</Words>
  <Application>Microsoft Macintosh PowerPoint</Application>
  <PresentationFormat>Breitbild</PresentationFormat>
  <Paragraphs>0</Paragraphs>
  <Slides>26</Slides>
  <Notes>0</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26</vt:i4>
      </vt:variant>
    </vt:vector>
  </HeadingPairs>
  <TitlesOfParts>
    <vt:vector size="33" baseType="lpstr">
      <vt:lpstr>Aptos</vt:lpstr>
      <vt:lpstr>Arial</vt:lpstr>
      <vt:lpstr>Open Sans</vt:lpstr>
      <vt:lpstr>Verdana</vt:lpstr>
      <vt:lpstr>Wingdings 2</vt:lpstr>
      <vt:lpstr>Deloitte_Brand_Theme</vt:lpstr>
      <vt:lpstr>think-cell Slide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Axmann, Paul</dc:creator>
  <cp:lastModifiedBy>Katsiaryna Panko</cp:lastModifiedBy>
  <cp:revision>4</cp:revision>
  <dcterms:created xsi:type="dcterms:W3CDTF">2026-05-21T14:50:05Z</dcterms:created>
  <dcterms:modified xsi:type="dcterms:W3CDTF">2026-07-22T21:09:48Z</dcterms:modified>
</cp:coreProperties>
</file>