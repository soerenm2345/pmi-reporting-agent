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1" autoAdjust="0"/>
    <p:restoredTop sz="94643"/>
  </p:normalViewPr>
  <p:slideViewPr>
    <p:cSldViewPr snapToGrid="0" showGuides="1">
      <p:cViewPr varScale="1">
        <p:scale>
          <a:sx n="115" d="100"/>
          <a:sy n="115" d="100"/>
        </p:scale>
        <p:origin x="2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xmann, Paul" userId="fbc82133-129a-4dcf-80c4-e933ee85612e" providerId="ADAL" clId="{865C5255-48DE-4BF3-A9A9-8C777D2FBCA3}"/>
    <pc:docChg chg="undo custSel modSld">
      <pc:chgData name="Axmann, Paul" userId="fbc82133-129a-4dcf-80c4-e933ee85612e" providerId="ADAL" clId="{865C5255-48DE-4BF3-A9A9-8C777D2FBCA3}" dt="2026-07-22T13:16:50.319" v="97" actId="700"/>
      <pc:docMkLst>
        <pc:docMk/>
      </pc:docMkLst>
      <pc:sldChg chg="addSp delSp modSp mod modClrScheme chgLayout">
        <pc:chgData name="Axmann, Paul" userId="fbc82133-129a-4dcf-80c4-e933ee85612e" providerId="ADAL" clId="{865C5255-48DE-4BF3-A9A9-8C777D2FBCA3}" dt="2026-07-22T13:16:50.319" v="97" actId="700"/>
        <pc:sldMkLst>
          <pc:docMk/>
          <pc:sldMk cId="2895843105" sldId="258"/>
        </pc:sldMkLst>
        <pc:spChg chg="add mod ord">
          <ac:chgData name="Axmann, Paul" userId="fbc82133-129a-4dcf-80c4-e933ee85612e" providerId="ADAL" clId="{865C5255-48DE-4BF3-A9A9-8C777D2FBCA3}" dt="2026-07-22T13:16:50.319" v="97" actId="700"/>
          <ac:spMkLst>
            <pc:docMk/>
            <pc:sldMk cId="2895843105" sldId="258"/>
            <ac:spMk id="2" creationId="{24FB5E02-7515-9876-B496-05DBDCDD649F}"/>
          </ac:spMkLst>
        </pc:spChg>
        <pc:spChg chg="add mod ord">
          <ac:chgData name="Axmann, Paul" userId="fbc82133-129a-4dcf-80c4-e933ee85612e" providerId="ADAL" clId="{865C5255-48DE-4BF3-A9A9-8C777D2FBCA3}" dt="2026-07-22T13:16:50.319" v="97" actId="700"/>
          <ac:spMkLst>
            <pc:docMk/>
            <pc:sldMk cId="2895843105" sldId="258"/>
            <ac:spMk id="4" creationId="{B17175E7-5E25-6D4C-AD46-53CE452DACFD}"/>
          </ac:spMkLst>
        </pc:spChg>
        <pc:spChg chg="add del mod topLvl">
          <ac:chgData name="Axmann, Paul" userId="fbc82133-129a-4dcf-80c4-e933ee85612e" providerId="ADAL" clId="{865C5255-48DE-4BF3-A9A9-8C777D2FBCA3}" dt="2026-07-22T13:16:44.554" v="96" actId="478"/>
          <ac:spMkLst>
            <pc:docMk/>
            <pc:sldMk cId="2895843105" sldId="258"/>
            <ac:spMk id="5" creationId="{8E76DACD-B206-A8BC-C7E6-A1ADEBDCAF64}"/>
          </ac:spMkLst>
        </pc:spChg>
        <pc:spChg chg="del mod ord">
          <ac:chgData name="Axmann, Paul" userId="fbc82133-129a-4dcf-80c4-e933ee85612e" providerId="ADAL" clId="{865C5255-48DE-4BF3-A9A9-8C777D2FBCA3}" dt="2026-07-22T13:16:50.319" v="97" actId="700"/>
          <ac:spMkLst>
            <pc:docMk/>
            <pc:sldMk cId="2895843105" sldId="258"/>
            <ac:spMk id="8" creationId="{0E314AB3-8E17-8C03-C902-BB93857E04A0}"/>
          </ac:spMkLst>
        </pc:spChg>
        <pc:spChg chg="del mod ord">
          <ac:chgData name="Axmann, Paul" userId="fbc82133-129a-4dcf-80c4-e933ee85612e" providerId="ADAL" clId="{865C5255-48DE-4BF3-A9A9-8C777D2FBCA3}" dt="2026-07-22T13:16:50.319" v="97" actId="700"/>
          <ac:spMkLst>
            <pc:docMk/>
            <pc:sldMk cId="2895843105" sldId="258"/>
            <ac:spMk id="9" creationId="{07954675-4C93-20E7-67E7-3D1752E8C678}"/>
          </ac:spMkLst>
        </pc:spChg>
        <pc:spChg chg="del mod ord">
          <ac:chgData name="Axmann, Paul" userId="fbc82133-129a-4dcf-80c4-e933ee85612e" providerId="ADAL" clId="{865C5255-48DE-4BF3-A9A9-8C777D2FBCA3}" dt="2026-07-22T13:16:50.319" v="97" actId="700"/>
          <ac:spMkLst>
            <pc:docMk/>
            <pc:sldMk cId="2895843105" sldId="258"/>
            <ac:spMk id="10" creationId="{50A0C943-A884-08CC-C4CB-7B58983AD670}"/>
          </ac:spMkLst>
        </pc:spChg>
        <pc:spChg chg="add mod ord">
          <ac:chgData name="Axmann, Paul" userId="fbc82133-129a-4dcf-80c4-e933ee85612e" providerId="ADAL" clId="{865C5255-48DE-4BF3-A9A9-8C777D2FBCA3}" dt="2026-07-22T13:16:50.319" v="97" actId="700"/>
          <ac:spMkLst>
            <pc:docMk/>
            <pc:sldMk cId="2895843105" sldId="258"/>
            <ac:spMk id="12" creationId="{7CC3B3E3-D519-B9EC-5BEA-D17925F3C060}"/>
          </ac:spMkLst>
        </pc:spChg>
        <pc:grpChg chg="add del mod">
          <ac:chgData name="Axmann, Paul" userId="fbc82133-129a-4dcf-80c4-e933ee85612e" providerId="ADAL" clId="{865C5255-48DE-4BF3-A9A9-8C777D2FBCA3}" dt="2026-07-22T13:16:42.283" v="95" actId="478"/>
          <ac:grpSpMkLst>
            <pc:docMk/>
            <pc:sldMk cId="2895843105" sldId="258"/>
            <ac:grpSpMk id="7" creationId="{2BF27B01-2079-E0CA-6D27-40E0F4EB031D}"/>
          </ac:grpSpMkLst>
        </pc:grpChg>
        <pc:picChg chg="add del mod topLvl">
          <ac:chgData name="Axmann, Paul" userId="fbc82133-129a-4dcf-80c4-e933ee85612e" providerId="ADAL" clId="{865C5255-48DE-4BF3-A9A9-8C777D2FBCA3}" dt="2026-07-22T13:16:42.283" v="95" actId="478"/>
          <ac:picMkLst>
            <pc:docMk/>
            <pc:sldMk cId="2895843105" sldId="258"/>
            <ac:picMk id="6" creationId="{A8C050C3-039E-2699-901D-6942C37D2054}"/>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Score</c:v>
                </c:pt>
              </c:strCache>
            </c:strRef>
          </c:tx>
          <c:spPr>
            <a:solidFill>
              <a:srgbClr val="046A38"/>
            </a:solidFill>
            <a:ln w="25400">
              <a:solidFill>
                <a:srgbClr val="046A38"/>
              </a:solidFill>
            </a:ln>
          </c:spPr>
          <c:cat>
            <c:strRef>
              <c:f>Sheet1!$A$2:$A$12</c:f>
              <c:strCache>
                <c:ptCount val="11"/>
                <c:pt idx="0">
                  <c:v>R-03</c:v>
                </c:pt>
                <c:pt idx="1">
                  <c:v>R-04</c:v>
                </c:pt>
                <c:pt idx="2">
                  <c:v>R-06</c:v>
                </c:pt>
                <c:pt idx="3">
                  <c:v>R-07</c:v>
                </c:pt>
                <c:pt idx="4">
                  <c:v>R-11</c:v>
                </c:pt>
                <c:pt idx="5">
                  <c:v>Maintain the RAID register and apply the escalation threshold</c:v>
                </c:pt>
                <c:pt idx="6">
                  <c:v>Entity rationalisation slips and delays
the transfer pricing model, creating an
exposure at the first combined year
end</c:v>
                </c:pt>
                <c:pt idx="7">
                  <c:v>Key talent attrition in the combined field organisation before the coverage mo</c:v>
                </c:pt>
                <c:pt idx="8">
                  <c:v>Key talent attrition in the combined field organisation before the cov</c:v>
                </c:pt>
                <c:pt idx="9">
                  <c:v>Debt service constrains discretionary
integration spend below the level the
plan assumes</c:v>
                </c:pt>
                <c:pt idx="10">
                  <c:v>Key talent attrition in the combined
field organisation before the coverage
model is in force</c:v>
                </c:pt>
              </c:strCache>
            </c:strRef>
          </c:cat>
          <c:val>
            <c:numRef>
              <c:f>Sheet1!$B$2:$B$12</c:f>
              <c:numCache>
                <c:formatCode>General</c:formatCode>
                <c:ptCount val="11"/>
                <c:pt idx="0">
                  <c:v>16.0</c:v>
                </c:pt>
                <c:pt idx="1">
                  <c:v>15.0</c:v>
                </c:pt>
                <c:pt idx="2">
                  <c:v>12.0</c:v>
                </c:pt>
                <c:pt idx="3">
                  <c:v>12.0</c:v>
                </c:pt>
                <c:pt idx="4">
                  <c:v>10.0</c:v>
                </c:pt>
              </c:numCache>
            </c:numRef>
          </c:val>
        </c:ser>
        <c:dLbls>
          <c:numFmt sourceLinked="0" formatCode="#,##0"/>
          <c:txPr>
            <a:bodyPr/>
            <a:lstStyle/>
            <a:p>
              <a:pPr>
                <a:defRPr sz="900">
                  <a:solidFill>
                    <a:srgbClr val="222222"/>
                  </a:solidFill>
                </a:defRPr>
              </a:pPr>
            </a:p>
          </c:txPr>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75787B"/>
            </a:solidFill>
          </a:ln>
        </c:spPr>
        <c:txPr>
          <a:bodyPr/>
          <a:lstStyle/>
          <a:p>
            <a:pPr>
              <a:defRPr sz="1000">
                <a:solidFill>
                  <a:srgbClr val="75787B"/>
                </a:solidFill>
              </a:defRPr>
            </a:pPr>
          </a:p>
        </c:txPr>
        <c:crossAx val="-2113994440"/>
        <c:crosses val="autoZero"/>
        <c:auto val="1"/>
        <c:lblAlgn val="ctr"/>
        <c:lblOffset val="100"/>
        <c:noMultiLvlLbl val="0"/>
      </c:catAx>
      <c:valAx>
        <c:axId val="-2113994440"/>
        <c:scaling/>
        <c:delete val="0"/>
        <c:axPos val="b"/>
        <c:majorGridlines>
          <c:spPr>
            <a:ln w="9525">
              <a:solidFill>
                <a:srgbClr val="E6E6E6"/>
              </a:solidFill>
            </a:ln>
          </c:spPr>
        </c:majorGridlines>
        <c:numFmt sourceLinked="0" formatCode="#,##0"/>
        <c:majorTickMark val="out"/>
        <c:minorTickMark val="none"/>
        <c:tickLblPos val="nextTo"/>
        <c:spPr>
          <a:ln>
            <a:solidFill>
              <a:srgbClr val="75787B"/>
            </a:solidFill>
          </a:ln>
        </c:spPr>
        <c:txPr>
          <a:bodyPr/>
          <a:lstStyle/>
          <a:p>
            <a:pPr>
              <a:defRPr sz="900">
                <a:solidFill>
                  <a:srgbClr val="75787B"/>
                </a:solidFill>
              </a:defRPr>
            </a:pPr>
          </a:p>
        </c:txPr>
        <c:crossAx val="-2068027336"/>
        <c:crosses val="autoZero"/>
      </c:valAx>
    </c:plotArea>
    <c:dispBlanksAs val="gap"/>
  </c:chart>
  <c:txPr>
    <a:bodyPr/>
    <a:lstStyle/>
    <a:p>
      <a:pPr>
        <a:defRPr sz="900">
          <a:solidFill>
            <a:srgbClr val="222222"/>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Budget</c:v>
                </c:pt>
              </c:strCache>
            </c:strRef>
          </c:tx>
          <c:spPr>
            <a:solidFill>
              <a:srgbClr val="046A38"/>
            </a:solidFill>
            <a:ln w="25400">
              <a:solidFill>
                <a:srgbClr val="046A38"/>
              </a:solidFill>
            </a:ln>
          </c:spPr>
          <c:cat>
            <c:strRef>
              <c:f>Sheet1!$A$2:$A$13</c:f>
              <c:strCache>
                <c:ptCount val="12"/>
                <c:pt idx="0">
                  <c:v>Delivery cost for Rationalise marketing spend and event portfoli</c:v>
                </c:pt>
                <c:pt idx="1">
                  <c:v>Indirect procurement, addressable
spend</c:v>
                </c:pt>
                <c:pt idx="2">
                  <c:v>Indirect procurement, addressable spend</c:v>
                </c:pt>
                <c:pt idx="3">
                  <c:v>Property lease and facilities cost</c:v>
                </c:pt>
                <c:pt idx="4">
                  <c:v>Warehouse and distribution operating
cost</c:v>
                </c:pt>
                <c:pt idx="5">
                  <c:v>Property lease and facilities cost</c:v>
                </c:pt>
                <c:pt idx="6">
                  <c:v>Warehouse and distribution operating cost</c:v>
                </c:pt>
                <c:pt idx="7">
                  <c:v>Sales compensation, plan cost</c:v>
                </c:pt>
                <c:pt idx="8">
                  <c:v>Sales compensation, plan cost</c:v>
                </c:pt>
                <c:pt idx="9">
                  <c:v>Corporate and shared service
personnel cost</c:v>
                </c:pt>
                <c:pt idx="10">
                  <c:v>Corporate and shared service personnel cost</c:v>
                </c:pt>
                <c:pt idx="11">
                  <c:v>Delivery cost for Renegotiate logistics and freight with the top</c:v>
                </c:pt>
              </c:strCache>
            </c:strRef>
          </c:cat>
          <c:val>
            <c:numRef>
              <c:f>Sheet1!$B$2:$B$13</c:f>
              <c:numCache>
                <c:formatCode>General</c:formatCode>
                <c:ptCount val="12"/>
                <c:pt idx="0">
                  <c:v>7.0</c:v>
                </c:pt>
                <c:pt idx="1">
                  <c:v>4402.0</c:v>
                </c:pt>
                <c:pt idx="2">
                  <c:v>4402.0</c:v>
                </c:pt>
                <c:pt idx="3">
                  <c:v>903.0</c:v>
                </c:pt>
                <c:pt idx="4">
                  <c:v>628.0</c:v>
                </c:pt>
                <c:pt idx="5">
                  <c:v>903.0</c:v>
                </c:pt>
                <c:pt idx="6">
                  <c:v>628.0</c:v>
                </c:pt>
                <c:pt idx="7">
                  <c:v>1702.0</c:v>
                </c:pt>
                <c:pt idx="8">
                  <c:v>1702.0</c:v>
                </c:pt>
                <c:pt idx="9">
                  <c:v>2951.0</c:v>
                </c:pt>
                <c:pt idx="10">
                  <c:v>2951.0</c:v>
                </c:pt>
                <c:pt idx="11">
                  <c:v>21.0</c:v>
                </c:pt>
              </c:numCache>
            </c:numRef>
          </c:val>
        </c:ser>
        <c:ser>
          <c:idx val="1"/>
          <c:order val="1"/>
          <c:tx>
            <c:strRef>
              <c:f>Sheet1!$C$1</c:f>
              <c:strCache>
                <c:ptCount val="1"/>
                <c:pt idx="0">
                  <c:v>Actual</c:v>
                </c:pt>
              </c:strCache>
            </c:strRef>
          </c:tx>
          <c:spPr>
            <a:solidFill>
              <a:srgbClr val="0097A9"/>
            </a:solidFill>
            <a:ln w="25400">
              <a:solidFill>
                <a:srgbClr val="0097A9"/>
              </a:solidFill>
            </a:ln>
          </c:spPr>
          <c:cat>
            <c:strRef>
              <c:f>Sheet1!$A$2:$A$13</c:f>
              <c:strCache>
                <c:ptCount val="12"/>
                <c:pt idx="0">
                  <c:v>Delivery cost for Rationalise marketing spend and event portfoli</c:v>
                </c:pt>
                <c:pt idx="1">
                  <c:v>Indirect procurement, addressable
spend</c:v>
                </c:pt>
                <c:pt idx="2">
                  <c:v>Indirect procurement, addressable spend</c:v>
                </c:pt>
                <c:pt idx="3">
                  <c:v>Property lease and facilities cost</c:v>
                </c:pt>
                <c:pt idx="4">
                  <c:v>Warehouse and distribution operating
cost</c:v>
                </c:pt>
                <c:pt idx="5">
                  <c:v>Property lease and facilities cost</c:v>
                </c:pt>
                <c:pt idx="6">
                  <c:v>Warehouse and distribution operating cost</c:v>
                </c:pt>
                <c:pt idx="7">
                  <c:v>Sales compensation, plan cost</c:v>
                </c:pt>
                <c:pt idx="8">
                  <c:v>Sales compensation, plan cost</c:v>
                </c:pt>
                <c:pt idx="9">
                  <c:v>Corporate and shared service
personnel cost</c:v>
                </c:pt>
                <c:pt idx="10">
                  <c:v>Corporate and shared service personnel cost</c:v>
                </c:pt>
                <c:pt idx="11">
                  <c:v>Delivery cost for Renegotiate logistics and freight with the top</c:v>
                </c:pt>
              </c:strCache>
            </c:strRef>
          </c:cat>
          <c:val>
            <c:numRef>
              <c:f>Sheet1!$C$2:$C$13</c:f>
              <c:numCache>
                <c:formatCode>General</c:formatCode>
                <c:ptCount val="12"/>
                <c:pt idx="0">
                  <c:v>2.0</c:v>
                </c:pt>
                <c:pt idx="1">
                  <c:v>4310.0</c:v>
                </c:pt>
                <c:pt idx="2">
                  <c:v>4310.0</c:v>
                </c:pt>
                <c:pt idx="3">
                  <c:v>884.0</c:v>
                </c:pt>
                <c:pt idx="4">
                  <c:v>612.0</c:v>
                </c:pt>
                <c:pt idx="5">
                  <c:v>884.0</c:v>
                </c:pt>
                <c:pt idx="6">
                  <c:v>612.0</c:v>
                </c:pt>
                <c:pt idx="7">
                  <c:v>1638.0</c:v>
                </c:pt>
                <c:pt idx="8">
                  <c:v>1638.0</c:v>
                </c:pt>
                <c:pt idx="9">
                  <c:v>2874.0</c:v>
                </c:pt>
                <c:pt idx="10">
                  <c:v>2874.0</c:v>
                </c:pt>
                <c:pt idx="11">
                  <c:v>5.0</c:v>
                </c:pt>
              </c:numCache>
            </c:numRef>
          </c:val>
        </c:ser>
        <c:ser>
          <c:idx val="2"/>
          <c:order val="2"/>
          <c:tx>
            <c:strRef>
              <c:f>Sheet1!$D$1</c:f>
              <c:strCache>
                <c:ptCount val="1"/>
                <c:pt idx="0">
                  <c:v>Forecast</c:v>
                </c:pt>
              </c:strCache>
            </c:strRef>
          </c:tx>
          <c:spPr>
            <a:solidFill>
              <a:srgbClr val="0076A8"/>
            </a:solidFill>
            <a:ln w="25400">
              <a:solidFill>
                <a:srgbClr val="0076A8"/>
              </a:solidFill>
            </a:ln>
          </c:spPr>
          <c:cat>
            <c:strRef>
              <c:f>Sheet1!$A$2:$A$13</c:f>
              <c:strCache>
                <c:ptCount val="12"/>
                <c:pt idx="0">
                  <c:v>Delivery cost for Rationalise marketing spend and event portfoli</c:v>
                </c:pt>
                <c:pt idx="1">
                  <c:v>Indirect procurement, addressable
spend</c:v>
                </c:pt>
                <c:pt idx="2">
                  <c:v>Indirect procurement, addressable spend</c:v>
                </c:pt>
                <c:pt idx="3">
                  <c:v>Property lease and facilities cost</c:v>
                </c:pt>
                <c:pt idx="4">
                  <c:v>Warehouse and distribution operating
cost</c:v>
                </c:pt>
                <c:pt idx="5">
                  <c:v>Property lease and facilities cost</c:v>
                </c:pt>
                <c:pt idx="6">
                  <c:v>Warehouse and distribution operating cost</c:v>
                </c:pt>
                <c:pt idx="7">
                  <c:v>Sales compensation, plan cost</c:v>
                </c:pt>
                <c:pt idx="8">
                  <c:v>Sales compensation, plan cost</c:v>
                </c:pt>
                <c:pt idx="9">
                  <c:v>Corporate and shared service
personnel cost</c:v>
                </c:pt>
                <c:pt idx="10">
                  <c:v>Corporate and shared service personnel cost</c:v>
                </c:pt>
                <c:pt idx="11">
                  <c:v>Delivery cost for Renegotiate logistics and freight with the top</c:v>
                </c:pt>
              </c:strCache>
            </c:strRef>
          </c:cat>
          <c:val>
            <c:numRef>
              <c:f>Sheet1!$D$2:$D$13</c:f>
              <c:numCache>
                <c:formatCode>General</c:formatCode>
                <c:ptCount val="12"/>
              </c:numCache>
            </c:numRef>
          </c:val>
        </c:ser>
        <c:dLbls>
          <c:numFmt sourceLinked="0" formatCode="#,##0"/>
          <c:txPr>
            <a:bodyPr/>
            <a:lstStyle/>
            <a:p>
              <a:pPr>
                <a:defRPr sz="900">
                  <a:solidFill>
                    <a:srgbClr val="222222"/>
                  </a:solidFill>
                </a:defRPr>
              </a:pPr>
            </a:p>
          </c:txPr>
          <c:showLegendKey val="0"/>
          <c:showVal val="1"/>
          <c:showCatName val="0"/>
          <c:showSerName val="0"/>
          <c:showPercent val="0"/>
          <c:showBubbleSize val="0"/>
          <c:showLeaderLines val="1"/>
        </c:dLbls>
        <c:gapWidth val="40"/>
        <c:overlap val="-10"/>
        <c:axId val="-2068027336"/>
        <c:axId val="-2113994440"/>
      </c:barChart>
      <c:catAx>
        <c:axId val="-2068027336"/>
        <c:scaling>
          <c:orientation val="minMax"/>
        </c:scaling>
        <c:delete val="0"/>
        <c:axPos val="l"/>
        <c:majorTickMark val="out"/>
        <c:minorTickMark val="none"/>
        <c:tickLblPos val="nextTo"/>
        <c:spPr>
          <a:ln>
            <a:solidFill>
              <a:srgbClr val="75787B"/>
            </a:solidFill>
          </a:ln>
        </c:spPr>
        <c:txPr>
          <a:bodyPr/>
          <a:lstStyle/>
          <a:p>
            <a:pPr>
              <a:defRPr sz="1000">
                <a:solidFill>
                  <a:srgbClr val="75787B"/>
                </a:solidFill>
              </a:defRPr>
            </a:pPr>
          </a:p>
        </c:txPr>
        <c:crossAx val="-2113994440"/>
        <c:crosses val="autoZero"/>
        <c:auto val="1"/>
        <c:lblAlgn val="ctr"/>
        <c:lblOffset val="100"/>
        <c:noMultiLvlLbl val="0"/>
      </c:catAx>
      <c:valAx>
        <c:axId val="-2113994440"/>
        <c:scaling/>
        <c:delete val="0"/>
        <c:axPos val="b"/>
        <c:majorGridlines>
          <c:spPr>
            <a:ln w="9525">
              <a:solidFill>
                <a:srgbClr val="E6E6E6"/>
              </a:solidFill>
            </a:ln>
          </c:spPr>
        </c:majorGridlines>
        <c:numFmt sourceLinked="0" formatCode="#,##0"/>
        <c:majorTickMark val="out"/>
        <c:minorTickMark val="none"/>
        <c:tickLblPos val="nextTo"/>
        <c:spPr>
          <a:ln>
            <a:solidFill>
              <a:srgbClr val="75787B"/>
            </a:solidFill>
          </a:ln>
        </c:spPr>
        <c:txPr>
          <a:bodyPr/>
          <a:lstStyle/>
          <a:p>
            <a:pPr>
              <a:defRPr sz="900">
                <a:solidFill>
                  <a:srgbClr val="75787B"/>
                </a:solidFill>
              </a:defRPr>
            </a:pPr>
          </a:p>
        </c:txPr>
        <c:crossAx val="-2068027336"/>
        <c:crosses val="autoZero"/>
      </c:valAx>
    </c:plotArea>
    <c:legend>
      <c:legendPos val="b"/>
      <c:overlay val="0"/>
      <c:txPr>
        <a:bodyPr/>
        <a:lstStyle/>
        <a:p>
          <a:pPr>
            <a:defRPr sz="900"/>
          </a:pPr>
        </a:p>
      </c:txPr>
    </c:legend>
    <c:dispBlanksAs val="gap"/>
  </c:chart>
  <c:txPr>
    <a:bodyPr/>
    <a:lstStyle/>
    <a:p>
      <a:pPr>
        <a:defRPr sz="900">
          <a:solidFill>
            <a:srgbClr val="222222"/>
          </a:solidFil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6.emf"/><Relationship Id="rId5"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6.emf"/><Relationship Id="rId5"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6.emf"/></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6.emf"/></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6.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6.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7.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8.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6.emf"/></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with tagline logo lockup">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91" y="-5466"/>
            <a:ext cx="2779776"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7FC5E484-EB26-0B50-B87A-799C320E830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73700984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A9C623ED-9A31-E94B-385F-DFBB34F5916A}"/>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101058214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White with tagline logo lockup - CM centered ">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91" y="-5466"/>
            <a:ext cx="2779776"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668108487"/>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 White - CM centered ">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047953367"/>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ale Green with tagline logo lockup">
    <p:bg bwMode="gray">
      <p:bgPr>
        <a:solidFill>
          <a:schemeClr val="accent6"/>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91" y="-5466"/>
            <a:ext cx="2779776"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9A09F874-9939-7788-F7E8-1E902B5632A8}"/>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69777382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 Pale Green">
    <p:bg bwMode="gray">
      <p:bgPr>
        <a:solidFill>
          <a:schemeClr val="accent6"/>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172956925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with tagline logo lockup">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2" descr="Deloitte logo lockup with Together makes progress tagline">
            <a:extLst>
              <a:ext uri="{FF2B5EF4-FFF2-40B4-BE49-F238E27FC236}">
                <a16:creationId xmlns:a16="http://schemas.microsoft.com/office/drawing/2014/main" id="{A1983826-29C7-9575-AAA8-E0D864E527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91" y="-5466"/>
            <a:ext cx="2779776" cy="1308222"/>
          </a:xfrm>
          <a:prstGeom prst="rect">
            <a:avLst/>
          </a:prstGeom>
        </p:spPr>
      </p:pic>
      <p:pic>
        <p:nvPicPr>
          <p:cNvPr id="4" name="Picture 3" descr="Deloitte logo lockup with Together makes progress tagline">
            <a:extLst>
              <a:ext uri="{FF2B5EF4-FFF2-40B4-BE49-F238E27FC236}">
                <a16:creationId xmlns:a16="http://schemas.microsoft.com/office/drawing/2014/main" id="{8E4A851A-D19A-CC7E-CF9F-4EEAB1DF2E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691" y="-5466"/>
            <a:ext cx="2779776" cy="1308222"/>
          </a:xfrm>
          <a:prstGeom prst="rect">
            <a:avLst/>
          </a:prstGeom>
        </p:spPr>
      </p:pic>
    </p:spTree>
    <p:extLst>
      <p:ext uri="{BB962C8B-B14F-4D97-AF65-F5344CB8AC3E}">
        <p14:creationId xmlns:p14="http://schemas.microsoft.com/office/powerpoint/2010/main" val="137146057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1175604727"/>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 Black with tagline logo lockup">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D417F91-0FD9-83FB-569A-B960E93D5A0F}"/>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105659139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FB2FFE14-03CA-6135-58A2-5C311D365127}"/>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08561485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 Black with tagline logo lockup - CM centered ">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31090652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Black - CM centered ">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16321028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Dark Green with tagline logo lockup">
    <p:bg bwMode="gray">
      <p:bgPr>
        <a:solidFill>
          <a:schemeClr val="accent4"/>
        </a:solidFill>
        <a:effectLst/>
      </p:bgPr>
    </p:bg>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3F8A2FFF-A4B2-D935-C7DC-1DB5EDE4A71C}"/>
              </a:ext>
            </a:extLst>
          </p:cNvPr>
          <p:cNvSpPr>
            <a:spLocks noGrp="1"/>
          </p:cNvSpPr>
          <p:nvPr>
            <p:ph type="pic" sz="quarter" idx="11"/>
          </p:nvPr>
        </p:nvSpPr>
        <p:spPr>
          <a:xfrm>
            <a:off x="5959257" y="698373"/>
            <a:ext cx="5544000" cy="5544000"/>
          </a:xfrm>
          <a:prstGeom prst="rect">
            <a:avLst/>
          </a:prstGeom>
        </p:spPr>
        <p:txBody>
          <a:bodyPr/>
          <a:lstStyle>
            <a:lvl1pPr>
              <a:defRPr>
                <a:solidFill>
                  <a:schemeClr val="bg1"/>
                </a:solidFill>
              </a:defRPr>
            </a:lvl1pPr>
          </a:lstStyle>
          <a:p>
            <a:r>
              <a:rPr lang="en-US" noProof="0"/>
              <a:t>Click icon to add picture</a:t>
            </a:r>
            <a:endParaRPr lang="en-US" noProof="0" dirty="0"/>
          </a:p>
        </p:txBody>
      </p:sp>
    </p:spTree>
    <p:extLst>
      <p:ext uri="{BB962C8B-B14F-4D97-AF65-F5344CB8AC3E}">
        <p14:creationId xmlns:p14="http://schemas.microsoft.com/office/powerpoint/2010/main" val="376792615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 Dark Green">
    <p:bg bwMode="gray">
      <p:bgPr>
        <a:solidFill>
          <a:schemeClr val="accent4"/>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5BCB8175-C467-0B04-B004-47252C8E68C3}"/>
              </a:ext>
            </a:extLst>
          </p:cNvPr>
          <p:cNvSpPr>
            <a:spLocks noGrp="1"/>
          </p:cNvSpPr>
          <p:nvPr>
            <p:ph type="pic" sz="quarter" idx="11"/>
          </p:nvPr>
        </p:nvSpPr>
        <p:spPr>
          <a:xfrm>
            <a:off x="5959257" y="698373"/>
            <a:ext cx="5544000" cy="5544000"/>
          </a:xfrm>
          <a:prstGeom prst="rect">
            <a:avLst/>
          </a:prstGeom>
        </p:spPr>
        <p:txBody>
          <a:bodyPr/>
          <a:lstStyle>
            <a:lvl1pPr>
              <a:defRPr>
                <a:solidFill>
                  <a:schemeClr val="bg1"/>
                </a:solidFill>
              </a:defRPr>
            </a:lvl1pPr>
          </a:lstStyle>
          <a:p>
            <a:r>
              <a:rPr lang="en-US" noProof="0"/>
              <a:t>Click icon to add picture</a:t>
            </a:r>
            <a:endParaRPr lang="en-US" noProof="0" dirty="0"/>
          </a:p>
        </p:txBody>
      </p:sp>
    </p:spTree>
    <p:extLst>
      <p:ext uri="{BB962C8B-B14F-4D97-AF65-F5344CB8AC3E}">
        <p14:creationId xmlns:p14="http://schemas.microsoft.com/office/powerpoint/2010/main" val="353767834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lvl1pPr>
              <a:defRPr>
                <a:solidFill>
                  <a:schemeClr val="bg1"/>
                </a:solidFill>
              </a:defRPr>
            </a:lvl1pPr>
          </a:lstStyle>
          <a:p>
            <a:r>
              <a:rPr lang="en-US" noProof="0"/>
              <a:t>Click icon to add picture</a:t>
            </a:r>
            <a:endParaRPr lang="en-US" noProof="0" dirty="0"/>
          </a:p>
        </p:txBody>
      </p:sp>
      <p:pic>
        <p:nvPicPr>
          <p:cNvPr id="2" name="Picture 1" descr="Deloitte logo lockup with Together makes progress tagline">
            <a:extLst>
              <a:ext uri="{FF2B5EF4-FFF2-40B4-BE49-F238E27FC236}">
                <a16:creationId xmlns:a16="http://schemas.microsoft.com/office/drawing/2014/main" id="{BE86AADC-48FD-960B-F4EC-82693FA4991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pic>
        <p:nvPicPr>
          <p:cNvPr id="3" name="Picture 2" descr="Deloitte logo lockup with Together makes progress tagline">
            <a:extLst>
              <a:ext uri="{FF2B5EF4-FFF2-40B4-BE49-F238E27FC236}">
                <a16:creationId xmlns:a16="http://schemas.microsoft.com/office/drawing/2014/main" id="{0EB08596-6566-04B7-6E40-E9321F1A98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Tree>
    <p:extLst>
      <p:ext uri="{BB962C8B-B14F-4D97-AF65-F5344CB8AC3E}">
        <p14:creationId xmlns:p14="http://schemas.microsoft.com/office/powerpoint/2010/main" val="405869958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lvl1pPr>
              <a:defRPr>
                <a:solidFill>
                  <a:schemeClr val="bg1"/>
                </a:solidFill>
              </a:defRPr>
            </a:lvl1pPr>
          </a:lstStyle>
          <a:p>
            <a:r>
              <a:rPr lang="en-US" noProof="0"/>
              <a:t>Click icon to add picture</a:t>
            </a:r>
            <a:endParaRPr lang="en-US" noProof="0" dirty="0"/>
          </a:p>
        </p:txBody>
      </p:sp>
    </p:spTree>
    <p:extLst>
      <p:ext uri="{BB962C8B-B14F-4D97-AF65-F5344CB8AC3E}">
        <p14:creationId xmlns:p14="http://schemas.microsoft.com/office/powerpoint/2010/main" val="60434107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Tree>
    <p:extLst>
      <p:ext uri="{BB962C8B-B14F-4D97-AF65-F5344CB8AC3E}">
        <p14:creationId xmlns:p14="http://schemas.microsoft.com/office/powerpoint/2010/main" val="350947572"/>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 - Glow">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34622674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descr="A green circle on a green background&#10;&#10;AI-generated content may be incorrect.">
            <a:extLst>
              <a:ext uri="{FF2B5EF4-FFF2-40B4-BE49-F238E27FC236}">
                <a16:creationId xmlns:a16="http://schemas.microsoft.com/office/drawing/2014/main" id="{45E3228C-6488-D962-AD57-9F2A5C5896EE}"/>
              </a:ext>
            </a:extLst>
          </p:cNvPr>
          <p:cNvPicPr>
            <a:picLocks noChangeAspect="1"/>
          </p:cNvPicPr>
          <p:nvPr/>
        </p:nvPicPr>
        <p:blipFill>
          <a:blip r:embed="rId5"/>
          <a:stretch>
            <a:fillRect/>
          </a:stretch>
        </p:blipFill>
        <p:spPr>
          <a:xfrm>
            <a:off x="762" y="428"/>
            <a:ext cx="12190476" cy="6857143"/>
          </a:xfrm>
          <a:prstGeom prst="rect">
            <a:avLst/>
          </a:prstGeom>
        </p:spPr>
      </p:pic>
      <p:sp>
        <p:nvSpPr>
          <p:cNvPr id="5" name="CaseCode">
            <a:extLst>
              <a:ext uri="{FF2B5EF4-FFF2-40B4-BE49-F238E27FC236}">
                <a16:creationId xmlns:a16="http://schemas.microsoft.com/office/drawing/2014/main" id="{731E6BB5-C9D1-E35B-D6D9-245F1063E86F}"/>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B5B05F3-7BE5-74BC-C267-D563E5B2A301}"/>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Deloitte 2026</a:t>
            </a:r>
          </a:p>
        </p:txBody>
      </p:sp>
      <p:sp>
        <p:nvSpPr>
          <p:cNvPr id="7" name="TextBox 6">
            <a:extLst>
              <a:ext uri="{FF2B5EF4-FFF2-40B4-BE49-F238E27FC236}">
                <a16:creationId xmlns:a16="http://schemas.microsoft.com/office/drawing/2014/main" id="{0182C802-4131-8DA8-7683-E68E2E309BA0}"/>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9" name="Text Placeholder 2">
            <a:extLst>
              <a:ext uri="{FF2B5EF4-FFF2-40B4-BE49-F238E27FC236}">
                <a16:creationId xmlns:a16="http://schemas.microsoft.com/office/drawing/2014/main" id="{32671CB7-EA0F-58E4-4174-1D1922A3AB24}"/>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spTree>
    <p:extLst>
      <p:ext uri="{BB962C8B-B14F-4D97-AF65-F5344CB8AC3E}">
        <p14:creationId xmlns:p14="http://schemas.microsoft.com/office/powerpoint/2010/main" val="339846895"/>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 United">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781903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sp>
        <p:nvSpPr>
          <p:cNvPr id="4" name="Rechteck 3">
            <a:extLst>
              <a:ext uri="{FF2B5EF4-FFF2-40B4-BE49-F238E27FC236}">
                <a16:creationId xmlns:a16="http://schemas.microsoft.com/office/drawing/2014/main" id="{66B8C9E7-4466-7BA5-F810-207C3AD47343}"/>
              </a:ext>
            </a:extLst>
          </p:cNvPr>
          <p:cNvSpPr/>
          <p:nvPr userDrawn="1"/>
        </p:nvSpPr>
        <p:spPr bwMode="gray">
          <a:xfrm>
            <a:off x="0" y="6134100"/>
            <a:ext cx="12192000" cy="723900"/>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pic>
        <p:nvPicPr>
          <p:cNvPr id="2" name="Picture 1" descr="A circle of small green and blue dots&#10;&#10;Description automatically generated">
            <a:extLst>
              <a:ext uri="{FF2B5EF4-FFF2-40B4-BE49-F238E27FC236}">
                <a16:creationId xmlns:a16="http://schemas.microsoft.com/office/drawing/2014/main" id="{56245C15-57A3-6DF3-1754-20E77EB5CAD9}"/>
              </a:ext>
            </a:extLst>
          </p:cNvPr>
          <p:cNvPicPr>
            <a:picLocks noChangeAspect="1"/>
          </p:cNvPicPr>
          <p:nvPr/>
        </p:nvPicPr>
        <p:blipFill rotWithShape="1">
          <a:blip r:embed="rId5" cstate="email">
            <a:extLst>
              <a:ext uri="{28A0092B-C50C-407E-A947-70E740481C1C}">
                <a14:useLocalDpi xmlns:a14="http://schemas.microsoft.com/office/drawing/2010/main" val="0"/>
              </a:ext>
            </a:extLst>
          </a:blip>
          <a:srcRect l="11095" t="20842" r="-653" b="10449"/>
          <a:stretch>
            <a:fillRect/>
          </a:stretch>
        </p:blipFill>
        <p:spPr>
          <a:xfrm>
            <a:off x="0" y="0"/>
            <a:ext cx="12192000" cy="6858000"/>
          </a:xfrm>
          <a:prstGeom prst="rect">
            <a:avLst/>
          </a:prstGeom>
        </p:spPr>
      </p:pic>
      <p:sp>
        <p:nvSpPr>
          <p:cNvPr id="6" name="CaseCode">
            <a:extLst>
              <a:ext uri="{FF2B5EF4-FFF2-40B4-BE49-F238E27FC236}">
                <a16:creationId xmlns:a16="http://schemas.microsoft.com/office/drawing/2014/main" id="{5B845E89-F80E-32AE-4F61-BAF2AA74950B}"/>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Copyright">
            <a:extLst>
              <a:ext uri="{FF2B5EF4-FFF2-40B4-BE49-F238E27FC236}">
                <a16:creationId xmlns:a16="http://schemas.microsoft.com/office/drawing/2014/main" id="{B7CF71EE-0CD0-8C9C-7BDE-2A50106D047E}"/>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Deloitte 2026</a:t>
            </a:r>
          </a:p>
        </p:txBody>
      </p:sp>
      <p:sp>
        <p:nvSpPr>
          <p:cNvPr id="9" name="TextBox 6">
            <a:extLst>
              <a:ext uri="{FF2B5EF4-FFF2-40B4-BE49-F238E27FC236}">
                <a16:creationId xmlns:a16="http://schemas.microsoft.com/office/drawing/2014/main" id="{B2E2EDCA-A039-A543-5967-C567708E407B}"/>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72023914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Divider - Pale Green">
    <p:bg bwMode="gray">
      <p:bgPr>
        <a:solidFill>
          <a:schemeClr val="accent6"/>
        </a:soli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67FC27F4-B029-8F10-CF8E-13A946A025B5}"/>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Presentation title</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Deloitte 2026</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27237997-F2A9-D664-587D-4BF3816A0DA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30353369"/>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Deloitte 2026</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12CD58D-2BFB-3387-A814-C06828E88CA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004131089"/>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ivider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Presentation title</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Deloitte 2026</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26288D3C-20C4-200E-7A39-8253F3E6AD58}"/>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3659958800"/>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Divider - Deloitte Deep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F684A669-26C5-90D5-704C-199677EB5DCB}"/>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Deloitte 2026</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7582AB9-92F7-B2E5-BF9C-744E1F477FC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60995045"/>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Divider - Dark-Bright gradient ">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2FC75865-6F76-C54E-DF22-E2B4689596A8}"/>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4D8129D5-9039-E8B3-5F13-E4574BC308FD}"/>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Deloitte 2026</a:t>
            </a:r>
          </a:p>
        </p:txBody>
      </p:sp>
      <p:sp>
        <p:nvSpPr>
          <p:cNvPr id="7" name="TextBox 6">
            <a:extLst>
              <a:ext uri="{FF2B5EF4-FFF2-40B4-BE49-F238E27FC236}">
                <a16:creationId xmlns:a16="http://schemas.microsoft.com/office/drawing/2014/main" id="{A0CBBC4D-3C0B-94BF-1ABE-F74D334FD22C}"/>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559336F-A28E-132F-AE15-43D8D49F242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321776487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Divider - Deloitte Bright Green">
    <p:bg bwMode="gray">
      <p:bgPr>
        <a:solidFill>
          <a:schemeClr val="accent5"/>
        </a:solidFill>
        <a:effectLst/>
      </p:bgPr>
    </p:bg>
    <p:spTree>
      <p:nvGrpSpPr>
        <p:cNvPr id="1" name=""/>
        <p:cNvGrpSpPr/>
        <p:nvPr/>
      </p:nvGrpSpPr>
      <p:grpSpPr>
        <a:xfrm>
          <a:off x="0" y="0"/>
          <a:ext cx="0" cy="0"/>
          <a:chOff x="0" y="0"/>
          <a:chExt cx="0" cy="0"/>
        </a:xfrm>
      </p:grpSpPr>
      <p:sp>
        <p:nvSpPr>
          <p:cNvPr id="7" name="CaseCode">
            <a:extLst>
              <a:ext uri="{FF2B5EF4-FFF2-40B4-BE49-F238E27FC236}">
                <a16:creationId xmlns:a16="http://schemas.microsoft.com/office/drawing/2014/main" id="{1F8EA9CE-A4FD-7F07-8A19-61F161FECD5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Deloitte 2026</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61F4FDF0-825B-9D05-FCBA-CD50EF6CC824}"/>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020604408"/>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vider -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418629849"/>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ivider - Full bleed image">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 name="Title 1">
            <a:extLst>
              <a:ext uri="{FF2B5EF4-FFF2-40B4-BE49-F238E27FC236}">
                <a16:creationId xmlns:a16="http://schemas.microsoft.com/office/drawing/2014/main" id="{AEE1843C-9C47-5853-9CCF-75A6755EA090}"/>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776662715"/>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2153599953"/>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684000"/>
            <a:ext cx="11274552" cy="757255"/>
          </a:xfrm>
          <a:prstGeom prst="rect">
            <a:avLst/>
          </a:prstGeom>
          <a:solidFill>
            <a:schemeClr val="bg1"/>
          </a:solidFill>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516246814"/>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846829878"/>
      </p:ext>
    </p:extLst>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69900" y="168249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8249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099169720"/>
      </p:ext>
    </p:extLst>
  </p:cSld>
  <p:clrMapOvr>
    <a:masterClrMapping/>
  </p:clrMapOvr>
  <p:transition>
    <p:fade/>
  </p:transition>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699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903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28753875"/>
      </p:ext>
    </p:extLst>
  </p:cSld>
  <p:clrMapOvr>
    <a:masterClrMapping/>
  </p:clrMapOvr>
  <p:transition>
    <p:fade/>
  </p:transition>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699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30019"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90138"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defRPr>
            </a:lvl1pPr>
          </a:lstStyle>
          <a:p>
            <a:pPr lvl="0"/>
            <a:r>
              <a:rPr lang="en-US" dirty="0"/>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748897783"/>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502570706"/>
      </p:ext>
    </p:extLst>
  </p:cSld>
  <p:clrMapOvr>
    <a:masterClrMapping/>
  </p:clrMapOvr>
  <p:transition>
    <p:fade/>
  </p:transition>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a:ln>
            <a:no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rgbClr val="53565A"/>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2401478124"/>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dirty="0"/>
              <a:t>Click to add text</a:t>
            </a:r>
          </a:p>
        </p:txBody>
      </p:sp>
      <p:pic>
        <p:nvPicPr>
          <p:cNvPr id="2" name="Picture 1" descr="Deloitte logo">
            <a:extLst>
              <a:ext uri="{FF2B5EF4-FFF2-40B4-BE49-F238E27FC236}">
                <a16:creationId xmlns:a16="http://schemas.microsoft.com/office/drawing/2014/main" id="{1BEBA89D-3AAC-3CB0-C580-EB5B545736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Tree>
    <p:extLst>
      <p:ext uri="{BB962C8B-B14F-4D97-AF65-F5344CB8AC3E}">
        <p14:creationId xmlns:p14="http://schemas.microsoft.com/office/powerpoint/2010/main" val="3735021166"/>
      </p:ext>
    </p:extLst>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Only - Light Gray">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999176619"/>
      </p:ext>
    </p:extLst>
  </p:cSld>
  <p:clrMapOvr>
    <a:masterClrMapping/>
  </p:clrMapOvr>
  <p:transition>
    <p:fade/>
  </p:transition>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ubtitle, 1 column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028455440"/>
      </p:ext>
    </p:extLst>
  </p:cSld>
  <p:clrMapOvr>
    <a:masterClrMapping/>
  </p:clrMapOvr>
  <p:transition>
    <p:fade/>
  </p:transition>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subtitle, 2 columns - Light Gray">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69900" y="168249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083530930"/>
      </p:ext>
    </p:extLst>
  </p:cSld>
  <p:clrMapOvr>
    <a:masterClrMapping/>
  </p:clrMapOvr>
  <p:transition>
    <p:fade/>
  </p:transition>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ubtitle, 3 columns - Light Gray">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699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903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161872240"/>
      </p:ext>
    </p:extLst>
  </p:cSld>
  <p:clrMapOvr>
    <a:masterClrMapping/>
  </p:clrMapOvr>
  <p:transition>
    <p:fade/>
  </p:transition>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ubtitle, 4 columns - Light Gray">
    <p:bg>
      <p:bgPr>
        <a:solidFill>
          <a:schemeClr val="bg2"/>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699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30019"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90138"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956908113"/>
      </p:ext>
    </p:extLst>
  </p:cSld>
  <p:clrMapOvr>
    <a:masterClrMapping/>
  </p:clrMapOvr>
  <p:transition>
    <p:fade/>
  </p:transition>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eam profile - Light Gray">
    <p:bg>
      <p:bgPr>
        <a:solidFill>
          <a:schemeClr val="bg2"/>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86188365"/>
      </p:ext>
    </p:extLst>
  </p:cSld>
  <p:clrMapOvr>
    <a:masterClrMapping/>
  </p:clrMapOvr>
  <p:transition>
    <p:fade/>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alifications 2 x 1 - Light Gray">
    <p:bg>
      <p:bgPr>
        <a:solidFill>
          <a:schemeClr val="bg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698923985"/>
      </p:ext>
    </p:extLst>
  </p:cSld>
  <p:clrMapOvr>
    <a:masterClrMapping/>
  </p:clrMapOvr>
  <p:transition>
    <p:fade/>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Only - Pale Green">
    <p:bg>
      <p:bgPr>
        <a:solidFill>
          <a:schemeClr val="accent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54254996"/>
      </p:ext>
    </p:extLst>
  </p:cSld>
  <p:clrMapOvr>
    <a:masterClrMapping/>
  </p:clrMapOvr>
  <p:transition>
    <p:fade/>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1 column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8463129"/>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2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69900" y="168249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8249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874486067"/>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ubtitle, 3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699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903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335045997"/>
      </p:ext>
    </p:extLst>
  </p:cSld>
  <p:clrMapOvr>
    <a:masterClrMapping/>
  </p:clrMapOvr>
  <p:transition>
    <p:fade/>
  </p:transition>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subtitle, 4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699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30019"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90138"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45075143"/>
      </p:ext>
    </p:extLst>
  </p:cSld>
  <p:clrMapOvr>
    <a:masterClrMapping/>
  </p:clrMapOvr>
  <p:transition>
    <p:fade/>
  </p:transition>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am profile - Pale Green">
    <p:bg>
      <p:bgPr>
        <a:solidFill>
          <a:schemeClr val="accent6"/>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87553440"/>
      </p:ext>
    </p:extLst>
  </p:cSld>
  <p:clrMapOvr>
    <a:masterClrMapping/>
  </p:clrMapOvr>
  <p:transition>
    <p:fade/>
  </p:transition>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alifications 2 x 1 - Pale Green">
    <p:bg>
      <p:bgPr>
        <a:solidFill>
          <a:schemeClr val="accent6"/>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838946909"/>
      </p:ext>
    </p:extLst>
  </p:cSld>
  <p:clrMapOvr>
    <a:masterClrMapping/>
  </p:clrMapOvr>
  <p:transition>
    <p:fade/>
  </p:transition>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425900896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7200" y="684000"/>
            <a:ext cx="11274552" cy="757255"/>
          </a:xfrm>
          <a:prstGeom prst="rect">
            <a:avLst/>
          </a:prstGeom>
        </p:spPr>
        <p:txBody>
          <a:bodyPr lIns="0" tIns="0" rIns="0" bIns="0">
            <a:noAutofit/>
          </a:bodyPr>
          <a:lstStyle>
            <a:lvl1pPr marL="0" indent="0">
              <a:spcBef>
                <a:spcPts val="0"/>
              </a:spcBef>
              <a:spcAft>
                <a:spcPts val="0"/>
              </a:spcAft>
              <a:buNone/>
              <a:defRPr sz="1800" b="0">
                <a:solidFill>
                  <a:srgbClr val="D0D0CE"/>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8469708"/>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69900" y="1682496"/>
            <a:ext cx="11274552"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5760">
              <a:spcBef>
                <a:spcPts val="200"/>
              </a:spcBef>
              <a:spcAft>
                <a:spcPts val="200"/>
              </a:spcAft>
              <a:defRPr>
                <a:solidFill>
                  <a:schemeClr val="bg1"/>
                </a:solidFill>
                <a:latin typeface="Aptos" panose="020B0004020202020204" pitchFamily="34" charset="0"/>
              </a:defRPr>
            </a:lvl3pPr>
            <a:lvl4pPr marL="548640" indent="-182880">
              <a:spcBef>
                <a:spcPts val="200"/>
              </a:spcBef>
              <a:spcAft>
                <a:spcPts val="200"/>
              </a:spcAft>
              <a:defRPr>
                <a:solidFill>
                  <a:schemeClr val="bg1"/>
                </a:solidFill>
                <a:latin typeface="Aptos" panose="020B0004020202020204" pitchFamily="34" charset="0"/>
              </a:defRPr>
            </a:lvl4pPr>
            <a:lvl5pPr marL="73152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4116751606"/>
      </p:ext>
    </p:extLst>
  </p:cSld>
  <p:clrMapOvr>
    <a:masterClrMapping/>
  </p:clrMapOvr>
  <p:transition>
    <p:fade/>
  </p:transition>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69900" y="168249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hasCustomPrompt="1"/>
          </p:nvPr>
        </p:nvSpPr>
        <p:spPr>
          <a:xfrm>
            <a:off x="6249579" y="168249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96380655"/>
      </p:ext>
    </p:extLst>
  </p:cSld>
  <p:clrMapOvr>
    <a:masterClrMapping/>
  </p:clrMapOvr>
  <p:transition>
    <p:fade/>
  </p:transition>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699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dirty="0"/>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dirty="0"/>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hasCustomPrompt="1"/>
          </p:nvPr>
        </p:nvSpPr>
        <p:spPr>
          <a:xfrm>
            <a:off x="4331462"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hasCustomPrompt="1"/>
          </p:nvPr>
        </p:nvSpPr>
        <p:spPr>
          <a:xfrm>
            <a:off x="8193024"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953788966"/>
      </p:ext>
    </p:extLst>
  </p:cSld>
  <p:clrMapOvr>
    <a:masterClrMapping/>
  </p:clrMapOvr>
  <p:transition>
    <p:fade/>
  </p:transition>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699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hasCustomPrompt="1"/>
          </p:nvPr>
        </p:nvSpPr>
        <p:spPr>
          <a:xfrm>
            <a:off x="3330787"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hasCustomPrompt="1"/>
          </p:nvPr>
        </p:nvSpPr>
        <p:spPr>
          <a:xfrm>
            <a:off x="6191674"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hasCustomPrompt="1"/>
          </p:nvPr>
        </p:nvSpPr>
        <p:spPr>
          <a:xfrm>
            <a:off x="905256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036883267"/>
      </p:ext>
    </p:extLst>
  </p:cSld>
  <p:clrMapOvr>
    <a:masterClrMapping/>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defRPr sz="120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5352" y="1880213"/>
            <a:ext cx="1476000" cy="1476000"/>
          </a:xfrm>
        </p:spPr>
        <p:txBody>
          <a:bodyPr>
            <a:normAutofit/>
          </a:bodyPr>
          <a:lstStyle>
            <a:lvl1pPr algn="ctr">
              <a:defRPr sz="120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defRPr sz="120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5352" y="4256213"/>
            <a:ext cx="1476000" cy="1476000"/>
          </a:xfrm>
        </p:spPr>
        <p:txBody>
          <a:bodyPr>
            <a:normAutofit/>
          </a:bodyPr>
          <a:lstStyle>
            <a:lvl1pPr algn="ctr">
              <a:defRPr sz="1200"/>
            </a:lvl1pPr>
          </a:lstStyle>
          <a:p>
            <a:r>
              <a:rPr lang="en-US"/>
              <a:t>Click icon to add picture</a:t>
            </a:r>
            <a:endParaRPr lang="en-GB" dirty="0"/>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9804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0744"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9804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hasCustomPrompt="1"/>
          </p:nvPr>
        </p:nvSpPr>
        <p:spPr>
          <a:xfrm>
            <a:off x="2100744"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993841633"/>
      </p:ext>
    </p:extLst>
  </p:cSld>
  <p:clrMapOvr>
    <a:masterClrMapping/>
  </p:clrMapOvr>
  <p:transition>
    <p:fade/>
  </p:transition>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76744" y="1883664"/>
            <a:ext cx="1476000" cy="1476000"/>
          </a:xfrm>
        </p:spPr>
        <p:txBody>
          <a:bodyPr>
            <a:normAutofit/>
          </a:bodyPr>
          <a:lstStyle>
            <a:lvl1pPr algn="ctr">
              <a:defRPr sz="1200"/>
            </a:lvl1pPr>
          </a:lstStyle>
          <a:p>
            <a:r>
              <a:rPr lang="en-US"/>
              <a:t>Click icon to add picture</a:t>
            </a:r>
            <a:endParaRPr lang="en-GB" dirty="0"/>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a:t>Click icon to add picture</a:t>
            </a:r>
            <a:endParaRPr lang="en-GB" dirty="0"/>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hasCustomPrompt="1"/>
          </p:nvPr>
        </p:nvSpPr>
        <p:spPr>
          <a:xfrm>
            <a:off x="457200"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hasCustomPrompt="1"/>
          </p:nvPr>
        </p:nvSpPr>
        <p:spPr>
          <a:xfrm>
            <a:off x="6245352"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17">
            <a:extLst>
              <a:ext uri="{FF2B5EF4-FFF2-40B4-BE49-F238E27FC236}">
                <a16:creationId xmlns:a16="http://schemas.microsoft.com/office/drawing/2014/main" id="{6DE0135C-F9C3-EE2B-FE85-1B28EA0EBB82}"/>
              </a:ext>
            </a:extLst>
          </p:cNvPr>
          <p:cNvSpPr>
            <a:spLocks noGrp="1"/>
          </p:cNvSpPr>
          <p:nvPr>
            <p:ph type="body" sz="quarter" idx="4294967295" hasCustomPrompt="1"/>
          </p:nvPr>
        </p:nvSpPr>
        <p:spPr>
          <a:xfrm>
            <a:off x="457200"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3" name="Text Placeholder 17">
            <a:extLst>
              <a:ext uri="{FF2B5EF4-FFF2-40B4-BE49-F238E27FC236}">
                <a16:creationId xmlns:a16="http://schemas.microsoft.com/office/drawing/2014/main" id="{59E80491-83AB-C6B3-9191-54EDF5F4418A}"/>
              </a:ext>
            </a:extLst>
          </p:cNvPr>
          <p:cNvSpPr>
            <a:spLocks noGrp="1"/>
          </p:cNvSpPr>
          <p:nvPr>
            <p:ph type="body" sz="quarter" idx="4294967295" hasCustomPrompt="1"/>
          </p:nvPr>
        </p:nvSpPr>
        <p:spPr>
          <a:xfrm>
            <a:off x="6239258"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4" name="Rectangle 9">
            <a:extLst>
              <a:ext uri="{FF2B5EF4-FFF2-40B4-BE49-F238E27FC236}">
                <a16:creationId xmlns:a16="http://schemas.microsoft.com/office/drawing/2014/main" id="{FAF1A226-15D9-1330-BC7B-DBA485ECA6B6}"/>
              </a:ext>
            </a:extLst>
          </p:cNvPr>
          <p:cNvSpPr/>
          <p:nvPr userDrawn="1"/>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10">
            <a:extLst>
              <a:ext uri="{FF2B5EF4-FFF2-40B4-BE49-F238E27FC236}">
                <a16:creationId xmlns:a16="http://schemas.microsoft.com/office/drawing/2014/main" id="{FA52BBBB-A981-58D6-6AC0-87FD0B6CA84A}"/>
              </a:ext>
            </a:extLst>
          </p:cNvPr>
          <p:cNvSpPr/>
          <p:nvPr userDrawn="1"/>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Tree>
    <p:extLst>
      <p:ext uri="{BB962C8B-B14F-4D97-AF65-F5344CB8AC3E}">
        <p14:creationId xmlns:p14="http://schemas.microsoft.com/office/powerpoint/2010/main" val="608181783"/>
      </p:ext>
    </p:extLst>
  </p:cSld>
  <p:clrMapOvr>
    <a:masterClrMapping/>
  </p:clrMapOvr>
  <p:transition>
    <p:fade/>
  </p:transition>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7952"/>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dirty="0"/>
              <a:t>Click to add text</a:t>
            </a:r>
          </a:p>
        </p:txBody>
      </p:sp>
      <p:pic>
        <p:nvPicPr>
          <p:cNvPr id="2" name="Picture 1" descr="Deloitte logo">
            <a:extLst>
              <a:ext uri="{FF2B5EF4-FFF2-40B4-BE49-F238E27FC236}">
                <a16:creationId xmlns:a16="http://schemas.microsoft.com/office/drawing/2014/main" id="{4C074566-129B-653D-CAB9-0DAF93F2A1A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Tree>
    <p:extLst>
      <p:ext uri="{BB962C8B-B14F-4D97-AF65-F5344CB8AC3E}">
        <p14:creationId xmlns:p14="http://schemas.microsoft.com/office/powerpoint/2010/main" val="47009073"/>
      </p:ext>
    </p:extLst>
  </p:cSld>
  <p:clrMapOvr>
    <a:masterClrMapping/>
  </p:clrMapOvr>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theme" Target="../theme/theme1.xml"/><Relationship Id="rId61" Type="http://schemas.openxmlformats.org/officeDocument/2006/relationships/tags" Target="../tags/tag1.xml"/><Relationship Id="rId62" Type="http://schemas.openxmlformats.org/officeDocument/2006/relationships/tags" Target="../tags/tag2.xml"/><Relationship Id="rId63" Type="http://schemas.openxmlformats.org/officeDocument/2006/relationships/oleObject" Target="../embeddings/oleObject1.bin"/><Relationship Id="rId6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p:cNvGraphicFramePr>
          <p:nvPr>
            <p:custDataLst>
              <p:tags r:id="rId61"/>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63" imgW="270" imgH="270" progId="TCLayout.ActiveDocument.1">
                  <p:embed/>
                </p:oleObj>
              </mc:Choice>
              <mc:Fallback>
                <p:oleObj name="think-cell Slide" r:id="rId63" imgW="270" imgH="270" progId="TCLayout.ActiveDocument.1">
                  <p:embed/>
                  <p:pic>
                    <p:nvPicPr>
                      <p:cNvPr id="4" name="Object 3" hidden="1"/>
                      <p:cNvPicPr/>
                      <p:nvPr/>
                    </p:nvPicPr>
                    <p:blipFill>
                      <a:blip r:embed="rId64"/>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74552" cy="340136"/>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Presentation title</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[To edit, click View &gt; Slide Master &gt; Slide Master]</a:t>
            </a:r>
          </a:p>
        </p:txBody>
      </p:sp>
      <p:sp>
        <p:nvSpPr>
          <p:cNvPr id="18" name="Copyright"/>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Deloitte 2026</a:t>
            </a:r>
          </a:p>
        </p:txBody>
      </p:sp>
      <p:sp>
        <p:nvSpPr>
          <p:cNvPr id="19" name="Text Placeholder 18"/>
          <p:cNvSpPr>
            <a:spLocks noGrp="1"/>
          </p:cNvSpPr>
          <p:nvPr>
            <p:ph type="body" idx="1"/>
          </p:nvPr>
        </p:nvSpPr>
        <p:spPr>
          <a:xfrm>
            <a:off x="460093" y="1679602"/>
            <a:ext cx="11274552" cy="466191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‹Nr.›</a:t>
            </a:fld>
            <a:endParaRPr lang="en-US" sz="800" noProof="0" dirty="0">
              <a:solidFill>
                <a:srgbClr val="75787B"/>
              </a:solidFill>
              <a:latin typeface="Aptos" panose="020B0004020202020204" pitchFamily="34" charset="0"/>
              <a:cs typeface="Calibri" panose="020F0502020204030204" pitchFamily="34" charset="0"/>
            </a:endParaRPr>
          </a:p>
        </p:txBody>
      </p:sp>
      <p:sp>
        <p:nvSpPr>
          <p:cNvPr id="5" name="empower - DO NOT DELETE!!!" hidden="1">
            <a:extLst>
              <a:ext uri="{FF2B5EF4-FFF2-40B4-BE49-F238E27FC236}">
                <a16:creationId xmlns:a16="http://schemas.microsoft.com/office/drawing/2014/main" id="{F0D1FA80-C256-A670-1626-C6A1C11F42B7}"/>
              </a:ext>
            </a:extLst>
          </p:cNvPr>
          <p:cNvSpPr/>
          <p:nvPr>
            <p:custDataLst>
              <p:tags r:id="rId62"/>
            </p:custDataLst>
          </p:nvPr>
        </p:nvSpPr>
        <p:spPr bwMode="gray">
          <a:xfrm>
            <a:off x="0" y="0"/>
            <a:ext cx="0" cy="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Tree>
    <p:extLst>
      <p:ext uri="{BB962C8B-B14F-4D97-AF65-F5344CB8AC3E}">
        <p14:creationId xmlns:p14="http://schemas.microsoft.com/office/powerpoint/2010/main" val="19128546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95" pos="3936">
          <p15:clr>
            <a:srgbClr val="F26B43"/>
          </p15:clr>
        </p15:guide>
        <p15:guide id="96" orient="horz" pos="4008">
          <p15:clr>
            <a:srgbClr val="F26B43"/>
          </p15:clr>
        </p15:guide>
        <p15:guide id="97" orient="horz" pos="4104">
          <p15:clr>
            <a:srgbClr val="F26B43"/>
          </p15:clr>
        </p15:guide>
        <p15:guide id="98" orient="horz" pos="1056">
          <p15:clr>
            <a:srgbClr val="F26B43"/>
          </p15:clr>
        </p15:guide>
        <p15:guide id="99" pos="3840">
          <p15:clr>
            <a:srgbClr val="F26B43"/>
          </p15:clr>
        </p15:guide>
        <p15:guide id="100" pos="7392">
          <p15:clr>
            <a:srgbClr val="F26B43"/>
          </p15:clr>
        </p15:guide>
        <p15:guide id="101" orient="horz" pos="216">
          <p15:clr>
            <a:srgbClr val="F26B43"/>
          </p15:clr>
        </p15:guide>
        <p15:guide id="102" orient="horz" pos="432">
          <p15:clr>
            <a:srgbClr val="F26B43"/>
          </p15:clr>
        </p15:guide>
        <p15:guide id="103" pos="288">
          <p15:clr>
            <a:srgbClr val="F26B43"/>
          </p15:clr>
        </p15:guide>
        <p15:guide id="104" pos="374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ormAutofit/>
          </a:bodyPr>
          <a:lstStyle/>
          <a:p>
            <a:r>
              <a:t>Status of eval-clean_Z_1_4dccacb2</a:t>
            </a:r>
          </a:p>
        </p:txBody>
      </p:sp>
      <p:sp>
        <p:nvSpPr>
          <p:cNvPr id="3" name="Text Placeholder 2"/>
          <p:cNvSpPr>
            <a:spLocks noGrp="1"/>
          </p:cNvSpPr>
          <p:nvPr>
            <p:ph type="body" idx="10" sz="quarter"/>
          </p:nvPr>
        </p:nvSpPr>
        <p:spPr/>
        <p:txBody>
          <a:bodyPr wrap="square">
            <a:normAutofit/>
          </a:bodyPr>
          <a:lstStyle/>
          <a:p>
            <a:r>
              <a:t>eval-clean_Z_1_4dccacb2</a:t>
            </a:r>
          </a:p>
        </p:txBody>
      </p:sp>
      <p:sp>
        <p:nvSpPr>
          <p:cNvPr id="5" name="pmi:callout"/>
          <p:cNvSpPr/>
          <p:nvPr/>
        </p:nvSpPr>
        <p:spPr>
          <a:xfrm>
            <a:off x="466344" y="5806440"/>
            <a:ext cx="6095984" cy="54864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a:normAutofit/>
          </a:bodyPr>
          <a:lstStyle/>
          <a:p>
            <a:pPr>
              <a:defRPr sz="1000">
                <a:solidFill>
                  <a:srgbClr val="222222"/>
                </a:solidFill>
              </a:defRPr>
            </a:pPr>
            <a:r>
              <a:t>This document did not pass its own review: The caption on this page names Key Milestones, which appears in no source. Somebody will go looking for them. The caption on this page names Critical Risks, which appears in no source. Somebody will go looking for them. The caption on this page names Financial Status, which appears in no source. Somebody will go looking for them.</a:t>
            </a:r>
          </a:p>
        </p:txBody>
      </p:sp>
      <p:sp>
        <p:nvSpPr>
          <p:cNvPr id="6" name="pmi:callout-rule"/>
          <p:cNvSpPr/>
          <p:nvPr/>
        </p:nvSpPr>
        <p:spPr>
          <a:xfrm>
            <a:off x="466344" y="5806440"/>
            <a:ext cx="45720" cy="5486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wrap="square">
            <a:normAutofit/>
          </a:bodyPr>
          <a:lstStyle/>
          <a:p>
            <a:r>
              <a:t>Executive Summary</a:t>
            </a:r>
          </a:p>
        </p:txBody>
      </p:sp>
      <p:graphicFrame>
        <p:nvGraphicFramePr>
          <p:cNvPr id="4" name="pmi:table:executive-summary.table1-table"/>
          <p:cNvGraphicFramePr>
            <a:graphicFrameLocks noGrp="1"/>
          </p:cNvGraphicFramePr>
          <p:nvPr/>
        </p:nvGraphicFramePr>
        <p:xfrm>
          <a:off x="469900" y="1682496"/>
          <a:ext cx="11274552" cy="2834640"/>
        </p:xfrm>
        <a:graphic>
          <a:graphicData uri="http://schemas.openxmlformats.org/drawingml/2006/table">
            <a:tbl>
              <a:tblPr firstRow="1" bandRow="1">
                <a:tableStyleId>{5C22544A-7EE6-4342-B048-85BDC9FD1C3A}</a:tableStyleId>
              </a:tblPr>
              <a:tblGrid>
                <a:gridCol w="1879092"/>
                <a:gridCol w="1879092"/>
                <a:gridCol w="1879092"/>
                <a:gridCol w="1879092"/>
                <a:gridCol w="1879092"/>
                <a:gridCol w="1879092"/>
              </a:tblGrid>
              <a:tr h="566928">
                <a:tc>
                  <a:txBody>
                    <a:bodyPr wrap="square">
                      <a:normAutofit/>
                    </a:bodyPr>
                    <a:lstStyle/>
                    <a:p>
                      <a:pPr>
                        <a:defRPr sz="1000" b="1">
                          <a:solidFill>
                            <a:srgbClr val="FFFFFF"/>
                          </a:solidFill>
                        </a:defRPr>
                      </a:pPr>
                      <a:r>
                        <a:t>Activity</a:t>
                      </a:r>
                    </a:p>
                  </a:txBody>
                  <a:tcPr marL="54864" marR="54864" marT="18288" marB="18288">
                    <a:solidFill>
                      <a:srgbClr val="046A38"/>
                    </a:solidFill>
                  </a:tcPr>
                </a:tc>
                <a:tc>
                  <a:txBody>
                    <a:bodyPr wrap="square">
                      <a:normAutofit/>
                    </a:bodyPr>
                    <a:lstStyle/>
                    <a:p>
                      <a:pPr>
                        <a:defRPr sz="1000" b="1">
                          <a:solidFill>
                            <a:srgbClr val="FFFFFF"/>
                          </a:solidFill>
                        </a:defRPr>
                      </a:pPr>
                      <a:r>
                        <a:t>Workstream</a:t>
                      </a:r>
                    </a:p>
                  </a:txBody>
                  <a:tcPr marL="54864" marR="54864" marT="18288" marB="18288">
                    <a:solidFill>
                      <a:srgbClr val="046A38"/>
                    </a:solidFill>
                  </a:tcPr>
                </a:tc>
                <a:tc>
                  <a:txBody>
                    <a:bodyPr wrap="square">
                      <a:normAutofit/>
                    </a:bodyPr>
                    <a:lstStyle/>
                    <a:p>
                      <a:pPr>
                        <a:defRPr sz="1000" b="1">
                          <a:solidFill>
                            <a:srgbClr val="FFFFFF"/>
                          </a:solidFill>
                        </a:defRPr>
                      </a:pPr>
                      <a:r>
                        <a:t>Owner</a:t>
                      </a:r>
                    </a:p>
                  </a:txBody>
                  <a:tcPr marL="54864" marR="54864" marT="18288" marB="18288">
                    <a:solidFill>
                      <a:srgbClr val="046A38"/>
                    </a:solidFill>
                  </a:tcPr>
                </a:tc>
                <a:tc>
                  <a:txBody>
                    <a:bodyPr wrap="square">
                      <a:normAutofit/>
                    </a:bodyPr>
                    <a:lstStyle/>
                    <a:p>
                      <a:pPr>
                        <a:defRPr sz="1000" b="1">
                          <a:solidFill>
                            <a:srgbClr val="FFFFFF"/>
                          </a:solidFill>
                        </a:defRPr>
                      </a:pPr>
                      <a:r>
                        <a:t>Due</a:t>
                      </a:r>
                    </a:p>
                  </a:txBody>
                  <a:tcPr marL="54864" marR="54864" marT="18288" marB="18288">
                    <a:solidFill>
                      <a:srgbClr val="046A38"/>
                    </a:solidFill>
                  </a:tcPr>
                </a:tc>
                <a:tc>
                  <a:txBody>
                    <a:bodyPr wrap="square">
                      <a:normAutofit/>
                    </a:bodyPr>
                    <a:lstStyle/>
                    <a:p>
                      <a:pPr algn="r">
                        <a:defRPr sz="1000" b="1">
                          <a:solidFill>
                            <a:srgbClr val="FFFFFF"/>
                          </a:solidFill>
                        </a:defRPr>
                      </a:pPr>
                      <a:r>
                        <a:t>Progress</a:t>
                      </a:r>
                    </a:p>
                  </a:txBody>
                  <a:tcPr marL="54864" marR="54864" marT="18288" marB="18288">
                    <a:solidFill>
                      <a:srgbClr val="046A38"/>
                    </a:solidFill>
                  </a:tcPr>
                </a:tc>
                <a:tc>
                  <a:txBody>
                    <a:bodyPr wrap="square">
                      <a:normAutofit/>
                    </a:bodyPr>
                    <a:lstStyle/>
                    <a:p>
                      <a:pPr>
                        <a:defRPr sz="1000" b="1">
                          <a:solidFill>
                            <a:srgbClr val="FFFFFF"/>
                          </a:solidFill>
                        </a:defRPr>
                      </a:pPr>
                      <a:r>
                        <a:t>Status</a:t>
                      </a:r>
                    </a:p>
                  </a:txBody>
                  <a:tcPr marL="54864" marR="54864" marT="18288" marB="18288">
                    <a:solidFill>
                      <a:srgbClr val="046A38"/>
                    </a:solidFill>
                  </a:tcPr>
                </a:tc>
              </a:tr>
              <a:tr h="566928">
                <a:tc>
                  <a:txBody>
                    <a:bodyPr wrap="square">
                      <a:normAutofit/>
                    </a:bodyPr>
                    <a:lstStyle/>
                    <a:p>
                      <a:pPr>
                        <a:defRPr sz="1000" b="0">
                          <a:solidFill>
                            <a:srgbClr val="222222"/>
                          </a:solidFill>
                        </a:defRPr>
                      </a:pPr>
                      <a:r>
                        <a:t>Cash consideration</a:t>
                      </a:r>
                    </a:p>
                  </a:txBody>
                  <a:tcPr marL="54864" marR="54864" marT="18288" marB="18288">
                    <a:solidFill>
                      <a:srgbClr val="FFFFFF"/>
                    </a:solidFill>
                  </a:tcPr>
                </a:tc>
                <a:tc>
                  <a:txBody>
                    <a:bodyPr wrap="square">
                      <a:normAutofit/>
                    </a:bodyPr>
                    <a:lstStyle/>
                    <a:p>
                      <a:pPr>
                        <a:defRPr sz="1000" b="0">
                          <a:solidFill>
                            <a:srgbClr val="222222"/>
                          </a:solidFill>
                        </a:defRPr>
                      </a:pPr>
                      <a:r>
                        <a:t>Fixes the equity bridge input to the opening balance sheet, M-04</a:t>
                      </a:r>
                    </a:p>
                  </a:txBody>
                  <a:tcPr marL="54864" marR="54864" marT="18288" marB="18288">
                    <a:solidFill>
                      <a:srgbClr val="FFFFFF"/>
                    </a:solidFill>
                  </a:tcPr>
                </a:tc>
                <a:tc>
                  <a:txBody>
                    <a:bodyPr wrap="square">
                      <a:normAutofit/>
                    </a:bodyPr>
                    <a:lstStyle/>
                    <a:p>
                      <a:pPr>
                        <a:defRPr sz="1000" b="0">
                          <a:solidFill>
                            <a:srgbClr val="DA291C"/>
                          </a:solidFill>
                        </a:defRPr>
                      </a:pPr>
                      <a:r>
                        <a:t>⚠ UNASSIGNED</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566928">
                <a:tc>
                  <a:txBody>
                    <a:bodyPr wrap="square">
                      <a:normAutofit/>
                    </a:bodyPr>
                    <a:lstStyle/>
                    <a:p>
                      <a:pPr>
                        <a:defRPr sz="1000" b="0">
                          <a:solidFill>
                            <a:srgbClr val="222222"/>
                          </a:solidFill>
                        </a:defRPr>
                      </a:pPr>
                      <a:r>
                        <a:t>Combined revenue at close</a:t>
                      </a:r>
                    </a:p>
                  </a:txBody>
                  <a:tcPr marL="54864" marR="54864" marT="18288" marB="18288">
                    <a:solidFill>
                      <a:srgbClr val="E6E6E6"/>
                    </a:solidFill>
                  </a:tcPr>
                </a:tc>
                <a:tc>
                  <a:txBody>
                    <a:bodyPr wrap="square">
                      <a:normAutofit/>
                    </a:bodyPr>
                    <a:lstStyle/>
                    <a:p>
                      <a:pPr>
                        <a:defRPr sz="1000" b="0">
                          <a:solidFill>
                            <a:srgbClr val="222222"/>
                          </a:solidFill>
                        </a:defRPr>
                      </a:pPr>
                      <a:r>
                        <a:t>Sets the denominator for every synergy percentage reported to the committee</a:t>
                      </a:r>
                    </a:p>
                  </a:txBody>
                  <a:tcPr marL="54864" marR="54864" marT="18288" marB="18288">
                    <a:solidFill>
                      <a:srgbClr val="E6E6E6"/>
                    </a:solidFill>
                  </a:tcPr>
                </a:tc>
                <a:tc>
                  <a:txBody>
                    <a:bodyPr wrap="square">
                      <a:normAutofit/>
                    </a:bodyPr>
                    <a:lstStyle/>
                    <a:p>
                      <a:pPr>
                        <a:defRPr sz="1000" b="0">
                          <a:solidFill>
                            <a:srgbClr val="DA291C"/>
                          </a:solidFill>
                        </a:defRPr>
                      </a:pPr>
                      <a:r>
                        <a:t>⚠ UNASSIGNED</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r h="566928">
                <a:tc>
                  <a:txBody>
                    <a:bodyPr wrap="square">
                      <a:normAutofit/>
                    </a:bodyPr>
                    <a:lstStyle/>
                    <a:p>
                      <a:pPr>
                        <a:defRPr sz="1000" b="0">
                          <a:solidFill>
                            <a:srgbClr val="222222"/>
                          </a:solidFill>
                        </a:defRPr>
                      </a:pPr>
                      <a:r>
                        <a:t>Committed debt financing</a:t>
                      </a:r>
                    </a:p>
                  </a:txBody>
                  <a:tcPr marL="54864" marR="54864" marT="18288" marB="18288">
                    <a:solidFill>
                      <a:srgbClr val="FFFFFF"/>
                    </a:solidFill>
                  </a:tcPr>
                </a:tc>
                <a:tc>
                  <a:txBody>
                    <a:bodyPr wrap="square">
                      <a:normAutofit/>
                    </a:bodyPr>
                    <a:lstStyle/>
                    <a:p>
                      <a:pPr>
                        <a:defRPr sz="1000" b="0">
                          <a:solidFill>
                            <a:srgbClr val="222222"/>
                          </a:solidFill>
                        </a:defRPr>
                      </a:pPr>
                      <a:r>
                        <a:t>Debt service constrains discretionary integration spend, recorded as risk R-11</a:t>
                      </a:r>
                    </a:p>
                  </a:txBody>
                  <a:tcPr marL="54864" marR="54864" marT="18288" marB="18288">
                    <a:solidFill>
                      <a:srgbClr val="FFFFFF"/>
                    </a:solidFill>
                  </a:tcPr>
                </a:tc>
                <a:tc>
                  <a:txBody>
                    <a:bodyPr wrap="square">
                      <a:normAutofit/>
                    </a:bodyPr>
                    <a:lstStyle/>
                    <a:p>
                      <a:pPr>
                        <a:defRPr sz="1000" b="0">
                          <a:solidFill>
                            <a:srgbClr val="DA291C"/>
                          </a:solidFill>
                        </a:defRPr>
                      </a:pPr>
                      <a:r>
                        <a:t>⚠ UNASSIGNED</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566928">
                <a:tc>
                  <a:txBody>
                    <a:bodyPr wrap="square">
                      <a:normAutofit/>
                    </a:bodyPr>
                    <a:lstStyle/>
                    <a:p>
                      <a:pPr>
                        <a:defRPr sz="1000" b="0">
                          <a:solidFill>
                            <a:srgbClr val="222222"/>
                          </a:solidFill>
                        </a:defRPr>
                      </a:pPr>
                      <a:r>
                        <a:t>Tracking stock</a:t>
                      </a:r>
                    </a:p>
                  </a:txBody>
                  <a:tcPr marL="54864" marR="54864" marT="18288" marB="18288">
                    <a:solidFill>
                      <a:srgbClr val="E6E6E6"/>
                    </a:solidFill>
                  </a:tcPr>
                </a:tc>
                <a:tc>
                  <a:txBody>
                    <a:bodyPr wrap="square">
                      <a:normAutofit/>
                    </a:bodyPr>
                    <a:lstStyle/>
                    <a:p>
                      <a:pPr>
                        <a:defRPr sz="1000" b="0">
                          <a:solidFill>
                            <a:srgbClr val="222222"/>
                          </a:solidFill>
                        </a:defRPr>
                      </a:pPr>
                      <a:r>
                        <a:t>Creates a separate reporting requirement that the finance workstream must design for from Day 1</a:t>
                      </a:r>
                    </a:p>
                  </a:txBody>
                  <a:tcPr marL="54864" marR="54864" marT="18288" marB="18288">
                    <a:solidFill>
                      <a:srgbClr val="E6E6E6"/>
                    </a:solidFill>
                  </a:tcPr>
                </a:tc>
                <a:tc>
                  <a:txBody>
                    <a:bodyPr wrap="square">
                      <a:normAutofit/>
                    </a:bodyPr>
                    <a:lstStyle/>
                    <a:p>
                      <a:pPr>
                        <a:defRPr sz="1000" b="0">
                          <a:solidFill>
                            <a:srgbClr val="DA291C"/>
                          </a:solidFill>
                        </a:defRPr>
                      </a:pPr>
                      <a:r>
                        <a:t>⚠ UNASSIGNED</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bl>
          </a:graphicData>
        </a:graphic>
      </p:graphicFrame>
      <p:sp>
        <p:nvSpPr>
          <p:cNvPr id="5"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DellEMC_VCIO_Workstream_Status_HumanCapital_W3_2016-09-28.pptx (slide 1); DellEMC_VCIO_Weekly_Highlight_Report_W3_2016-09-30.docx (table 5); DellEMC_VCIO_SteerCo_Update_Session02_2016-09-29.pptx (slide 5); DellEMC_VCIO_SteerCo_Minutes_Session01_signed_2016-09-22.pdf (page 2); and 1 more.</a:t>
            </a:r>
          </a:p>
        </p:txBody>
      </p:sp>
      <p:sp>
        <p:nvSpPr>
          <p:cNvPr id="6"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eval-clean_Z_1_4dccacb2  |  Steering Committee</a:t>
            </a:r>
          </a:p>
        </p:txBody>
      </p:sp>
      <p:sp>
        <p:nvSpPr>
          <p:cNvPr id="7"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wrap="square">
            <a:normAutofit/>
          </a:bodyPr>
          <a:lstStyle/>
          <a:p>
            <a:r>
              <a:t>Overall Integration Status</a:t>
            </a:r>
          </a:p>
        </p:txBody>
      </p:sp>
      <p:graphicFrame>
        <p:nvGraphicFramePr>
          <p:cNvPr id="4" name="pmi:table:overall-integration-status.table1-table"/>
          <p:cNvGraphicFramePr>
            <a:graphicFrameLocks noGrp="1"/>
          </p:cNvGraphicFramePr>
          <p:nvPr/>
        </p:nvGraphicFramePr>
        <p:xfrm>
          <a:off x="469900" y="1682496"/>
          <a:ext cx="11274552" cy="2834640"/>
        </p:xfrm>
        <a:graphic>
          <a:graphicData uri="http://schemas.openxmlformats.org/drawingml/2006/table">
            <a:tbl>
              <a:tblPr firstRow="1" bandRow="1">
                <a:tableStyleId>{5C22544A-7EE6-4342-B048-85BDC9FD1C3A}</a:tableStyleId>
              </a:tblPr>
              <a:tblGrid>
                <a:gridCol w="1879092"/>
                <a:gridCol w="1879092"/>
                <a:gridCol w="1879092"/>
                <a:gridCol w="1879092"/>
                <a:gridCol w="1879092"/>
                <a:gridCol w="1879092"/>
              </a:tblGrid>
              <a:tr h="566928">
                <a:tc>
                  <a:txBody>
                    <a:bodyPr wrap="square">
                      <a:normAutofit/>
                    </a:bodyPr>
                    <a:lstStyle/>
                    <a:p>
                      <a:pPr>
                        <a:defRPr sz="1000" b="1">
                          <a:solidFill>
                            <a:srgbClr val="FFFFFF"/>
                          </a:solidFill>
                        </a:defRPr>
                      </a:pPr>
                      <a:r>
                        <a:t>Activity</a:t>
                      </a:r>
                    </a:p>
                  </a:txBody>
                  <a:tcPr marL="54864" marR="54864" marT="18288" marB="18288">
                    <a:solidFill>
                      <a:srgbClr val="046A38"/>
                    </a:solidFill>
                  </a:tcPr>
                </a:tc>
                <a:tc>
                  <a:txBody>
                    <a:bodyPr wrap="square">
                      <a:normAutofit/>
                    </a:bodyPr>
                    <a:lstStyle/>
                    <a:p>
                      <a:pPr>
                        <a:defRPr sz="1000" b="1">
                          <a:solidFill>
                            <a:srgbClr val="FFFFFF"/>
                          </a:solidFill>
                        </a:defRPr>
                      </a:pPr>
                      <a:r>
                        <a:t>Workstream</a:t>
                      </a:r>
                    </a:p>
                  </a:txBody>
                  <a:tcPr marL="54864" marR="54864" marT="18288" marB="18288">
                    <a:solidFill>
                      <a:srgbClr val="046A38"/>
                    </a:solidFill>
                  </a:tcPr>
                </a:tc>
                <a:tc>
                  <a:txBody>
                    <a:bodyPr wrap="square">
                      <a:normAutofit/>
                    </a:bodyPr>
                    <a:lstStyle/>
                    <a:p>
                      <a:pPr>
                        <a:defRPr sz="1000" b="1">
                          <a:solidFill>
                            <a:srgbClr val="FFFFFF"/>
                          </a:solidFill>
                        </a:defRPr>
                      </a:pPr>
                      <a:r>
                        <a:t>Owner</a:t>
                      </a:r>
                    </a:p>
                  </a:txBody>
                  <a:tcPr marL="54864" marR="54864" marT="18288" marB="18288">
                    <a:solidFill>
                      <a:srgbClr val="046A38"/>
                    </a:solidFill>
                  </a:tcPr>
                </a:tc>
                <a:tc>
                  <a:txBody>
                    <a:bodyPr wrap="square">
                      <a:normAutofit/>
                    </a:bodyPr>
                    <a:lstStyle/>
                    <a:p>
                      <a:pPr>
                        <a:defRPr sz="1000" b="1">
                          <a:solidFill>
                            <a:srgbClr val="FFFFFF"/>
                          </a:solidFill>
                        </a:defRPr>
                      </a:pPr>
                      <a:r>
                        <a:t>Due</a:t>
                      </a:r>
                    </a:p>
                  </a:txBody>
                  <a:tcPr marL="54864" marR="54864" marT="18288" marB="18288">
                    <a:solidFill>
                      <a:srgbClr val="046A38"/>
                    </a:solidFill>
                  </a:tcPr>
                </a:tc>
                <a:tc>
                  <a:txBody>
                    <a:bodyPr wrap="square">
                      <a:normAutofit/>
                    </a:bodyPr>
                    <a:lstStyle/>
                    <a:p>
                      <a:pPr algn="r">
                        <a:defRPr sz="1000" b="1">
                          <a:solidFill>
                            <a:srgbClr val="FFFFFF"/>
                          </a:solidFill>
                        </a:defRPr>
                      </a:pPr>
                      <a:r>
                        <a:t>Progress</a:t>
                      </a:r>
                    </a:p>
                  </a:txBody>
                  <a:tcPr marL="54864" marR="54864" marT="18288" marB="18288">
                    <a:solidFill>
                      <a:srgbClr val="046A38"/>
                    </a:solidFill>
                  </a:tcPr>
                </a:tc>
                <a:tc>
                  <a:txBody>
                    <a:bodyPr wrap="square">
                      <a:normAutofit/>
                    </a:bodyPr>
                    <a:lstStyle/>
                    <a:p>
                      <a:pPr>
                        <a:defRPr sz="1000" b="1">
                          <a:solidFill>
                            <a:srgbClr val="FFFFFF"/>
                          </a:solidFill>
                        </a:defRPr>
                      </a:pPr>
                      <a:r>
                        <a:t>Status</a:t>
                      </a:r>
                    </a:p>
                  </a:txBody>
                  <a:tcPr marL="54864" marR="54864" marT="18288" marB="18288">
                    <a:solidFill>
                      <a:srgbClr val="046A38"/>
                    </a:solidFill>
                  </a:tcPr>
                </a:tc>
              </a:tr>
              <a:tr h="566928">
                <a:tc>
                  <a:txBody>
                    <a:bodyPr wrap="square">
                      <a:normAutofit/>
                    </a:bodyPr>
                    <a:lstStyle/>
                    <a:p>
                      <a:pPr>
                        <a:defRPr sz="1000" b="0">
                          <a:solidFill>
                            <a:srgbClr val="222222"/>
                          </a:solidFill>
                        </a:defRPr>
                      </a:pPr>
                      <a:r>
                        <a:t>Committed debt financing</a:t>
                      </a:r>
                    </a:p>
                  </a:txBody>
                  <a:tcPr marL="54864" marR="54864" marT="18288" marB="18288">
                    <a:solidFill>
                      <a:srgbClr val="FFFFFF"/>
                    </a:solidFill>
                  </a:tcPr>
                </a:tc>
                <a:tc>
                  <a:txBody>
                    <a:bodyPr wrap="square">
                      <a:normAutofit/>
                    </a:bodyPr>
                    <a:lstStyle/>
                    <a:p>
                      <a:pPr>
                        <a:defRPr sz="1000" b="0">
                          <a:solidFill>
                            <a:srgbClr val="222222"/>
                          </a:solidFill>
                        </a:defRPr>
                      </a:pPr>
                      <a:r>
                        <a:t>Debt service constrains discretionary integration spend, recorded as risk R-11</a:t>
                      </a:r>
                    </a:p>
                  </a:txBody>
                  <a:tcPr marL="54864" marR="54864" marT="18288" marB="18288">
                    <a:solidFill>
                      <a:srgbClr val="FFFFFF"/>
                    </a:solidFill>
                  </a:tcPr>
                </a:tc>
                <a:tc>
                  <a:txBody>
                    <a:bodyPr wrap="square">
                      <a:normAutofit/>
                    </a:bodyPr>
                    <a:lstStyle/>
                    <a:p>
                      <a:pPr>
                        <a:defRPr sz="1000" b="0">
                          <a:solidFill>
                            <a:srgbClr val="DA291C"/>
                          </a:solidFill>
                        </a:defRPr>
                      </a:pPr>
                      <a:r>
                        <a:t>⚠ UNASSIGNED</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566928">
                <a:tc>
                  <a:txBody>
                    <a:bodyPr wrap="square">
                      <a:normAutofit/>
                    </a:bodyPr>
                    <a:lstStyle/>
                    <a:p>
                      <a:pPr>
                        <a:defRPr sz="1000" b="0">
                          <a:solidFill>
                            <a:srgbClr val="222222"/>
                          </a:solidFill>
                        </a:defRPr>
                      </a:pPr>
                      <a:r>
                        <a:t>Cash consideration</a:t>
                      </a:r>
                    </a:p>
                  </a:txBody>
                  <a:tcPr marL="54864" marR="54864" marT="18288" marB="18288">
                    <a:solidFill>
                      <a:srgbClr val="E6E6E6"/>
                    </a:solidFill>
                  </a:tcPr>
                </a:tc>
                <a:tc>
                  <a:txBody>
                    <a:bodyPr wrap="square">
                      <a:normAutofit/>
                    </a:bodyPr>
                    <a:lstStyle/>
                    <a:p>
                      <a:pPr>
                        <a:defRPr sz="1000" b="0">
                          <a:solidFill>
                            <a:srgbClr val="222222"/>
                          </a:solidFill>
                        </a:defRPr>
                      </a:pPr>
                      <a:r>
                        <a:t>Fixes the equity bridge input to the opening balance sheet, M-04</a:t>
                      </a:r>
                    </a:p>
                  </a:txBody>
                  <a:tcPr marL="54864" marR="54864" marT="18288" marB="18288">
                    <a:solidFill>
                      <a:srgbClr val="E6E6E6"/>
                    </a:solidFill>
                  </a:tcPr>
                </a:tc>
                <a:tc>
                  <a:txBody>
                    <a:bodyPr wrap="square">
                      <a:normAutofit/>
                    </a:bodyPr>
                    <a:lstStyle/>
                    <a:p>
                      <a:pPr>
                        <a:defRPr sz="1000" b="0">
                          <a:solidFill>
                            <a:srgbClr val="DA291C"/>
                          </a:solidFill>
                        </a:defRPr>
                      </a:pPr>
                      <a:r>
                        <a:t>⚠ UNASSIGNED</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r h="566928">
                <a:tc>
                  <a:txBody>
                    <a:bodyPr wrap="square">
                      <a:normAutofit/>
                    </a:bodyPr>
                    <a:lstStyle/>
                    <a:p>
                      <a:pPr>
                        <a:defRPr sz="1000" b="0">
                          <a:solidFill>
                            <a:srgbClr val="222222"/>
                          </a:solidFill>
                        </a:defRPr>
                      </a:pPr>
                      <a:r>
                        <a:t>Combined revenue at close</a:t>
                      </a:r>
                    </a:p>
                  </a:txBody>
                  <a:tcPr marL="54864" marR="54864" marT="18288" marB="18288">
                    <a:solidFill>
                      <a:srgbClr val="FFFFFF"/>
                    </a:solidFill>
                  </a:tcPr>
                </a:tc>
                <a:tc>
                  <a:txBody>
                    <a:bodyPr wrap="square">
                      <a:normAutofit/>
                    </a:bodyPr>
                    <a:lstStyle/>
                    <a:p>
                      <a:pPr>
                        <a:defRPr sz="1000" b="0">
                          <a:solidFill>
                            <a:srgbClr val="222222"/>
                          </a:solidFill>
                        </a:defRPr>
                      </a:pPr>
                      <a:r>
                        <a:t>Sets the denominator for every synergy percentage reported to the committee</a:t>
                      </a:r>
                    </a:p>
                  </a:txBody>
                  <a:tcPr marL="54864" marR="54864" marT="18288" marB="18288">
                    <a:solidFill>
                      <a:srgbClr val="FFFFFF"/>
                    </a:solidFill>
                  </a:tcPr>
                </a:tc>
                <a:tc>
                  <a:txBody>
                    <a:bodyPr wrap="square">
                      <a:normAutofit/>
                    </a:bodyPr>
                    <a:lstStyle/>
                    <a:p>
                      <a:pPr>
                        <a:defRPr sz="1000" b="0">
                          <a:solidFill>
                            <a:srgbClr val="DA291C"/>
                          </a:solidFill>
                        </a:defRPr>
                      </a:pPr>
                      <a:r>
                        <a:t>⚠ UNASSIGNED</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566928">
                <a:tc>
                  <a:txBody>
                    <a:bodyPr wrap="square">
                      <a:normAutofit/>
                    </a:bodyPr>
                    <a:lstStyle/>
                    <a:p>
                      <a:pPr>
                        <a:defRPr sz="1000" b="0">
                          <a:solidFill>
                            <a:srgbClr val="222222"/>
                          </a:solidFill>
                        </a:defRPr>
                      </a:pPr>
                      <a:r>
                        <a:t>Tracking stock</a:t>
                      </a:r>
                    </a:p>
                  </a:txBody>
                  <a:tcPr marL="54864" marR="54864" marT="18288" marB="18288">
                    <a:solidFill>
                      <a:srgbClr val="E6E6E6"/>
                    </a:solidFill>
                  </a:tcPr>
                </a:tc>
                <a:tc>
                  <a:txBody>
                    <a:bodyPr wrap="square">
                      <a:normAutofit/>
                    </a:bodyPr>
                    <a:lstStyle/>
                    <a:p>
                      <a:pPr>
                        <a:defRPr sz="1000" b="0">
                          <a:solidFill>
                            <a:srgbClr val="222222"/>
                          </a:solidFill>
                        </a:defRPr>
                      </a:pPr>
                      <a:r>
                        <a:t>Creates a separate reporting requirement that the finance workstream must design for from Day 1</a:t>
                      </a:r>
                    </a:p>
                  </a:txBody>
                  <a:tcPr marL="54864" marR="54864" marT="18288" marB="18288">
                    <a:solidFill>
                      <a:srgbClr val="E6E6E6"/>
                    </a:solidFill>
                  </a:tcPr>
                </a:tc>
                <a:tc>
                  <a:txBody>
                    <a:bodyPr wrap="square">
                      <a:normAutofit/>
                    </a:bodyPr>
                    <a:lstStyle/>
                    <a:p>
                      <a:pPr>
                        <a:defRPr sz="1000" b="0">
                          <a:solidFill>
                            <a:srgbClr val="DA291C"/>
                          </a:solidFill>
                        </a:defRPr>
                      </a:pPr>
                      <a:r>
                        <a:t>⚠ UNASSIGNED</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bl>
          </a:graphicData>
        </a:graphic>
      </p:graphicFrame>
      <p:sp>
        <p:nvSpPr>
          <p:cNvPr id="5"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DellEMC_VCIO_Merger_Agreement_Key_Terms_2015-10-12.pdf (page 1); DellEMC_VCIO_Eskalation_Mailverlauf_M-07_2016-09-28.html (table 1); DellEMC_VCIO_Expertenrunde_ERP_Konsolidierung_2016-09-21.docx (table 2); DellEMC_VCIO_Expertenrunde_ERP_Konsolidierung_2016-09-21.docx (table 7); and 80 more.</a:t>
            </a:r>
          </a:p>
        </p:txBody>
      </p:sp>
      <p:sp>
        <p:nvSpPr>
          <p:cNvPr id="6"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eval-clean_Z_1_4dccacb2  |  Steering Committee</a:t>
            </a:r>
          </a:p>
        </p:txBody>
      </p:sp>
      <p:sp>
        <p:nvSpPr>
          <p:cNvPr id="7"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normAutofit/>
          </a:bodyPr>
          <a:lstStyle/>
          <a:p>
            <a:r>
              <a:t>4 workstream(s) did not report this period — progress cannot be confirmed</a:t>
            </a:r>
          </a:p>
        </p:txBody>
      </p:sp>
      <p:sp>
        <p:nvSpPr>
          <p:cNvPr id="3" name="Title 2"/>
          <p:cNvSpPr>
            <a:spLocks noGrp="1"/>
          </p:cNvSpPr>
          <p:nvPr>
            <p:ph type="title"/>
          </p:nvPr>
        </p:nvSpPr>
        <p:spPr/>
        <p:txBody>
          <a:bodyPr wrap="square">
            <a:normAutofit/>
          </a:bodyPr>
          <a:lstStyle/>
          <a:p>
            <a:r>
              <a:t>Workstream Status</a:t>
            </a:r>
          </a:p>
        </p:txBody>
      </p:sp>
      <p:graphicFrame>
        <p:nvGraphicFramePr>
          <p:cNvPr id="4" name="pmi:table:workstream-status.table1-table"/>
          <p:cNvGraphicFramePr>
            <a:graphicFrameLocks noGrp="1"/>
          </p:cNvGraphicFramePr>
          <p:nvPr/>
        </p:nvGraphicFramePr>
        <p:xfrm>
          <a:off x="469900" y="1682496"/>
          <a:ext cx="11274552" cy="2834640"/>
        </p:xfrm>
        <a:graphic>
          <a:graphicData uri="http://schemas.openxmlformats.org/drawingml/2006/table">
            <a:tbl>
              <a:tblPr firstRow="1" bandRow="1">
                <a:tableStyleId>{5C22544A-7EE6-4342-B048-85BDC9FD1C3A}</a:tableStyleId>
              </a:tblPr>
              <a:tblGrid>
                <a:gridCol w="2818638"/>
                <a:gridCol w="2818638"/>
                <a:gridCol w="2818638"/>
                <a:gridCol w="2818638"/>
              </a:tblGrid>
              <a:tr h="566928">
                <a:tc>
                  <a:txBody>
                    <a:bodyPr wrap="square">
                      <a:normAutofit/>
                    </a:bodyPr>
                    <a:lstStyle/>
                    <a:p>
                      <a:pPr>
                        <a:defRPr sz="1000" b="1">
                          <a:solidFill>
                            <a:srgbClr val="FFFFFF"/>
                          </a:solidFill>
                        </a:defRPr>
                      </a:pPr>
                      <a:r>
                        <a:t>Workstream</a:t>
                      </a:r>
                    </a:p>
                  </a:txBody>
                  <a:tcPr marL="54864" marR="54864" marT="18288" marB="18288">
                    <a:solidFill>
                      <a:srgbClr val="046A38"/>
                    </a:solidFill>
                  </a:tcPr>
                </a:tc>
                <a:tc>
                  <a:txBody>
                    <a:bodyPr wrap="square">
                      <a:normAutofit/>
                    </a:bodyPr>
                    <a:lstStyle/>
                    <a:p>
                      <a:pPr>
                        <a:defRPr sz="1000" b="1">
                          <a:solidFill>
                            <a:srgbClr val="FFFFFF"/>
                          </a:solidFill>
                        </a:defRPr>
                      </a:pPr>
                      <a:r>
                        <a:t>Lead</a:t>
                      </a:r>
                    </a:p>
                  </a:txBody>
                  <a:tcPr marL="54864" marR="54864" marT="18288" marB="18288">
                    <a:solidFill>
                      <a:srgbClr val="046A38"/>
                    </a:solidFill>
                  </a:tcPr>
                </a:tc>
                <a:tc>
                  <a:txBody>
                    <a:bodyPr wrap="square">
                      <a:normAutofit/>
                    </a:bodyPr>
                    <a:lstStyle/>
                    <a:p>
                      <a:pPr algn="r">
                        <a:defRPr sz="1000" b="1">
                          <a:solidFill>
                            <a:srgbClr val="FFFFFF"/>
                          </a:solidFill>
                        </a:defRPr>
                      </a:pPr>
                      <a:r>
                        <a:t>Progress</a:t>
                      </a:r>
                    </a:p>
                  </a:txBody>
                  <a:tcPr marL="54864" marR="54864" marT="18288" marB="18288">
                    <a:solidFill>
                      <a:srgbClr val="046A38"/>
                    </a:solidFill>
                  </a:tcPr>
                </a:tc>
                <a:tc>
                  <a:txBody>
                    <a:bodyPr wrap="square">
                      <a:normAutofit/>
                    </a:bodyPr>
                    <a:lstStyle/>
                    <a:p>
                      <a:pPr>
                        <a:defRPr sz="1000" b="1">
                          <a:solidFill>
                            <a:srgbClr val="FFFFFF"/>
                          </a:solidFill>
                        </a:defRPr>
                      </a:pPr>
                      <a:r>
                        <a:t>Status</a:t>
                      </a:r>
                    </a:p>
                  </a:txBody>
                  <a:tcPr marL="54864" marR="54864" marT="18288" marB="18288">
                    <a:solidFill>
                      <a:srgbClr val="046A38"/>
                    </a:solidFill>
                  </a:tcPr>
                </a:tc>
              </a:tr>
              <a:tr h="566928">
                <a:tc>
                  <a:txBody>
                    <a:bodyPr wrap="square">
                      <a:normAutofit/>
                    </a:bodyPr>
                    <a:lstStyle/>
                    <a:p>
                      <a:pPr>
                        <a:defRPr sz="1000" b="0">
                          <a:solidFill>
                            <a:srgbClr val="222222"/>
                          </a:solidFill>
                        </a:defRPr>
                      </a:pPr>
                      <a:r>
                        <a:t>Creates a separate reporting requirement that the finance workstream must design for from Day 1</a:t>
                      </a:r>
                    </a:p>
                  </a:txBody>
                  <a:tcPr marL="54864" marR="54864" marT="18288" marB="18288">
                    <a:solidFill>
                      <a:srgbClr val="FFFFFF"/>
                    </a:solidFill>
                  </a:tcPr>
                </a:tc>
                <a:tc>
                  <a:txBody>
                    <a:bodyPr wrap="square">
                      <a:normAutofit/>
                    </a:bodyPr>
                    <a:lstStyle/>
                    <a:p>
                      <a:pPr>
                        <a:defRPr sz="1000" b="0">
                          <a:solidFill>
                            <a:srgbClr val="DA291C"/>
                          </a:solidFill>
                        </a:defRPr>
                      </a:pPr>
                      <a:r>
                        <a:t>⚠ NO LEAD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566928">
                <a:tc>
                  <a:txBody>
                    <a:bodyPr wrap="square">
                      <a:normAutofit/>
                    </a:bodyPr>
                    <a:lstStyle/>
                    <a:p>
                      <a:pPr>
                        <a:defRPr sz="1000" b="0">
                          <a:solidFill>
                            <a:srgbClr val="222222"/>
                          </a:solidFill>
                        </a:defRPr>
                      </a:pPr>
                      <a:r>
                        <a:t>Sets the denominator for every synergy percentage reported to the committee</a:t>
                      </a:r>
                    </a:p>
                  </a:txBody>
                  <a:tcPr marL="54864" marR="54864" marT="18288" marB="18288">
                    <a:solidFill>
                      <a:srgbClr val="E6E6E6"/>
                    </a:solidFill>
                  </a:tcPr>
                </a:tc>
                <a:tc>
                  <a:txBody>
                    <a:bodyPr wrap="square">
                      <a:normAutofit/>
                    </a:bodyPr>
                    <a:lstStyle/>
                    <a:p>
                      <a:pPr>
                        <a:defRPr sz="1000" b="0">
                          <a:solidFill>
                            <a:srgbClr val="DA291C"/>
                          </a:solidFill>
                        </a:defRPr>
                      </a:pPr>
                      <a:r>
                        <a:t>⚠ NO LEAD</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r h="566928">
                <a:tc>
                  <a:txBody>
                    <a:bodyPr wrap="square">
                      <a:normAutofit/>
                    </a:bodyPr>
                    <a:lstStyle/>
                    <a:p>
                      <a:pPr>
                        <a:defRPr sz="1000" b="0">
                          <a:solidFill>
                            <a:srgbClr val="222222"/>
                          </a:solidFill>
                        </a:defRPr>
                      </a:pPr>
                      <a:r>
                        <a:t>Fixes the equity bridge input to the opening balance sheet, M-04</a:t>
                      </a:r>
                    </a:p>
                  </a:txBody>
                  <a:tcPr marL="54864" marR="54864" marT="18288" marB="18288">
                    <a:solidFill>
                      <a:srgbClr val="FFFFFF"/>
                    </a:solidFill>
                  </a:tcPr>
                </a:tc>
                <a:tc>
                  <a:txBody>
                    <a:bodyPr wrap="square">
                      <a:normAutofit/>
                    </a:bodyPr>
                    <a:lstStyle/>
                    <a:p>
                      <a:pPr>
                        <a:defRPr sz="1000" b="0">
                          <a:solidFill>
                            <a:srgbClr val="DA291C"/>
                          </a:solidFill>
                        </a:defRPr>
                      </a:pPr>
                      <a:r>
                        <a:t>⚠ NO LEAD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566928">
                <a:tc>
                  <a:txBody>
                    <a:bodyPr wrap="square">
                      <a:normAutofit/>
                    </a:bodyPr>
                    <a:lstStyle/>
                    <a:p>
                      <a:pPr>
                        <a:defRPr sz="1000" b="0">
                          <a:solidFill>
                            <a:srgbClr val="222222"/>
                          </a:solidFill>
                        </a:defRPr>
                      </a:pPr>
                      <a:r>
                        <a:t>Debt service constrains discretionary integration spend, recorded as risk R-11</a:t>
                      </a:r>
                    </a:p>
                  </a:txBody>
                  <a:tcPr marL="54864" marR="54864" marT="18288" marB="18288">
                    <a:solidFill>
                      <a:srgbClr val="E6E6E6"/>
                    </a:solidFill>
                  </a:tcPr>
                </a:tc>
                <a:tc>
                  <a:txBody>
                    <a:bodyPr wrap="square">
                      <a:normAutofit/>
                    </a:bodyPr>
                    <a:lstStyle/>
                    <a:p>
                      <a:pPr>
                        <a:defRPr sz="1000" b="0">
                          <a:solidFill>
                            <a:srgbClr val="DA291C"/>
                          </a:solidFill>
                        </a:defRPr>
                      </a:pPr>
                      <a:r>
                        <a:t>⚠ NO LEAD</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bl>
          </a:graphicData>
        </a:graphic>
      </p:graphicFrame>
      <p:sp>
        <p:nvSpPr>
          <p:cNvPr id="5"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DellEMC_VCIO_Merger_Agreement_Key_Terms_2015-10-12.pdf (page 1).</a:t>
            </a:r>
          </a:p>
        </p:txBody>
      </p:sp>
      <p:sp>
        <p:nvSpPr>
          <p:cNvPr id="6"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eval-clean_Z_1_4dccacb2  |  Steering Committee</a:t>
            </a:r>
          </a:p>
        </p:txBody>
      </p:sp>
      <p:sp>
        <p:nvSpPr>
          <p:cNvPr id="7"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normAutofit/>
          </a:bodyPr>
          <a:lstStyle/>
          <a:p>
            <a:r>
              <a:t>All milestones are on plan</a:t>
            </a:r>
          </a:p>
        </p:txBody>
      </p:sp>
      <p:sp>
        <p:nvSpPr>
          <p:cNvPr id="3" name="Title 2"/>
          <p:cNvSpPr>
            <a:spLocks noGrp="1"/>
          </p:cNvSpPr>
          <p:nvPr>
            <p:ph type="title"/>
          </p:nvPr>
        </p:nvSpPr>
        <p:spPr/>
        <p:txBody>
          <a:bodyPr wrap="square">
            <a:normAutofit/>
          </a:bodyPr>
          <a:lstStyle/>
          <a:p>
            <a:r>
              <a:t>Key Milestones</a:t>
            </a:r>
          </a:p>
        </p:txBody>
      </p:sp>
      <p:graphicFrame>
        <p:nvGraphicFramePr>
          <p:cNvPr id="4" name="pmi:table:key-milestones.table1-table"/>
          <p:cNvGraphicFramePr>
            <a:graphicFrameLocks noGrp="1"/>
          </p:cNvGraphicFramePr>
          <p:nvPr/>
        </p:nvGraphicFramePr>
        <p:xfrm>
          <a:off x="469900" y="1682496"/>
          <a:ext cx="11274552" cy="4133088"/>
        </p:xfrm>
        <a:graphic>
          <a:graphicData uri="http://schemas.openxmlformats.org/drawingml/2006/table">
            <a:tbl>
              <a:tblPr firstRow="1" bandRow="1">
                <a:tableStyleId>{5C22544A-7EE6-4342-B048-85BDC9FD1C3A}</a:tableStyleId>
              </a:tblPr>
              <a:tblGrid>
                <a:gridCol w="1879092"/>
                <a:gridCol w="1879092"/>
                <a:gridCol w="1879092"/>
                <a:gridCol w="1879092"/>
                <a:gridCol w="1879092"/>
                <a:gridCol w="1879092"/>
              </a:tblGrid>
              <a:tr h="459232">
                <a:tc>
                  <a:txBody>
                    <a:bodyPr wrap="square">
                      <a:normAutofit/>
                    </a:bodyPr>
                    <a:lstStyle/>
                    <a:p>
                      <a:pPr>
                        <a:defRPr sz="1000" b="1">
                          <a:solidFill>
                            <a:srgbClr val="FFFFFF"/>
                          </a:solidFill>
                        </a:defRPr>
                      </a:pPr>
                      <a:r>
                        <a:t>Milestone</a:t>
                      </a:r>
                    </a:p>
                  </a:txBody>
                  <a:tcPr marL="54864" marR="54864" marT="18288" marB="18288">
                    <a:solidFill>
                      <a:srgbClr val="046A38"/>
                    </a:solidFill>
                  </a:tcPr>
                </a:tc>
                <a:tc>
                  <a:txBody>
                    <a:bodyPr wrap="square">
                      <a:normAutofit/>
                    </a:bodyPr>
                    <a:lstStyle/>
                    <a:p>
                      <a:pPr>
                        <a:defRPr sz="1000" b="1">
                          <a:solidFill>
                            <a:srgbClr val="FFFFFF"/>
                          </a:solidFill>
                        </a:defRPr>
                      </a:pPr>
                      <a:r>
                        <a:t>Workstream</a:t>
                      </a:r>
                    </a:p>
                  </a:txBody>
                  <a:tcPr marL="54864" marR="54864" marT="18288" marB="18288">
                    <a:solidFill>
                      <a:srgbClr val="046A38"/>
                    </a:solidFill>
                  </a:tcPr>
                </a:tc>
                <a:tc>
                  <a:txBody>
                    <a:bodyPr wrap="square">
                      <a:normAutofit/>
                    </a:bodyPr>
                    <a:lstStyle/>
                    <a:p>
                      <a:pPr>
                        <a:defRPr sz="1000" b="1">
                          <a:solidFill>
                            <a:srgbClr val="FFFFFF"/>
                          </a:solidFill>
                        </a:defRPr>
                      </a:pPr>
                      <a:r>
                        <a:t>Planned</a:t>
                      </a:r>
                    </a:p>
                  </a:txBody>
                  <a:tcPr marL="54864" marR="54864" marT="18288" marB="18288">
                    <a:solidFill>
                      <a:srgbClr val="046A38"/>
                    </a:solidFill>
                  </a:tcPr>
                </a:tc>
                <a:tc>
                  <a:txBody>
                    <a:bodyPr wrap="square">
                      <a:normAutofit/>
                    </a:bodyPr>
                    <a:lstStyle/>
                    <a:p>
                      <a:pPr>
                        <a:defRPr sz="1000" b="1">
                          <a:solidFill>
                            <a:srgbClr val="FFFFFF"/>
                          </a:solidFill>
                        </a:defRPr>
                      </a:pPr>
                      <a:r>
                        <a:t>Forecast</a:t>
                      </a:r>
                    </a:p>
                  </a:txBody>
                  <a:tcPr marL="54864" marR="54864" marT="18288" marB="18288">
                    <a:solidFill>
                      <a:srgbClr val="046A38"/>
                    </a:solidFill>
                  </a:tcPr>
                </a:tc>
                <a:tc>
                  <a:txBody>
                    <a:bodyPr wrap="square">
                      <a:normAutofit/>
                    </a:bodyPr>
                    <a:lstStyle/>
                    <a:p>
                      <a:pPr algn="r">
                        <a:defRPr sz="1000" b="1">
                          <a:solidFill>
                            <a:srgbClr val="FFFFFF"/>
                          </a:solidFill>
                        </a:defRPr>
                      </a:pPr>
                      <a:r>
                        <a:t>Slippage</a:t>
                      </a:r>
                    </a:p>
                  </a:txBody>
                  <a:tcPr marL="54864" marR="54864" marT="18288" marB="18288">
                    <a:solidFill>
                      <a:srgbClr val="046A38"/>
                    </a:solidFill>
                  </a:tcPr>
                </a:tc>
                <a:tc>
                  <a:txBody>
                    <a:bodyPr wrap="square">
                      <a:normAutofit/>
                    </a:bodyPr>
                    <a:lstStyle/>
                    <a:p>
                      <a:pPr>
                        <a:defRPr sz="1000" b="1">
                          <a:solidFill>
                            <a:srgbClr val="FFFFFF"/>
                          </a:solidFill>
                        </a:defRPr>
                      </a:pPr>
                      <a:r>
                        <a:t>Status</a:t>
                      </a:r>
                    </a:p>
                  </a:txBody>
                  <a:tcPr marL="54864" marR="54864" marT="18288" marB="18288">
                    <a:solidFill>
                      <a:srgbClr val="046A38"/>
                    </a:solidFill>
                  </a:tcPr>
                </a:tc>
              </a:tr>
              <a:tr h="459232">
                <a:tc>
                  <a:txBody>
                    <a:bodyPr wrap="square">
                      <a:normAutofit/>
                    </a:bodyPr>
                    <a:lstStyle/>
                    <a:p>
                      <a:pPr>
                        <a:defRPr sz="1000" b="0">
                          <a:solidFill>
                            <a:srgbClr val="222222"/>
                          </a:solidFill>
                        </a:defRPr>
                      </a:pPr>
                      <a:r>
                        <a:t>9</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459232">
                <a:tc>
                  <a:txBody>
                    <a:bodyPr wrap="square">
                      <a:normAutofit/>
                    </a:bodyPr>
                    <a:lstStyle/>
                    <a:p>
                      <a:pPr>
                        <a:defRPr sz="1000" b="0">
                          <a:solidFill>
                            <a:srgbClr val="222222"/>
                          </a:solidFill>
                        </a:defRPr>
                      </a:pPr>
                      <a:r>
                        <a:t>4</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r h="459232">
                <a:tc>
                  <a:txBody>
                    <a:bodyPr wrap="square">
                      <a:normAutofit/>
                    </a:bodyPr>
                    <a:lstStyle/>
                    <a:p>
                      <a:pPr>
                        <a:defRPr sz="1000" b="0">
                          <a:solidFill>
                            <a:srgbClr val="222222"/>
                          </a:solidFill>
                        </a:defRPr>
                      </a:pPr>
                      <a:r>
                        <a:t>7</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459232">
                <a:tc>
                  <a:txBody>
                    <a:bodyPr wrap="square">
                      <a:normAutofit/>
                    </a:bodyPr>
                    <a:lstStyle/>
                    <a:p>
                      <a:pPr>
                        <a:defRPr sz="1000" b="0">
                          <a:solidFill>
                            <a:srgbClr val="222222"/>
                          </a:solidFill>
                        </a:defRPr>
                      </a:pPr>
                      <a:r>
                        <a:t>6</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r h="459232">
                <a:tc>
                  <a:txBody>
                    <a:bodyPr wrap="square">
                      <a:normAutofit/>
                    </a:bodyPr>
                    <a:lstStyle/>
                    <a:p>
                      <a:pPr>
                        <a:defRPr sz="1000" b="0">
                          <a:solidFill>
                            <a:srgbClr val="222222"/>
                          </a:solidFill>
                        </a:defRPr>
                      </a:pPr>
                      <a:r>
                        <a:t>4</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459232">
                <a:tc>
                  <a:txBody>
                    <a:bodyPr wrap="square">
                      <a:normAutofit/>
                    </a:bodyPr>
                    <a:lstStyle/>
                    <a:p>
                      <a:pPr>
                        <a:defRPr sz="1000" b="0">
                          <a:solidFill>
                            <a:srgbClr val="222222"/>
                          </a:solidFill>
                        </a:defRPr>
                      </a:pPr>
                      <a:r>
                        <a:t>5</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r h="459232">
                <a:tc>
                  <a:txBody>
                    <a:bodyPr wrap="square">
                      <a:normAutofit/>
                    </a:bodyPr>
                    <a:lstStyle/>
                    <a:p>
                      <a:pPr>
                        <a:defRPr sz="1000" b="0">
                          <a:solidFill>
                            <a:srgbClr val="222222"/>
                          </a:solidFill>
                        </a:defRPr>
                      </a:pPr>
                      <a:r>
                        <a:t>3</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lgn="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r>
              <a:tr h="459232">
                <a:tc>
                  <a:txBody>
                    <a:bodyPr wrap="square">
                      <a:normAutofit/>
                    </a:bodyPr>
                    <a:lstStyle/>
                    <a:p>
                      <a:pPr>
                        <a:defRPr sz="1000" b="0">
                          <a:solidFill>
                            <a:srgbClr val="222222"/>
                          </a:solidFill>
                        </a:defRPr>
                      </a:pPr>
                      <a:r>
                        <a:t>18</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lgn="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r>
            </a:tbl>
          </a:graphicData>
        </a:graphic>
      </p:graphicFrame>
      <p:sp>
        <p:nvSpPr>
          <p:cNvPr id="5" name="pmi:caption"/>
          <p:cNvSpPr txBox="1"/>
          <p:nvPr/>
        </p:nvSpPr>
        <p:spPr>
          <a:xfrm>
            <a:off x="469900" y="5815584"/>
            <a:ext cx="11274552" cy="219456"/>
          </a:xfrm>
          <a:prstGeom prst="rect">
            <a:avLst/>
          </a:prstGeom>
          <a:noFill/>
        </p:spPr>
        <p:txBody>
          <a:bodyPr wrap="square">
            <a:normAutofit/>
          </a:bodyPr>
          <a:lstStyle/>
          <a:p>
            <a:pPr>
              <a:defRPr sz="900" b="0" i="1">
                <a:solidFill>
                  <a:srgbClr val="75787B"/>
                </a:solidFill>
              </a:defRPr>
            </a:pPr>
            <a:r>
              <a:t>Showing 8 of 12 rows.</a:t>
            </a:r>
          </a:p>
        </p:txBody>
      </p:sp>
      <p:sp>
        <p:nvSpPr>
          <p:cNvPr id="6"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DellEMC_VCIO_Integration_Tracker_W3_2016-09-29.xlsx (sheet 'Auswertung'!A15:G15); DellEMC_VCIO_Integration_Tracker_W3_2016-09-29.xlsx (sheet 'Auswertung'!A16:G16); DellEMC_VCIO_Integration_Tracker_W3_2016-09-29.xlsx (sheet 'Auswertung'!A17:G17); DellEMC_VCIO_Integration_Tracker_W3_2016-09-29.xlsx (sheet 'Auswertung'!A18:G18); and 8 more.</a:t>
            </a:r>
          </a:p>
        </p:txBody>
      </p:sp>
      <p:sp>
        <p:nvSpPr>
          <p:cNvPr id="7"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eval-clean_Z_1_4dccacb2  |  Steering Committee</a:t>
            </a:r>
          </a:p>
        </p:txBody>
      </p:sp>
      <p:sp>
        <p:nvSpPr>
          <p:cNvPr id="8"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3" sz="quarter"/>
          </p:nvPr>
        </p:nvSpPr>
        <p:spPr/>
        <p:txBody>
          <a:bodyPr wrap="square">
            <a:normAutofit/>
          </a:bodyPr>
          <a:lstStyle/>
          <a:p>
            <a:r>
              <a:t>4 critical risk(s) are open and mitigated</a:t>
            </a:r>
          </a:p>
        </p:txBody>
      </p:sp>
      <p:sp>
        <p:nvSpPr>
          <p:cNvPr id="5" name="Title 4"/>
          <p:cNvSpPr>
            <a:spLocks noGrp="1"/>
          </p:cNvSpPr>
          <p:nvPr>
            <p:ph type="title"/>
          </p:nvPr>
        </p:nvSpPr>
        <p:spPr/>
        <p:txBody>
          <a:bodyPr wrap="square">
            <a:normAutofit/>
          </a:bodyPr>
          <a:lstStyle/>
          <a:p>
            <a:r>
              <a:t>Critical Risks and Issues</a:t>
            </a:r>
          </a:p>
        </p:txBody>
      </p:sp>
      <p:graphicFrame>
        <p:nvGraphicFramePr>
          <p:cNvPr id="6" name="Chart 5"/>
          <p:cNvGraphicFramePr>
            <a:graphicFrameLocks noGrp="1"/>
          </p:cNvGraphicFramePr>
          <p:nvPr/>
        </p:nvGraphicFramePr>
        <p:xfrm>
          <a:off x="469900" y="1682496"/>
          <a:ext cx="5486400" cy="4389120"/>
        </p:xfrm>
        <a:graphic>
          <a:graphicData uri="http://schemas.openxmlformats.org/drawingml/2006/chart">
            <c:chart xmlns:c="http://schemas.openxmlformats.org/drawingml/2006/chart" r:id="rId2"/>
          </a:graphicData>
        </a:graphic>
      </p:graphicFrame>
      <p:sp>
        <p:nvSpPr>
          <p:cNvPr id="7"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DellEMC_VCIO_RACI_Matrix_Integration_Hub_2016-09-23.html (table 2); DellEMC_VCIO_RAID_Log_W3_2016-09-29.xlsx (sheet 'Issues'!A8:L8); DellEMC_VCIO_SteerCo_Minutes_Session01_signed_2016-09-22.pdf (page 2); DellEMC_VCIO_RAID_Log_W3_2016-09-29.xlsx (sheet 'Risks'!A8:M8); and 6 more.</a:t>
            </a:r>
          </a:p>
        </p:txBody>
      </p:sp>
      <p:sp>
        <p:nvSpPr>
          <p:cNvPr id="8"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eval-clean_Z_1_4dccacb2  |  Steering Committee</a:t>
            </a:r>
          </a:p>
        </p:txBody>
      </p:sp>
      <p:sp>
        <p:nvSpPr>
          <p:cNvPr id="9"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3" sz="quarter"/>
          </p:nvPr>
        </p:nvSpPr>
        <p:spPr/>
        <p:txBody>
          <a:bodyPr wrap="square">
            <a:normAutofit/>
          </a:bodyPr>
          <a:lstStyle/>
          <a:p>
            <a:r>
              <a:t>Integration spend is within budget</a:t>
            </a:r>
          </a:p>
        </p:txBody>
      </p:sp>
      <p:sp>
        <p:nvSpPr>
          <p:cNvPr id="5" name="Title 4"/>
          <p:cNvSpPr>
            <a:spLocks noGrp="1"/>
          </p:cNvSpPr>
          <p:nvPr>
            <p:ph type="title"/>
          </p:nvPr>
        </p:nvSpPr>
        <p:spPr/>
        <p:txBody>
          <a:bodyPr wrap="square">
            <a:normAutofit/>
          </a:bodyPr>
          <a:lstStyle/>
          <a:p>
            <a:r>
              <a:t>Financial Status: synergies and budget</a:t>
            </a:r>
          </a:p>
        </p:txBody>
      </p:sp>
      <p:graphicFrame>
        <p:nvGraphicFramePr>
          <p:cNvPr id="6" name="Chart 5"/>
          <p:cNvGraphicFramePr>
            <a:graphicFrameLocks noGrp="1"/>
          </p:cNvGraphicFramePr>
          <p:nvPr/>
        </p:nvGraphicFramePr>
        <p:xfrm>
          <a:off x="469900" y="1682496"/>
          <a:ext cx="5486400" cy="4389120"/>
        </p:xfrm>
        <a:graphic>
          <a:graphicData uri="http://schemas.openxmlformats.org/drawingml/2006/chart">
            <c:chart xmlns:c="http://schemas.openxmlformats.org/drawingml/2006/chart" r:id="rId2"/>
          </a:graphicData>
        </a:graphic>
      </p:graphicFrame>
      <p:sp>
        <p:nvSpPr>
          <p:cNvPr id="7"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DellEMC_VCIO_Synergy_Tracker_W3_2016-09-28.xlsx (sheet 'Cost to Achieve'!A15:I15); DellEMC_VCIO_Synergy_Baseline_SignOff_2016-09-02.pdf (page 1); DellEMC_VCIO_Synergy_Tracker_W3_2016-09-28.xlsx (sheet 'Baseline'!A7:G7); DellEMC_VCIO_Synergy_Tracker_W3_2016-09-28.xlsx (sheet 'Baseline'!A12:G12); and 4 more.</a:t>
            </a:r>
          </a:p>
        </p:txBody>
      </p:sp>
      <p:sp>
        <p:nvSpPr>
          <p:cNvPr id="8"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eval-clean_Z_1_4dccacb2  |  Steering Committee</a:t>
            </a:r>
          </a:p>
        </p:txBody>
      </p:sp>
      <p:sp>
        <p:nvSpPr>
          <p:cNvPr id="9"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wrap="square">
            <a:normAutofit/>
          </a:bodyPr>
          <a:lstStyle/>
          <a:p>
            <a:r>
              <a:t>Decisions Required</a:t>
            </a:r>
          </a:p>
        </p:txBody>
      </p:sp>
      <p:graphicFrame>
        <p:nvGraphicFramePr>
          <p:cNvPr id="4" name="pmi:table:decisions-required.table1-table"/>
          <p:cNvGraphicFramePr>
            <a:graphicFrameLocks noGrp="1"/>
          </p:cNvGraphicFramePr>
          <p:nvPr/>
        </p:nvGraphicFramePr>
        <p:xfrm>
          <a:off x="469900" y="1682496"/>
          <a:ext cx="11274552" cy="4133088"/>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459232">
                <a:tc>
                  <a:txBody>
                    <a:bodyPr wrap="square">
                      <a:normAutofit/>
                    </a:bodyPr>
                    <a:lstStyle/>
                    <a:p>
                      <a:pPr>
                        <a:defRPr sz="1000" b="1">
                          <a:solidFill>
                            <a:srgbClr val="FFFFFF"/>
                          </a:solidFill>
                        </a:defRPr>
                      </a:pPr>
                      <a:r>
                        <a:t>Decision</a:t>
                      </a:r>
                    </a:p>
                  </a:txBody>
                  <a:tcPr marL="54864" marR="54864" marT="18288" marB="18288">
                    <a:solidFill>
                      <a:srgbClr val="046A38"/>
                    </a:solidFill>
                  </a:tcPr>
                </a:tc>
                <a:tc>
                  <a:txBody>
                    <a:bodyPr wrap="square">
                      <a:normAutofit/>
                    </a:bodyPr>
                    <a:lstStyle/>
                    <a:p>
                      <a:pPr>
                        <a:defRPr sz="1000" b="1">
                          <a:solidFill>
                            <a:srgbClr val="FFFFFF"/>
                          </a:solidFill>
                        </a:defRPr>
                      </a:pPr>
                      <a:r>
                        <a:t>Body</a:t>
                      </a:r>
                    </a:p>
                  </a:txBody>
                  <a:tcPr marL="54864" marR="54864" marT="18288" marB="18288">
                    <a:solidFill>
                      <a:srgbClr val="046A38"/>
                    </a:solidFill>
                  </a:tcPr>
                </a:tc>
                <a:tc>
                  <a:txBody>
                    <a:bodyPr wrap="square">
                      <a:normAutofit/>
                    </a:bodyPr>
                    <a:lstStyle/>
                    <a:p>
                      <a:pPr>
                        <a:defRPr sz="1000" b="1">
                          <a:solidFill>
                            <a:srgbClr val="FFFFFF"/>
                          </a:solidFill>
                        </a:defRPr>
                      </a:pPr>
                      <a:r>
                        <a:t>Owner</a:t>
                      </a:r>
                    </a:p>
                  </a:txBody>
                  <a:tcPr marL="54864" marR="54864" marT="18288" marB="18288">
                    <a:solidFill>
                      <a:srgbClr val="046A38"/>
                    </a:solidFill>
                  </a:tcPr>
                </a:tc>
                <a:tc>
                  <a:txBody>
                    <a:bodyPr wrap="square">
                      <a:normAutofit/>
                    </a:bodyPr>
                    <a:lstStyle/>
                    <a:p>
                      <a:pPr>
                        <a:defRPr sz="1000" b="1">
                          <a:solidFill>
                            <a:srgbClr val="FFFFFF"/>
                          </a:solidFill>
                        </a:defRPr>
                      </a:pPr>
                      <a:r>
                        <a:t>Needed by</a:t>
                      </a:r>
                    </a:p>
                  </a:txBody>
                  <a:tcPr marL="54864" marR="54864" marT="18288" marB="18288">
                    <a:solidFill>
                      <a:srgbClr val="046A38"/>
                    </a:solidFill>
                  </a:tcPr>
                </a:tc>
                <a:tc>
                  <a:txBody>
                    <a:bodyPr wrap="square">
                      <a:normAutofit/>
                    </a:bodyPr>
                    <a:lstStyle/>
                    <a:p>
                      <a:pPr>
                        <a:defRPr sz="1000" b="1">
                          <a:solidFill>
                            <a:srgbClr val="FFFFFF"/>
                          </a:solidFill>
                        </a:defRPr>
                      </a:pPr>
                      <a:r>
                        <a:t>Recommendation</a:t>
                      </a:r>
                    </a:p>
                  </a:txBody>
                  <a:tcPr marL="54864" marR="54864" marT="18288" marB="18288">
                    <a:solidFill>
                      <a:srgbClr val="046A38"/>
                    </a:solidFill>
                  </a:tcPr>
                </a:tc>
              </a:tr>
              <a:tr h="459232">
                <a:tc>
                  <a:txBody>
                    <a:bodyPr wrap="square">
                      <a:normAutofit/>
                    </a:bodyPr>
                    <a:lstStyle/>
                    <a:p>
                      <a:pPr>
                        <a:defRPr sz="1000" b="0">
                          <a:solidFill>
                            <a:srgbClr val="222222"/>
                          </a:solidFill>
                        </a:defRPr>
                      </a:pPr>
                      <a:r>
                        <a:t>Mandate the integration tracker as the single source of truth for tasks, milestones and dates</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c>
                  <a:txBody>
                    <a:bodyPr wrap="square">
                      <a:normAutofit/>
                    </a:bodyPr>
                    <a:lstStyle/>
                    <a:p>
                      <a:pPr>
                        <a:defRPr sz="1000" b="0">
                          <a:solidFill>
                            <a:srgbClr val="222222"/>
                          </a:solidFill>
                        </a:defRPr>
                      </a:pPr>
                      <a:r>
                        <a:t>S. Lindqvist</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r>
              <a:tr h="459232">
                <a:tc>
                  <a:txBody>
                    <a:bodyPr wrap="square">
                      <a:normAutofit/>
                    </a:bodyPr>
                    <a:lstStyle/>
                    <a:p>
                      <a:pPr>
                        <a:defRPr sz="1000" b="0">
                          <a:solidFill>
                            <a:srgbClr val="222222"/>
                          </a:solidFill>
                        </a:defRPr>
                      </a:pPr>
                      <a:r>
                        <a:t>Mandate the integration tracker as the single source of truth for tasks, m</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c>
                  <a:txBody>
                    <a:bodyPr wrap="square">
                      <a:normAutofit/>
                    </a:bodyPr>
                    <a:lstStyle/>
                    <a:p>
                      <a:pPr>
                        <a:defRPr sz="1000" b="0">
                          <a:solidFill>
                            <a:srgbClr val="DA291C"/>
                          </a:solidFill>
                        </a:defRPr>
                      </a:pPr>
                      <a:r>
                        <a:t>⚠ NO OWNER</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r>
              <a:tr h="459232">
                <a:tc>
                  <a:txBody>
                    <a:bodyPr wrap="square">
                      <a:normAutofit/>
                    </a:bodyPr>
                    <a:lstStyle/>
                    <a:p>
                      <a:pPr>
                        <a:defRPr sz="1000" b="0">
                          <a:solidFill>
                            <a:srgbClr val="222222"/>
                          </a:solidFill>
                        </a:defRPr>
                      </a:pPr>
                      <a:r>
                        <a:t>Confirm the works council consultation timetable in writing</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c>
                  <a:txBody>
                    <a:bodyPr wrap="square">
                      <a:normAutofit/>
                    </a:bodyPr>
                    <a:lstStyle/>
                    <a:p>
                      <a:pPr>
                        <a:defRPr sz="1000" b="0">
                          <a:solidFill>
                            <a:srgbClr val="222222"/>
                          </a:solidFill>
                        </a:defRPr>
                      </a:pPr>
                      <a:r>
                        <a:t>W. Kempowski</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r>
              <a:tr h="459232">
                <a:tc>
                  <a:txBody>
                    <a:bodyPr wrap="square">
                      <a:normAutofit/>
                    </a:bodyPr>
                    <a:lstStyle/>
                    <a:p>
                      <a:pPr>
                        <a:defRPr sz="1000" b="0">
                          <a:solidFill>
                            <a:srgbClr val="222222"/>
                          </a:solidFill>
                        </a:defRPr>
                      </a:pPr>
                      <a:r>
                        <a:t>Exclude co-determined units from the first organisation announcement</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c>
                  <a:txBody>
                    <a:bodyPr wrap="square">
                      <a:normAutofit/>
                    </a:bodyPr>
                    <a:lstStyle/>
                    <a:p>
                      <a:pPr>
                        <a:defRPr sz="1000" b="0">
                          <a:solidFill>
                            <a:srgbClr val="DA291C"/>
                          </a:solidFill>
                        </a:defRPr>
                      </a:pPr>
                      <a:r>
                        <a:t>⚠ NO OWNER</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r>
              <a:tr h="459232">
                <a:tc>
                  <a:txBody>
                    <a:bodyPr wrap="square">
                      <a:normAutofit/>
                    </a:bodyPr>
                    <a:lstStyle/>
                    <a:p>
                      <a:pPr>
                        <a:defRPr sz="1000" b="0">
                          <a:solidFill>
                            <a:srgbClr val="222222"/>
                          </a:solidFill>
                        </a:defRPr>
                      </a:pPr>
                      <a:r>
                        <a:t>Report the ERP blueprint recovery plan with a dated forecast</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c>
                  <a:txBody>
                    <a:bodyPr wrap="square">
                      <a:normAutofit/>
                    </a:bodyPr>
                    <a:lstStyle/>
                    <a:p>
                      <a:pPr>
                        <a:defRPr sz="1000" b="0">
                          <a:solidFill>
                            <a:srgbClr val="222222"/>
                          </a:solidFill>
                        </a:defRPr>
                      </a:pPr>
                      <a:r>
                        <a:t>T. Bergström</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r>
              <a:tr h="459232">
                <a:tc>
                  <a:txBody>
                    <a:bodyPr wrap="square">
                      <a:normAutofit/>
                    </a:bodyPr>
                    <a:lstStyle/>
                    <a:p>
                      <a:pPr>
                        <a:defRPr sz="1000" b="0">
                          <a:solidFill>
                            <a:srgbClr val="222222"/>
                          </a:solidFill>
                        </a:defRPr>
                      </a:pPr>
                      <a:r>
                        <a:t>Circulate the refreshed cross-workstream dependency map to all leads</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c>
                  <a:txBody>
                    <a:bodyPr wrap="square">
                      <a:normAutofit/>
                    </a:bodyPr>
                    <a:lstStyle/>
                    <a:p>
                      <a:pPr>
                        <a:defRPr sz="1000" b="0">
                          <a:solidFill>
                            <a:srgbClr val="222222"/>
                          </a:solidFill>
                        </a:defRPr>
                      </a:pPr>
                      <a:r>
                        <a:t>D. Okonjo</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r>
              <a:tr h="459232">
                <a:tc>
                  <a:txBody>
                    <a:bodyPr wrap="square">
                      <a:normAutofit/>
                    </a:bodyPr>
                    <a:lstStyle/>
                    <a:p>
                      <a:pPr>
                        <a:defRPr sz="1000" b="0">
                          <a:solidFill>
                            <a:srgbClr val="222222"/>
                          </a:solidFill>
                        </a:defRPr>
                      </a:pPr>
                      <a:r>
                        <a:t>Count only Finance-validated initiatives towards secured synergy</a:t>
                      </a:r>
                    </a:p>
                  </a:txBody>
                  <a:tcPr marL="54864" marR="54864" marT="18288" marB="18288">
                    <a:solidFill>
                      <a:srgbClr val="FFFFFF"/>
                    </a:solidFill>
                  </a:tcPr>
                </a:tc>
                <a:tc>
                  <a:txBody>
                    <a:bodyPr wrap="square">
                      <a:normAutofit/>
                    </a:bodyPr>
                    <a:lstStyle/>
                    <a:p>
                      <a:pPr>
                        <a:defRPr sz="1000" b="0">
                          <a:solidFill>
                            <a:srgbClr val="222222"/>
                          </a:solidFill>
                        </a:defRPr>
                      </a:pPr>
                      <a:r>
                        <a:t>Unknown</a:t>
                      </a:r>
                    </a:p>
                  </a:txBody>
                  <a:tcPr marL="54864" marR="54864" marT="18288" marB="18288">
                    <a:solidFill>
                      <a:srgbClr val="FFFFFF"/>
                    </a:solidFill>
                  </a:tcPr>
                </a:tc>
                <a:tc>
                  <a:txBody>
                    <a:bodyPr wrap="square">
                      <a:normAutofit/>
                    </a:bodyPr>
                    <a:lstStyle/>
                    <a:p>
                      <a:pPr>
                        <a:defRPr sz="1000" b="0">
                          <a:solidFill>
                            <a:srgbClr val="222222"/>
                          </a:solidFill>
                        </a:defRPr>
                      </a:pPr>
                      <a:r>
                        <a:t>M. Haddad</a:t>
                      </a:r>
                    </a:p>
                  </a:txBody>
                  <a:tcPr marL="54864" marR="54864" marT="18288" marB="18288">
                    <a:solidFill>
                      <a:srgbClr val="FFFFFF"/>
                    </a:solidFill>
                  </a:tcPr>
                </a:tc>
                <a:tc>
                  <a:txBody>
                    <a:bodyPr wrap="square">
                      <a:normAutofit/>
                    </a:bodyPr>
                    <a:lstStyle/>
                    <a:p>
                      <a:pPr>
                        <a:defRPr sz="1000" b="0">
                          <a:solidFill>
                            <a:srgbClr val="DA291C"/>
                          </a:solidFill>
                        </a:defRPr>
                      </a:pPr>
                      <a:r>
                        <a:t>⚠ NO DEADLINE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r>
              <a:tr h="459232">
                <a:tc>
                  <a:txBody>
                    <a:bodyPr wrap="square">
                      <a:normAutofit/>
                    </a:bodyPr>
                    <a:lstStyle/>
                    <a:p>
                      <a:pPr>
                        <a:defRPr sz="1000" b="0">
                          <a:solidFill>
                            <a:srgbClr val="222222"/>
                          </a:solidFill>
                        </a:defRPr>
                      </a:pPr>
                      <a:r>
                        <a:t>Adopt the value prioritisation framework as the single basis for sequencing integration work</a:t>
                      </a:r>
                    </a:p>
                  </a:txBody>
                  <a:tcPr marL="54864" marR="54864" marT="18288" marB="18288">
                    <a:solidFill>
                      <a:srgbClr val="E6E6E6"/>
                    </a:solidFill>
                  </a:tcPr>
                </a:tc>
                <a:tc>
                  <a:txBody>
                    <a:bodyPr wrap="square">
                      <a:normAutofit/>
                    </a:bodyPr>
                    <a:lstStyle/>
                    <a:p>
                      <a:pPr>
                        <a:defRPr sz="1000" b="0">
                          <a:solidFill>
                            <a:srgbClr val="222222"/>
                          </a:solidFill>
                        </a:defRPr>
                      </a:pPr>
                      <a:r>
                        <a:t>Unknown</a:t>
                      </a:r>
                    </a:p>
                  </a:txBody>
                  <a:tcPr marL="54864" marR="54864" marT="18288" marB="18288">
                    <a:solidFill>
                      <a:srgbClr val="E6E6E6"/>
                    </a:solidFill>
                  </a:tcPr>
                </a:tc>
                <a:tc>
                  <a:txBody>
                    <a:bodyPr wrap="square">
                      <a:normAutofit/>
                    </a:bodyPr>
                    <a:lstStyle/>
                    <a:p>
                      <a:pPr>
                        <a:defRPr sz="1000" b="0">
                          <a:solidFill>
                            <a:srgbClr val="222222"/>
                          </a:solidFill>
                        </a:defRPr>
                      </a:pPr>
                      <a:r>
                        <a:t>A. Vasquez</a:t>
                      </a:r>
                    </a:p>
                  </a:txBody>
                  <a:tcPr marL="54864" marR="54864" marT="18288" marB="18288">
                    <a:solidFill>
                      <a:srgbClr val="E6E6E6"/>
                    </a:solidFill>
                  </a:tcPr>
                </a:tc>
                <a:tc>
                  <a:txBody>
                    <a:bodyPr wrap="square">
                      <a:normAutofit/>
                    </a:bodyPr>
                    <a:lstStyle/>
                    <a:p>
                      <a:pPr>
                        <a:defRPr sz="1000" b="0">
                          <a:solidFill>
                            <a:srgbClr val="DA291C"/>
                          </a:solidFill>
                        </a:defRPr>
                      </a:pPr>
                      <a:r>
                        <a:t>⚠ NO DEADLINE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r>
            </a:tbl>
          </a:graphicData>
        </a:graphic>
      </p:graphicFrame>
      <p:sp>
        <p:nvSpPr>
          <p:cNvPr id="5" name="pmi:caption"/>
          <p:cNvSpPr txBox="1"/>
          <p:nvPr/>
        </p:nvSpPr>
        <p:spPr>
          <a:xfrm>
            <a:off x="469900" y="5815584"/>
            <a:ext cx="11274552" cy="219456"/>
          </a:xfrm>
          <a:prstGeom prst="rect">
            <a:avLst/>
          </a:prstGeom>
          <a:noFill/>
        </p:spPr>
        <p:txBody>
          <a:bodyPr wrap="square">
            <a:normAutofit/>
          </a:bodyPr>
          <a:lstStyle/>
          <a:p>
            <a:pPr>
              <a:defRPr sz="900" b="0" i="1">
                <a:solidFill>
                  <a:srgbClr val="75787B"/>
                </a:solidFill>
              </a:defRPr>
            </a:pPr>
            <a:r>
              <a:t>Showing 8 of 12 rows.</a:t>
            </a:r>
          </a:p>
        </p:txBody>
      </p:sp>
      <p:sp>
        <p:nvSpPr>
          <p:cNvPr id="6"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DellEMC_VCIO_SteerCo_Minutes_Session01_signed_2016-09-22.pdf (page 2); DellEMC_VCIO_Weekly_Highlight_Report_W3_2016-09-30.docx (table 6); DellEMC_VCIO_SteerCo_Update_Session02_2016-09-29.pptx (slide 7); DellEMC_VCIO_RACI_Matrix_Integration_Hub_2016-09-23.html (table 11).</a:t>
            </a:r>
          </a:p>
        </p:txBody>
      </p:sp>
      <p:sp>
        <p:nvSpPr>
          <p:cNvPr id="7"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eval-clean_Z_1_4dccacb2  |  Steering Committee</a:t>
            </a:r>
          </a:p>
        </p:txBody>
      </p:sp>
      <p:sp>
        <p:nvSpPr>
          <p:cNvPr id="8"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wrap="square">
            <a:normAutofit/>
          </a:bodyPr>
          <a:lstStyle/>
          <a:p>
            <a:r>
              <a:t>Recommended Next Steps</a:t>
            </a:r>
          </a:p>
        </p:txBody>
      </p:sp>
      <p:graphicFrame>
        <p:nvGraphicFramePr>
          <p:cNvPr id="4" name="pmi:table:recommended-next-steps.table1-table"/>
          <p:cNvGraphicFramePr>
            <a:graphicFrameLocks noGrp="1"/>
          </p:cNvGraphicFramePr>
          <p:nvPr/>
        </p:nvGraphicFramePr>
        <p:xfrm>
          <a:off x="469900" y="1682496"/>
          <a:ext cx="11274552" cy="4133088"/>
        </p:xfrm>
        <a:graphic>
          <a:graphicData uri="http://schemas.openxmlformats.org/drawingml/2006/table">
            <a:tbl>
              <a:tblPr firstRow="1" bandRow="1">
                <a:tableStyleId>{5C22544A-7EE6-4342-B048-85BDC9FD1C3A}</a:tableStyleId>
              </a:tblPr>
              <a:tblGrid>
                <a:gridCol w="2818638"/>
                <a:gridCol w="2818638"/>
                <a:gridCol w="2818638"/>
                <a:gridCol w="2818638"/>
              </a:tblGrid>
              <a:tr h="459232">
                <a:tc>
                  <a:txBody>
                    <a:bodyPr wrap="square">
                      <a:normAutofit/>
                    </a:bodyPr>
                    <a:lstStyle/>
                    <a:p>
                      <a:pPr>
                        <a:defRPr sz="1000" b="1">
                          <a:solidFill>
                            <a:srgbClr val="FFFFFF"/>
                          </a:solidFill>
                        </a:defRPr>
                      </a:pPr>
                      <a:r>
                        <a:t>Item</a:t>
                      </a:r>
                    </a:p>
                  </a:txBody>
                  <a:tcPr marL="54864" marR="54864" marT="18288" marB="18288">
                    <a:solidFill>
                      <a:srgbClr val="046A38"/>
                    </a:solidFill>
                  </a:tcPr>
                </a:tc>
                <a:tc>
                  <a:txBody>
                    <a:bodyPr wrap="square">
                      <a:normAutofit/>
                    </a:bodyPr>
                    <a:lstStyle/>
                    <a:p>
                      <a:pPr>
                        <a:defRPr sz="1000" b="1">
                          <a:solidFill>
                            <a:srgbClr val="FFFFFF"/>
                          </a:solidFill>
                        </a:defRPr>
                      </a:pPr>
                      <a:r>
                        <a:t>What it says</a:t>
                      </a:r>
                    </a:p>
                  </a:txBody>
                  <a:tcPr marL="54864" marR="54864" marT="18288" marB="18288">
                    <a:solidFill>
                      <a:srgbClr val="046A38"/>
                    </a:solidFill>
                  </a:tcPr>
                </a:tc>
                <a:tc>
                  <a:txBody>
                    <a:bodyPr wrap="square">
                      <a:normAutofit/>
                    </a:bodyPr>
                    <a:lstStyle/>
                    <a:p>
                      <a:pPr>
                        <a:defRPr sz="1000" b="1">
                          <a:solidFill>
                            <a:srgbClr val="FFFFFF"/>
                          </a:solidFill>
                        </a:defRPr>
                      </a:pPr>
                      <a:r>
                        <a:t>Value</a:t>
                      </a:r>
                    </a:p>
                  </a:txBody>
                  <a:tcPr marL="54864" marR="54864" marT="18288" marB="18288">
                    <a:solidFill>
                      <a:srgbClr val="046A38"/>
                    </a:solidFill>
                  </a:tcPr>
                </a:tc>
                <a:tc>
                  <a:txBody>
                    <a:bodyPr wrap="square">
                      <a:normAutofit/>
                    </a:bodyPr>
                    <a:lstStyle/>
                    <a:p>
                      <a:pPr>
                        <a:defRPr sz="1000" b="1">
                          <a:solidFill>
                            <a:srgbClr val="FFFFFF"/>
                          </a:solidFill>
                        </a:defRPr>
                      </a:pPr>
                      <a:r>
                        <a:t>Source</a:t>
                      </a:r>
                    </a:p>
                  </a:txBody>
                  <a:tcPr marL="54864" marR="54864" marT="18288" marB="18288">
                    <a:solidFill>
                      <a:srgbClr val="046A38"/>
                    </a:solidFill>
                  </a:tcPr>
                </a:tc>
              </a:tr>
              <a:tr h="459232">
                <a:tc>
                  <a:txBody>
                    <a:bodyPr wrap="square">
                      <a:normAutofit/>
                    </a:bodyPr>
                    <a:lstStyle/>
                    <a:p>
                      <a:pPr>
                        <a:defRPr sz="1000" b="1">
                          <a:solidFill>
                            <a:srgbClr val="222222"/>
                          </a:solidFill>
                        </a:defRPr>
                      </a:pPr>
                      <a:r>
                        <a:t>R-04</a:t>
                      </a:r>
                    </a:p>
                  </a:txBody>
                  <a:tcPr marL="54864" marR="54864" marT="18288" marB="18288">
                    <a:solidFill>
                      <a:srgbClr val="FFFFFF"/>
                    </a:solidFill>
                  </a:tcPr>
                </a:tc>
                <a:tc>
                  <a:txBody>
                    <a:bodyPr wrap="square">
                      <a:normAutofit/>
                    </a:bodyPr>
                    <a:lstStyle/>
                    <a:p>
                      <a:pPr>
                        <a:defRPr sz="1000" b="1">
                          <a:solidFill>
                            <a:srgbClr val="222222"/>
                          </a:solidFill>
                        </a:defRPr>
                      </a:pPr>
                      <a:r>
                        <a:t>Risk 'R-04' is in_progress, scored 15. Owned by J. Adeyemi. Mitigation: Confirm retention packages for named…</a:t>
                      </a:r>
                    </a:p>
                  </a:txBody>
                  <a:tcPr marL="54864" marR="54864" marT="18288" marB="18288">
                    <a:solidFill>
                      <a:srgbClr val="FFFFFF"/>
                    </a:solidFill>
                  </a:tcPr>
                </a:tc>
                <a:tc>
                  <a:txBody>
                    <a:bodyPr wrap="square">
                      <a:normAutofit/>
                    </a:bodyPr>
                    <a:lstStyle/>
                    <a:p>
                      <a:pPr>
                        <a:defRPr sz="1000" b="1">
                          <a:solidFill>
                            <a:srgbClr val="222222"/>
                          </a:solidFill>
                        </a:defRPr>
                      </a:pPr>
                      <a:r>
                        <a:t>15</a:t>
                      </a:r>
                    </a:p>
                  </a:txBody>
                  <a:tcPr marL="54864" marR="54864" marT="18288" marB="18288">
                    <a:solidFill>
                      <a:srgbClr val="FFFFFF"/>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FFFFFF"/>
                    </a:solidFill>
                  </a:tcPr>
                </a:tc>
              </a:tr>
              <a:tr h="459232">
                <a:tc>
                  <a:txBody>
                    <a:bodyPr wrap="square">
                      <a:normAutofit/>
                    </a:bodyPr>
                    <a:lstStyle/>
                    <a:p>
                      <a:pPr>
                        <a:defRPr sz="1000" b="1">
                          <a:solidFill>
                            <a:srgbClr val="222222"/>
                          </a:solidFill>
                        </a:defRPr>
                      </a:pPr>
                      <a:r>
                        <a:t>Debt service constrains discretionary integration spend below the level the plan assumes</a:t>
                      </a:r>
                    </a:p>
                  </a:txBody>
                  <a:tcPr marL="54864" marR="54864" marT="18288" marB="18288">
                    <a:solidFill>
                      <a:srgbClr val="E6E6E6"/>
                    </a:solidFill>
                  </a:tcPr>
                </a:tc>
                <a:tc>
                  <a:txBody>
                    <a:bodyPr wrap="square">
                      <a:normAutofit/>
                    </a:bodyPr>
                    <a:lstStyle/>
                    <a:p>
                      <a:pPr>
                        <a:defRPr sz="1000" b="1">
                          <a:solidFill>
                            <a:srgbClr val="222222"/>
                          </a:solidFill>
                        </a:defRPr>
                      </a:pPr>
                      <a:r>
                        <a:t>Risk 'Debt service constrains discretionary integration spend below the level the plan assumes' has a…</a:t>
                      </a:r>
                    </a:p>
                  </a:txBody>
                  <a:tcPr marL="54864" marR="54864" marT="18288" marB="18288">
                    <a:solidFill>
                      <a:srgbClr val="E6E6E6"/>
                    </a:solidFill>
                  </a:tcPr>
                </a:tc>
                <a:tc>
                  <a:txBody>
                    <a:bodyPr wrap="square">
                      <a:normAutofit/>
                    </a:bodyPr>
                    <a:lstStyle/>
                    <a:p>
                      <a:pPr>
                        <a:defRPr sz="1000" b="1">
                          <a:solidFill>
                            <a:srgbClr val="75787B"/>
                          </a:solidFill>
                        </a:defRPr>
                      </a:pPr>
                      <a:r>
                        <a:t>Not Reported</a:t>
                      </a:r>
                    </a:p>
                  </a:txBody>
                  <a:tcPr marL="54864" marR="54864" marT="18288" marB="18288">
                    <a:solidFill>
                      <a:srgbClr val="E6E6E6"/>
                    </a:solidFill>
                  </a:tcPr>
                </a:tc>
                <a:tc>
                  <a:txBody>
                    <a:bodyPr wrap="square">
                      <a:normAutofit/>
                    </a:bodyPr>
                    <a:lstStyle/>
                    <a:p>
                      <a:pPr>
                        <a:defRPr sz="1000" b="1">
                          <a:solidFill>
                            <a:srgbClr val="222222"/>
                          </a:solidFill>
                        </a:defRPr>
                      </a:pPr>
                      <a:r>
                        <a:t>DellEMC_VCIO_SteerCo_Minutes_Session01_signed_2016-09-22.pdf</a:t>
                      </a:r>
                    </a:p>
                  </a:txBody>
                  <a:tcPr marL="54864" marR="54864" marT="18288" marB="18288">
                    <a:solidFill>
                      <a:srgbClr val="E6E6E6"/>
                    </a:solidFill>
                  </a:tcPr>
                </a:tc>
              </a:tr>
              <a:tr h="459232">
                <a:tc>
                  <a:txBody>
                    <a:bodyPr wrap="square">
                      <a:normAutofit/>
                    </a:bodyPr>
                    <a:lstStyle/>
                    <a:p>
                      <a:pPr>
                        <a:defRPr sz="1000" b="0">
                          <a:solidFill>
                            <a:srgbClr val="222222"/>
                          </a:solidFill>
                        </a:defRPr>
                      </a:pPr>
                      <a:r>
                        <a:t>Key talent attrition in the combined field organisation before the coverage model is in force</a:t>
                      </a:r>
                    </a:p>
                  </a:txBody>
                  <a:tcPr marL="54864" marR="54864" marT="18288" marB="18288">
                    <a:solidFill>
                      <a:srgbClr val="FFFFFF"/>
                    </a:solidFill>
                  </a:tcPr>
                </a:tc>
                <a:tc>
                  <a:txBody>
                    <a:bodyPr wrap="square">
                      <a:normAutofit/>
                    </a:bodyPr>
                    <a:lstStyle/>
                    <a:p>
                      <a:pPr>
                        <a:defRPr sz="1000" b="0">
                          <a:solidFill>
                            <a:srgbClr val="222222"/>
                          </a:solidFill>
                        </a:defRPr>
                      </a:pPr>
                      <a:r>
                        <a:t>Risk 'Key talent attrition in the combined field organisation before the coverage model is in force' is…</a:t>
                      </a:r>
                    </a:p>
                  </a:txBody>
                  <a:tcPr marL="54864" marR="54864" marT="18288" marB="18288">
                    <a:solidFill>
                      <a:srgbClr val="FFFFFF"/>
                    </a:solidFill>
                  </a:tcPr>
                </a:tc>
                <a:tc>
                  <a:txBody>
                    <a:bodyPr wrap="square">
                      <a:normAutofit/>
                    </a:bodyPr>
                    <a:lstStyle/>
                    <a:p>
                      <a:pPr>
                        <a:defRPr sz="1000" b="0">
                          <a:solidFill>
                            <a:srgbClr val="222222"/>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DellEMC_VCIO_SteerCo_Minutes_Session01_signed_2016-09-22.pdf</a:t>
                      </a:r>
                    </a:p>
                  </a:txBody>
                  <a:tcPr marL="54864" marR="54864" marT="18288" marB="18288">
                    <a:solidFill>
                      <a:srgbClr val="FFFFFF"/>
                    </a:solidFill>
                  </a:tcPr>
                </a:tc>
              </a:tr>
              <a:tr h="459232">
                <a:tc>
                  <a:txBody>
                    <a:bodyPr wrap="square">
                      <a:normAutofit/>
                    </a:bodyPr>
                    <a:lstStyle/>
                    <a:p>
                      <a:pPr>
                        <a:defRPr sz="1000" b="1">
                          <a:solidFill>
                            <a:srgbClr val="222222"/>
                          </a:solidFill>
                        </a:defRPr>
                      </a:pPr>
                      <a:r>
                        <a:t>R-01</a:t>
                      </a:r>
                    </a:p>
                  </a:txBody>
                  <a:tcPr marL="54864" marR="54864" marT="18288" marB="18288">
                    <a:solidFill>
                      <a:srgbClr val="E6E6E6"/>
                    </a:solidFill>
                  </a:tcPr>
                </a:tc>
                <a:tc>
                  <a:txBody>
                    <a:bodyPr wrap="square">
                      <a:normAutofit/>
                    </a:bodyPr>
                    <a:lstStyle/>
                    <a:p>
                      <a:pPr>
                        <a:defRPr sz="1000" b="1">
                          <a:solidFill>
                            <a:srgbClr val="222222"/>
                          </a:solidFill>
                        </a:defRPr>
                      </a:pPr>
                      <a:r>
                        <a:t>Risk 'R-01' has a mitigation action but nobody is assigned to it.</a:t>
                      </a:r>
                    </a:p>
                  </a:txBody>
                  <a:tcPr marL="54864" marR="54864" marT="18288" marB="18288">
                    <a:solidFill>
                      <a:srgbClr val="E6E6E6"/>
                    </a:solidFill>
                  </a:tcPr>
                </a:tc>
                <a:tc>
                  <a:txBody>
                    <a:bodyPr wrap="square">
                      <a:normAutofit/>
                    </a:bodyPr>
                    <a:lstStyle/>
                    <a:p>
                      <a:pPr>
                        <a:defRPr sz="1000" b="1">
                          <a:solidFill>
                            <a:srgbClr val="75787B"/>
                          </a:solidFill>
                        </a:defRPr>
                      </a:pPr>
                      <a:r>
                        <a:t>Not Reported</a:t>
                      </a:r>
                    </a:p>
                  </a:txBody>
                  <a:tcPr marL="54864" marR="54864" marT="18288" marB="18288">
                    <a:solidFill>
                      <a:srgbClr val="E6E6E6"/>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E6E6E6"/>
                    </a:solidFill>
                  </a:tcPr>
                </a:tc>
              </a:tr>
              <a:tr h="459232">
                <a:tc>
                  <a:txBody>
                    <a:bodyPr wrap="square">
                      <a:normAutofit/>
                    </a:bodyPr>
                    <a:lstStyle/>
                    <a:p>
                      <a:pPr>
                        <a:defRPr sz="1000" b="1">
                          <a:solidFill>
                            <a:srgbClr val="222222"/>
                          </a:solidFill>
                        </a:defRPr>
                      </a:pPr>
                      <a:r>
                        <a:t>R-03</a:t>
                      </a:r>
                    </a:p>
                  </a:txBody>
                  <a:tcPr marL="54864" marR="54864" marT="18288" marB="18288">
                    <a:solidFill>
                      <a:srgbClr val="FFFFFF"/>
                    </a:solidFill>
                  </a:tcPr>
                </a:tc>
                <a:tc>
                  <a:txBody>
                    <a:bodyPr wrap="square">
                      <a:normAutofit/>
                    </a:bodyPr>
                    <a:lstStyle/>
                    <a:p>
                      <a:pPr>
                        <a:defRPr sz="1000" b="1">
                          <a:solidFill>
                            <a:srgbClr val="222222"/>
                          </a:solidFill>
                        </a:defRPr>
                      </a:pPr>
                      <a:r>
                        <a:t>Risk 'R-03' has a mitigation action but nobody is assigned to it.</a:t>
                      </a:r>
                    </a:p>
                  </a:txBody>
                  <a:tcPr marL="54864" marR="54864" marT="18288" marB="18288">
                    <a:solidFill>
                      <a:srgbClr val="FFFFFF"/>
                    </a:solidFill>
                  </a:tcPr>
                </a:tc>
                <a:tc>
                  <a:txBody>
                    <a:bodyPr wrap="square">
                      <a:normAutofit/>
                    </a:bodyPr>
                    <a:lstStyle/>
                    <a:p>
                      <a:pPr>
                        <a:defRPr sz="1000" b="1">
                          <a:solidFill>
                            <a:srgbClr val="75787B"/>
                          </a:solidFill>
                        </a:defRPr>
                      </a:pPr>
                      <a:r>
                        <a:t>Not Reported</a:t>
                      </a:r>
                    </a:p>
                  </a:txBody>
                  <a:tcPr marL="54864" marR="54864" marT="18288" marB="18288">
                    <a:solidFill>
                      <a:srgbClr val="FFFFFF"/>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FFFFFF"/>
                    </a:solidFill>
                  </a:tcPr>
                </a:tc>
              </a:tr>
              <a:tr h="459232">
                <a:tc>
                  <a:txBody>
                    <a:bodyPr wrap="square">
                      <a:normAutofit/>
                    </a:bodyPr>
                    <a:lstStyle/>
                    <a:p>
                      <a:pPr>
                        <a:defRPr sz="1000" b="1">
                          <a:solidFill>
                            <a:srgbClr val="222222"/>
                          </a:solidFill>
                        </a:defRPr>
                      </a:pPr>
                      <a:r>
                        <a:t>R-07</a:t>
                      </a:r>
                    </a:p>
                  </a:txBody>
                  <a:tcPr marL="54864" marR="54864" marT="18288" marB="18288">
                    <a:solidFill>
                      <a:srgbClr val="E6E6E6"/>
                    </a:solidFill>
                  </a:tcPr>
                </a:tc>
                <a:tc>
                  <a:txBody>
                    <a:bodyPr wrap="square">
                      <a:normAutofit/>
                    </a:bodyPr>
                    <a:lstStyle/>
                    <a:p>
                      <a:pPr>
                        <a:defRPr sz="1000" b="1">
                          <a:solidFill>
                            <a:srgbClr val="222222"/>
                          </a:solidFill>
                        </a:defRPr>
                      </a:pPr>
                      <a:r>
                        <a:t>Risk 'R-07' has a mitigation action but nobody is assigned to it.</a:t>
                      </a:r>
                    </a:p>
                  </a:txBody>
                  <a:tcPr marL="54864" marR="54864" marT="18288" marB="18288">
                    <a:solidFill>
                      <a:srgbClr val="E6E6E6"/>
                    </a:solidFill>
                  </a:tcPr>
                </a:tc>
                <a:tc>
                  <a:txBody>
                    <a:bodyPr wrap="square">
                      <a:normAutofit/>
                    </a:bodyPr>
                    <a:lstStyle/>
                    <a:p>
                      <a:pPr>
                        <a:defRPr sz="1000" b="1">
                          <a:solidFill>
                            <a:srgbClr val="75787B"/>
                          </a:solidFill>
                        </a:defRPr>
                      </a:pPr>
                      <a:r>
                        <a:t>Not Reported</a:t>
                      </a:r>
                    </a:p>
                  </a:txBody>
                  <a:tcPr marL="54864" marR="54864" marT="18288" marB="18288">
                    <a:solidFill>
                      <a:srgbClr val="E6E6E6"/>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E6E6E6"/>
                    </a:solidFill>
                  </a:tcPr>
                </a:tc>
              </a:tr>
              <a:tr h="459232">
                <a:tc>
                  <a:txBody>
                    <a:bodyPr wrap="square">
                      <a:normAutofit/>
                    </a:bodyPr>
                    <a:lstStyle/>
                    <a:p>
                      <a:pPr>
                        <a:defRPr sz="1000" b="1">
                          <a:solidFill>
                            <a:srgbClr val="222222"/>
                          </a:solidFill>
                        </a:defRPr>
                      </a:pPr>
                      <a:r>
                        <a:t>R-02</a:t>
                      </a:r>
                    </a:p>
                  </a:txBody>
                  <a:tcPr marL="54864" marR="54864" marT="18288" marB="18288">
                    <a:solidFill>
                      <a:srgbClr val="FFFFFF"/>
                    </a:solidFill>
                  </a:tcPr>
                </a:tc>
                <a:tc>
                  <a:txBody>
                    <a:bodyPr wrap="square">
                      <a:normAutofit/>
                    </a:bodyPr>
                    <a:lstStyle/>
                    <a:p>
                      <a:pPr>
                        <a:defRPr sz="1000" b="1">
                          <a:solidFill>
                            <a:srgbClr val="222222"/>
                          </a:solidFill>
                        </a:defRPr>
                      </a:pPr>
                      <a:r>
                        <a:t>Risk 'R-02' has a mitigation action but nobody is assigned to it.</a:t>
                      </a:r>
                    </a:p>
                  </a:txBody>
                  <a:tcPr marL="54864" marR="54864" marT="18288" marB="18288">
                    <a:solidFill>
                      <a:srgbClr val="FFFFFF"/>
                    </a:solidFill>
                  </a:tcPr>
                </a:tc>
                <a:tc>
                  <a:txBody>
                    <a:bodyPr wrap="square">
                      <a:normAutofit/>
                    </a:bodyPr>
                    <a:lstStyle/>
                    <a:p>
                      <a:pPr>
                        <a:defRPr sz="1000" b="1">
                          <a:solidFill>
                            <a:srgbClr val="75787B"/>
                          </a:solidFill>
                        </a:defRPr>
                      </a:pPr>
                      <a:r>
                        <a:t>Not Reported</a:t>
                      </a:r>
                    </a:p>
                  </a:txBody>
                  <a:tcPr marL="54864" marR="54864" marT="18288" marB="18288">
                    <a:solidFill>
                      <a:srgbClr val="FFFFFF"/>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FFFFFF"/>
                    </a:solidFill>
                  </a:tcPr>
                </a:tc>
              </a:tr>
              <a:tr h="459232">
                <a:tc>
                  <a:txBody>
                    <a:bodyPr wrap="square">
                      <a:normAutofit/>
                    </a:bodyPr>
                    <a:lstStyle/>
                    <a:p>
                      <a:pPr>
                        <a:defRPr sz="1000" b="1">
                          <a:solidFill>
                            <a:srgbClr val="222222"/>
                          </a:solidFill>
                        </a:defRPr>
                      </a:pPr>
                      <a:r>
                        <a:t>I-01</a:t>
                      </a:r>
                    </a:p>
                  </a:txBody>
                  <a:tcPr marL="54864" marR="54864" marT="18288" marB="18288">
                    <a:solidFill>
                      <a:srgbClr val="E6E6E6"/>
                    </a:solidFill>
                  </a:tcPr>
                </a:tc>
                <a:tc>
                  <a:txBody>
                    <a:bodyPr wrap="square">
                      <a:normAutofit/>
                    </a:bodyPr>
                    <a:lstStyle/>
                    <a:p>
                      <a:pPr>
                        <a:defRPr sz="1000" b="1">
                          <a:solidFill>
                            <a:srgbClr val="222222"/>
                          </a:solidFill>
                        </a:defRPr>
                      </a:pPr>
                      <a:r>
                        <a:t>Risk 'I-01' is rated high but has no mitigation action.</a:t>
                      </a:r>
                    </a:p>
                  </a:txBody>
                  <a:tcPr marL="54864" marR="54864" marT="18288" marB="18288">
                    <a:solidFill>
                      <a:srgbClr val="E6E6E6"/>
                    </a:solidFill>
                  </a:tcPr>
                </a:tc>
                <a:tc>
                  <a:txBody>
                    <a:bodyPr wrap="square">
                      <a:normAutofit/>
                    </a:bodyPr>
                    <a:lstStyle/>
                    <a:p>
                      <a:pPr>
                        <a:defRPr sz="1000" b="1">
                          <a:solidFill>
                            <a:srgbClr val="75787B"/>
                          </a:solidFill>
                        </a:defRPr>
                      </a:pPr>
                      <a:r>
                        <a:t>Not Reported</a:t>
                      </a:r>
                    </a:p>
                  </a:txBody>
                  <a:tcPr marL="54864" marR="54864" marT="18288" marB="18288">
                    <a:solidFill>
                      <a:srgbClr val="E6E6E6"/>
                    </a:solidFill>
                  </a:tcPr>
                </a:tc>
                <a:tc>
                  <a:txBody>
                    <a:bodyPr wrap="square">
                      <a:normAutofit/>
                    </a:bodyPr>
                    <a:lstStyle/>
                    <a:p>
                      <a:pPr>
                        <a:defRPr sz="1000" b="1">
                          <a:solidFill>
                            <a:srgbClr val="222222"/>
                          </a:solidFill>
                        </a:defRPr>
                      </a:pPr>
                      <a:r>
                        <a:t>DellEMC_VCIO_RAID_Log_W3_2016-09-29.xlsx</a:t>
                      </a:r>
                    </a:p>
                  </a:txBody>
                  <a:tcPr marL="54864" marR="54864" marT="18288" marB="18288">
                    <a:solidFill>
                      <a:srgbClr val="E6E6E6"/>
                    </a:solidFill>
                  </a:tcPr>
                </a:tc>
              </a:tr>
            </a:tbl>
          </a:graphicData>
        </a:graphic>
      </p:graphicFrame>
      <p:sp>
        <p:nvSpPr>
          <p:cNvPr id="5" name="pmi:caption"/>
          <p:cNvSpPr txBox="1"/>
          <p:nvPr/>
        </p:nvSpPr>
        <p:spPr>
          <a:xfrm>
            <a:off x="469900" y="5815584"/>
            <a:ext cx="11274552" cy="219456"/>
          </a:xfrm>
          <a:prstGeom prst="rect">
            <a:avLst/>
          </a:prstGeom>
          <a:noFill/>
        </p:spPr>
        <p:txBody>
          <a:bodyPr wrap="square">
            <a:normAutofit/>
          </a:bodyPr>
          <a:lstStyle/>
          <a:p>
            <a:pPr>
              <a:defRPr sz="900" b="0" i="1">
                <a:solidFill>
                  <a:srgbClr val="75787B"/>
                </a:solidFill>
              </a:defRPr>
            </a:pPr>
            <a:r>
              <a:t>Showing 8 of 12 rows.</a:t>
            </a:r>
          </a:p>
        </p:txBody>
      </p:sp>
      <p:sp>
        <p:nvSpPr>
          <p:cNvPr id="6"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DellEMC_VCIO_RAID_Log_W3_2016-09-29.xlsx (sheet 'Risks'!A8:M8); DellEMC_VCIO_SteerCo_Minutes_Session01_signed_2016-09-22.pdf (page 2); DellEMC_VCIO_RAID_Log_W3_2016-09-29.xlsx (sheet 'Risks'!A5:M5); DellEMC_VCIO_RAID_Log_W3_2016-09-29.xlsx (sheet 'Risks'!A7:M7); and 6 more.</a:t>
            </a:r>
          </a:p>
        </p:txBody>
      </p:sp>
      <p:sp>
        <p:nvSpPr>
          <p:cNvPr id="7"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eval-clean_Z_1_4dccacb2  |  Steering Committee</a:t>
            </a:r>
          </a:p>
        </p:txBody>
      </p:sp>
      <p:sp>
        <p:nvSpPr>
          <p:cNvPr id="8"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normAutofit/>
          </a:bodyPr>
          <a:lstStyle/>
          <a:p>
            <a:r>
              <a:t>What follows qualifies everything above it.</a:t>
            </a:r>
          </a:p>
        </p:txBody>
      </p:sp>
      <p:sp>
        <p:nvSpPr>
          <p:cNvPr id="3" name="Title 2"/>
          <p:cNvSpPr>
            <a:spLocks noGrp="1"/>
          </p:cNvSpPr>
          <p:nvPr>
            <p:ph type="title"/>
          </p:nvPr>
        </p:nvSpPr>
        <p:spPr/>
        <p:txBody>
          <a:bodyPr wrap="square">
            <a:normAutofit/>
          </a:bodyPr>
          <a:lstStyle/>
          <a:p>
            <a:r>
              <a:t>Data quality and limitations</a:t>
            </a:r>
          </a:p>
        </p:txBody>
      </p:sp>
      <p:graphicFrame>
        <p:nvGraphicFramePr>
          <p:cNvPr id="4" name="pmi:table:data-quality-and-limitations.table1-table"/>
          <p:cNvGraphicFramePr>
            <a:graphicFrameLocks noGrp="1"/>
          </p:cNvGraphicFramePr>
          <p:nvPr/>
        </p:nvGraphicFramePr>
        <p:xfrm>
          <a:off x="469900" y="1682496"/>
          <a:ext cx="11274552" cy="4133088"/>
        </p:xfrm>
        <a:graphic>
          <a:graphicData uri="http://schemas.openxmlformats.org/drawingml/2006/table">
            <a:tbl>
              <a:tblPr firstRow="1" bandRow="1">
                <a:tableStyleId>{5C22544A-7EE6-4342-B048-85BDC9FD1C3A}</a:tableStyleId>
              </a:tblPr>
              <a:tblGrid>
                <a:gridCol w="2818638"/>
                <a:gridCol w="2818638"/>
                <a:gridCol w="2818638"/>
                <a:gridCol w="2818638"/>
              </a:tblGrid>
              <a:tr h="459232">
                <a:tc>
                  <a:txBody>
                    <a:bodyPr wrap="square">
                      <a:normAutofit/>
                    </a:bodyPr>
                    <a:lstStyle/>
                    <a:p>
                      <a:pPr>
                        <a:defRPr sz="1000" b="1">
                          <a:solidFill>
                            <a:srgbClr val="FFFFFF"/>
                          </a:solidFill>
                        </a:defRPr>
                      </a:pPr>
                      <a:r>
                        <a:t>Item</a:t>
                      </a:r>
                    </a:p>
                  </a:txBody>
                  <a:tcPr marL="54864" marR="54864" marT="18288" marB="18288">
                    <a:solidFill>
                      <a:srgbClr val="046A38"/>
                    </a:solidFill>
                  </a:tcPr>
                </a:tc>
                <a:tc>
                  <a:txBody>
                    <a:bodyPr wrap="square">
                      <a:normAutofit/>
                    </a:bodyPr>
                    <a:lstStyle/>
                    <a:p>
                      <a:pPr>
                        <a:defRPr sz="1000" b="1">
                          <a:solidFill>
                            <a:srgbClr val="FFFFFF"/>
                          </a:solidFill>
                        </a:defRPr>
                      </a:pPr>
                      <a:r>
                        <a:t>What it says</a:t>
                      </a:r>
                    </a:p>
                  </a:txBody>
                  <a:tcPr marL="54864" marR="54864" marT="18288" marB="18288">
                    <a:solidFill>
                      <a:srgbClr val="046A38"/>
                    </a:solidFill>
                  </a:tcPr>
                </a:tc>
                <a:tc>
                  <a:txBody>
                    <a:bodyPr wrap="square">
                      <a:normAutofit/>
                    </a:bodyPr>
                    <a:lstStyle/>
                    <a:p>
                      <a:pPr>
                        <a:defRPr sz="1000" b="1">
                          <a:solidFill>
                            <a:srgbClr val="FFFFFF"/>
                          </a:solidFill>
                        </a:defRPr>
                      </a:pPr>
                      <a:r>
                        <a:t>Value</a:t>
                      </a:r>
                    </a:p>
                  </a:txBody>
                  <a:tcPr marL="54864" marR="54864" marT="18288" marB="18288">
                    <a:solidFill>
                      <a:srgbClr val="046A38"/>
                    </a:solidFill>
                  </a:tcPr>
                </a:tc>
                <a:tc>
                  <a:txBody>
                    <a:bodyPr wrap="square">
                      <a:normAutofit/>
                    </a:bodyPr>
                    <a:lstStyle/>
                    <a:p>
                      <a:pPr>
                        <a:defRPr sz="1000" b="1">
                          <a:solidFill>
                            <a:srgbClr val="FFFFFF"/>
                          </a:solidFill>
                        </a:defRPr>
                      </a:pPr>
                      <a:r>
                        <a:t>Source</a:t>
                      </a:r>
                    </a:p>
                  </a:txBody>
                  <a:tcPr marL="54864" marR="54864" marT="18288" marB="18288">
                    <a:solidFill>
                      <a:srgbClr val="046A38"/>
                    </a:solidFill>
                  </a:tcPr>
                </a:tc>
              </a:tr>
              <a:tr h="459232">
                <a:tc>
                  <a:txBody>
                    <a:bodyPr wrap="square">
                      <a:normAutofit/>
                    </a:bodyPr>
                    <a:lstStyle/>
                    <a:p>
                      <a:pPr>
                        <a:defRPr sz="1000" b="0">
                          <a:solidFill>
                            <a:srgbClr val="222222"/>
                          </a:solidFill>
                        </a:defRPr>
                      </a:pPr>
                      <a:r>
                        <a:t>Datenpaket zur Kaufpreisallokation erstellen</a:t>
                      </a:r>
                    </a:p>
                  </a:txBody>
                  <a:tcPr marL="54864" marR="54864" marT="18288" marB="18288">
                    <a:solidFill>
                      <a:srgbClr val="FFFFFF"/>
                    </a:solidFill>
                  </a:tcPr>
                </a:tc>
                <a:tc>
                  <a:txBody>
                    <a:bodyPr wrap="square">
                      <a:normAutofit/>
                    </a:bodyPr>
                    <a:lstStyle/>
                    <a:p>
                      <a:pPr>
                        <a:defRPr sz="1000" b="0">
                          <a:solidFill>
                            <a:srgbClr val="222222"/>
                          </a:solidFill>
                        </a:defRPr>
                      </a:pPr>
                      <a:r>
                        <a:t>Task 'Datenpaket zur Kaufpreisallokation erstellen' is marked complete but has no completion date.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DellEMC_VCIO_Integration_Tracker_W3_2016-09-29.xlsx</a:t>
                      </a:r>
                    </a:p>
                  </a:txBody>
                  <a:tcPr marL="54864" marR="54864" marT="18288" marB="18288">
                    <a:solidFill>
                      <a:srgbClr val="FFFFFF"/>
                    </a:solidFill>
                  </a:tcPr>
                </a:tc>
              </a:tr>
              <a:tr h="459232">
                <a:tc>
                  <a:txBody>
                    <a:bodyPr wrap="square">
                      <a:normAutofit/>
                    </a:bodyPr>
                    <a:lstStyle/>
                    <a:p>
                      <a:pPr>
                        <a:defRPr sz="1000" b="0">
                          <a:solidFill>
                            <a:srgbClr val="222222"/>
                          </a:solidFill>
                        </a:defRPr>
                      </a:pPr>
                      <a:r>
                        <a:t>Anwendungslandschaft beider Unternehmen vollstaendig erfassen</a:t>
                      </a:r>
                    </a:p>
                  </a:txBody>
                  <a:tcPr marL="54864" marR="54864" marT="18288" marB="18288">
                    <a:solidFill>
                      <a:srgbClr val="E6E6E6"/>
                    </a:solidFill>
                  </a:tcPr>
                </a:tc>
                <a:tc>
                  <a:txBody>
                    <a:bodyPr wrap="square">
                      <a:normAutofit/>
                    </a:bodyPr>
                    <a:lstStyle/>
                    <a:p>
                      <a:pPr>
                        <a:defRPr sz="1000" b="0">
                          <a:solidFill>
                            <a:srgbClr val="222222"/>
                          </a:solidFill>
                        </a:defRPr>
                      </a:pPr>
                      <a:r>
                        <a:t>Task 'Anwendungslandschaft beider Unternehmen vollstaendig erfassen' is marked complete but has no completion…</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DellEMC_VCIO_Integration_Tracker_W3_2016-09-29.xlsx</a:t>
                      </a:r>
                    </a:p>
                  </a:txBody>
                  <a:tcPr marL="54864" marR="54864" marT="18288" marB="18288">
                    <a:solidFill>
                      <a:srgbClr val="E6E6E6"/>
                    </a:solidFill>
                  </a:tcPr>
                </a:tc>
              </a:tr>
              <a:tr h="459232">
                <a:tc>
                  <a:txBody>
                    <a:bodyPr wrap="square">
                      <a:normAutofit/>
                    </a:bodyPr>
                    <a:lstStyle/>
                    <a:p>
                      <a:pPr>
                        <a:defRPr sz="1000" b="0">
                          <a:solidFill>
                            <a:srgbClr val="222222"/>
                          </a:solidFill>
                        </a:defRPr>
                      </a:pPr>
                      <a:r>
                        <a:t>Produktportfolio-Konkordanz veroeffentlichen</a:t>
                      </a:r>
                    </a:p>
                  </a:txBody>
                  <a:tcPr marL="54864" marR="54864" marT="18288" marB="18288">
                    <a:solidFill>
                      <a:srgbClr val="FFFFFF"/>
                    </a:solidFill>
                  </a:tcPr>
                </a:tc>
                <a:tc>
                  <a:txBody>
                    <a:bodyPr wrap="square">
                      <a:normAutofit/>
                    </a:bodyPr>
                    <a:lstStyle/>
                    <a:p>
                      <a:pPr>
                        <a:defRPr sz="1000" b="0">
                          <a:solidFill>
                            <a:srgbClr val="222222"/>
                          </a:solidFill>
                        </a:defRPr>
                      </a:pPr>
                      <a:r>
                        <a:t>Task 'Produktportfolio-Konkordanz veroeffentlichen' is marked complete but has no completion date.</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DellEMC_VCIO_Integration_Tracker_W3_2016-09-29.xlsx</a:t>
                      </a:r>
                    </a:p>
                  </a:txBody>
                  <a:tcPr marL="54864" marR="54864" marT="18288" marB="18288">
                    <a:solidFill>
                      <a:srgbClr val="FFFFFF"/>
                    </a:solidFill>
                  </a:tcPr>
                </a:tc>
              </a:tr>
              <a:tr h="459232">
                <a:tc>
                  <a:txBody>
                    <a:bodyPr wrap="square">
                      <a:normAutofit/>
                    </a:bodyPr>
                    <a:lstStyle/>
                    <a:p>
                      <a:pPr>
                        <a:defRPr sz="1000" b="0">
                          <a:solidFill>
                            <a:srgbClr val="222222"/>
                          </a:solidFill>
                        </a:defRPr>
                      </a:pPr>
                      <a:r>
                        <a:t>Bewertung im Wertpriorisierungsrahmen veroeffentlichen</a:t>
                      </a:r>
                    </a:p>
                  </a:txBody>
                  <a:tcPr marL="54864" marR="54864" marT="18288" marB="18288">
                    <a:solidFill>
                      <a:srgbClr val="E6E6E6"/>
                    </a:solidFill>
                  </a:tcPr>
                </a:tc>
                <a:tc>
                  <a:txBody>
                    <a:bodyPr wrap="square">
                      <a:normAutofit/>
                    </a:bodyPr>
                    <a:lstStyle/>
                    <a:p>
                      <a:pPr>
                        <a:defRPr sz="1000" b="0">
                          <a:solidFill>
                            <a:srgbClr val="222222"/>
                          </a:solidFill>
                        </a:defRPr>
                      </a:pPr>
                      <a:r>
                        <a:t>Task 'Bewertung im Wertpriorisierungsrahmen veroeffentlichen' is marked complete but has no completion date.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DellEMC_VCIO_Integration_Tracker_W3_2016-09-29.xlsx</a:t>
                      </a:r>
                    </a:p>
                  </a:txBody>
                  <a:tcPr marL="54864" marR="54864" marT="18288" marB="18288">
                    <a:solidFill>
                      <a:srgbClr val="E6E6E6"/>
                    </a:solidFill>
                  </a:tcPr>
                </a:tc>
              </a:tr>
              <a:tr h="459232">
                <a:tc>
                  <a:txBody>
                    <a:bodyPr wrap="square">
                      <a:normAutofit/>
                    </a:bodyPr>
                    <a:lstStyle/>
                    <a:p>
                      <a:pPr>
                        <a:defRPr sz="1000" b="0">
                          <a:solidFill>
                            <a:srgbClr val="222222"/>
                          </a:solidFill>
                        </a:defRPr>
                      </a:pPr>
                      <a:r>
                        <a:t>Die berichtete gesicherte Synergie auf den von Finance validierten Wer</a:t>
                      </a:r>
                    </a:p>
                  </a:txBody>
                  <a:tcPr marL="54864" marR="54864" marT="18288" marB="18288">
                    <a:solidFill>
                      <a:srgbClr val="FFFFFF"/>
                    </a:solidFill>
                  </a:tcPr>
                </a:tc>
                <a:tc>
                  <a:txBody>
                    <a:bodyPr wrap="square">
                      <a:normAutofit/>
                    </a:bodyPr>
                    <a:lstStyle/>
                    <a:p>
                      <a:pPr>
                        <a:defRPr sz="1000" b="0">
                          <a:solidFill>
                            <a:srgbClr val="222222"/>
                          </a:solidFill>
                        </a:defRPr>
                      </a:pPr>
                      <a:r>
                        <a:t>Task 'Die berichtete gesicherte Synergie auf den von Finance validierten Wer' is marked complete but has no…</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DellEMC_VCIO_Teilprojekt_Protokoll_Finanzen_2016-09-27.docx</a:t>
                      </a:r>
                    </a:p>
                  </a:txBody>
                  <a:tcPr marL="54864" marR="54864" marT="18288" marB="18288">
                    <a:solidFill>
                      <a:srgbClr val="FFFFFF"/>
                    </a:solidFill>
                  </a:tcPr>
                </a:tc>
              </a:tr>
              <a:tr h="459232">
                <a:tc>
                  <a:txBody>
                    <a:bodyPr wrap="square">
                      <a:normAutofit/>
                    </a:bodyPr>
                    <a:lstStyle/>
                    <a:p>
                      <a:pPr>
                        <a:defRPr sz="1000" b="0">
                          <a:solidFill>
                            <a:srgbClr val="222222"/>
                          </a:solidFill>
                        </a:defRPr>
                      </a:pPr>
                      <a:r>
                        <a:t>Die berichtete gesicherte Synergie auf den von Finance validierten Wert ab</a:t>
                      </a:r>
                    </a:p>
                  </a:txBody>
                  <a:tcPr marL="54864" marR="54864" marT="18288" marB="18288">
                    <a:solidFill>
                      <a:srgbClr val="E6E6E6"/>
                    </a:solidFill>
                  </a:tcPr>
                </a:tc>
                <a:tc>
                  <a:txBody>
                    <a:bodyPr wrap="square">
                      <a:normAutofit/>
                    </a:bodyPr>
                    <a:lstStyle/>
                    <a:p>
                      <a:pPr>
                        <a:defRPr sz="1000" b="0">
                          <a:solidFill>
                            <a:srgbClr val="222222"/>
                          </a:solidFill>
                        </a:defRPr>
                      </a:pPr>
                      <a:r>
                        <a:t>Task 'Die berichtete gesicherte Synergie auf den von Finance validierten Wert ab' is marked complete but has…</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DellEMC_VCIO_Wochenprotokoll_KW39_2016-09-27.docx</a:t>
                      </a:r>
                    </a:p>
                  </a:txBody>
                  <a:tcPr marL="54864" marR="54864" marT="18288" marB="18288">
                    <a:solidFill>
                      <a:srgbClr val="E6E6E6"/>
                    </a:solidFill>
                  </a:tcPr>
                </a:tc>
              </a:tr>
              <a:tr h="459232">
                <a:tc>
                  <a:txBody>
                    <a:bodyPr wrap="square">
                      <a:normAutofit/>
                    </a:bodyPr>
                    <a:lstStyle/>
                    <a:p>
                      <a:pPr>
                        <a:defRPr sz="1000" b="0">
                          <a:solidFill>
                            <a:srgbClr val="222222"/>
                          </a:solidFill>
                        </a:defRPr>
                      </a:pPr>
                      <a:r>
                        <a:t>Die vorlaeufige Kundenzuordnung erstmals veroeffentlichen</a:t>
                      </a:r>
                    </a:p>
                  </a:txBody>
                  <a:tcPr marL="54864" marR="54864" marT="18288" marB="18288">
                    <a:solidFill>
                      <a:srgbClr val="FFFFFF"/>
                    </a:solidFill>
                  </a:tcPr>
                </a:tc>
                <a:tc>
                  <a:txBody>
                    <a:bodyPr wrap="square">
                      <a:normAutofit/>
                    </a:bodyPr>
                    <a:lstStyle/>
                    <a:p>
                      <a:pPr>
                        <a:defRPr sz="1000" b="0">
                          <a:solidFill>
                            <a:srgbClr val="222222"/>
                          </a:solidFill>
                        </a:defRPr>
                      </a:pPr>
                      <a:r>
                        <a:t>Task 'Die vorlaeufige Kundenzuordnung erstmals veroeffentlichen' is marked complete but has no completion…</a:t>
                      </a:r>
                    </a:p>
                  </a:txBody>
                  <a:tcPr marL="54864" marR="54864" marT="18288" marB="18288">
                    <a:solidFill>
                      <a:srgbClr val="FFFFFF"/>
                    </a:solidFill>
                  </a:tcPr>
                </a:tc>
                <a:tc>
                  <a:txBody>
                    <a:bodyPr wrap="square">
                      <a:normAutofit/>
                    </a:bodyPr>
                    <a:lstStyle/>
                    <a:p>
                      <a:pPr>
                        <a:defRPr sz="1000" b="0">
                          <a:solidFill>
                            <a:srgbClr val="75787B"/>
                          </a:solidFill>
                        </a:defRPr>
                      </a:pPr>
                      <a:r>
                        <a:t>Not Reported</a:t>
                      </a:r>
                    </a:p>
                  </a:txBody>
                  <a:tcPr marL="54864" marR="54864" marT="18288" marB="18288">
                    <a:solidFill>
                      <a:srgbClr val="FFFFFF"/>
                    </a:solidFill>
                  </a:tcPr>
                </a:tc>
                <a:tc>
                  <a:txBody>
                    <a:bodyPr wrap="square">
                      <a:normAutofit/>
                    </a:bodyPr>
                    <a:lstStyle/>
                    <a:p>
                      <a:pPr>
                        <a:defRPr sz="1000" b="0">
                          <a:solidFill>
                            <a:srgbClr val="222222"/>
                          </a:solidFill>
                        </a:defRPr>
                      </a:pPr>
                      <a:r>
                        <a:t>DellEMC_VCIO_Wochenprotokoll_KW39_2016-09-27.docx</a:t>
                      </a:r>
                    </a:p>
                  </a:txBody>
                  <a:tcPr marL="54864" marR="54864" marT="18288" marB="18288">
                    <a:solidFill>
                      <a:srgbClr val="FFFFFF"/>
                    </a:solidFill>
                  </a:tcPr>
                </a:tc>
              </a:tr>
              <a:tr h="459232">
                <a:tc>
                  <a:txBody>
                    <a:bodyPr wrap="square">
                      <a:normAutofit/>
                    </a:bodyPr>
                    <a:lstStyle/>
                    <a:p>
                      <a:pPr>
                        <a:defRPr sz="1000" b="0">
                          <a:solidFill>
                            <a:srgbClr val="222222"/>
                          </a:solidFill>
                        </a:defRPr>
                      </a:pPr>
                      <a:r>
                        <a:t>Complete application landscape inventory for b</a:t>
                      </a:r>
                    </a:p>
                  </a:txBody>
                  <a:tcPr marL="54864" marR="54864" marT="18288" marB="18288">
                    <a:solidFill>
                      <a:srgbClr val="E6E6E6"/>
                    </a:solidFill>
                  </a:tcPr>
                </a:tc>
                <a:tc>
                  <a:txBody>
                    <a:bodyPr wrap="square">
                      <a:normAutofit/>
                    </a:bodyPr>
                    <a:lstStyle/>
                    <a:p>
                      <a:pPr>
                        <a:defRPr sz="1000" b="0">
                          <a:solidFill>
                            <a:srgbClr val="222222"/>
                          </a:solidFill>
                        </a:defRPr>
                      </a:pPr>
                      <a:r>
                        <a:t>Task 'Complete application landscape inventory for b' is marked complete but has no completion date.</a:t>
                      </a:r>
                    </a:p>
                  </a:txBody>
                  <a:tcPr marL="54864" marR="54864" marT="18288" marB="18288">
                    <a:solidFill>
                      <a:srgbClr val="E6E6E6"/>
                    </a:solidFill>
                  </a:tcPr>
                </a:tc>
                <a:tc>
                  <a:txBody>
                    <a:bodyPr wrap="square">
                      <a:normAutofit/>
                    </a:bodyPr>
                    <a:lstStyle/>
                    <a:p>
                      <a:pPr>
                        <a:defRPr sz="1000" b="0">
                          <a:solidFill>
                            <a:srgbClr val="75787B"/>
                          </a:solidFill>
                        </a:defRPr>
                      </a:pPr>
                      <a:r>
                        <a:t>Not Reported</a:t>
                      </a:r>
                    </a:p>
                  </a:txBody>
                  <a:tcPr marL="54864" marR="54864" marT="18288" marB="18288">
                    <a:solidFill>
                      <a:srgbClr val="E6E6E6"/>
                    </a:solidFill>
                  </a:tcPr>
                </a:tc>
                <a:tc>
                  <a:txBody>
                    <a:bodyPr wrap="square">
                      <a:normAutofit/>
                    </a:bodyPr>
                    <a:lstStyle/>
                    <a:p>
                      <a:pPr>
                        <a:defRPr sz="1000" b="0">
                          <a:solidFill>
                            <a:srgbClr val="222222"/>
                          </a:solidFill>
                        </a:defRPr>
                      </a:pPr>
                      <a:r>
                        <a:t>DellEMC_VCIO_Workstream_Status_IT_W3_2016-09-28.pptx</a:t>
                      </a:r>
                    </a:p>
                  </a:txBody>
                  <a:tcPr marL="54864" marR="54864" marT="18288" marB="18288">
                    <a:solidFill>
                      <a:srgbClr val="E6E6E6"/>
                    </a:solidFill>
                  </a:tcPr>
                </a:tc>
              </a:tr>
            </a:tbl>
          </a:graphicData>
        </a:graphic>
      </p:graphicFrame>
      <p:sp>
        <p:nvSpPr>
          <p:cNvPr id="5" name="pmi:caption"/>
          <p:cNvSpPr txBox="1"/>
          <p:nvPr/>
        </p:nvSpPr>
        <p:spPr>
          <a:xfrm>
            <a:off x="469900" y="5815584"/>
            <a:ext cx="11274552" cy="219456"/>
          </a:xfrm>
          <a:prstGeom prst="rect">
            <a:avLst/>
          </a:prstGeom>
          <a:noFill/>
        </p:spPr>
        <p:txBody>
          <a:bodyPr wrap="square">
            <a:normAutofit/>
          </a:bodyPr>
          <a:lstStyle/>
          <a:p>
            <a:pPr>
              <a:defRPr sz="900" b="0" i="1">
                <a:solidFill>
                  <a:srgbClr val="75787B"/>
                </a:solidFill>
              </a:defRPr>
            </a:pPr>
            <a:r>
              <a:t>Showing 8 of 154 rows.</a:t>
            </a:r>
          </a:p>
        </p:txBody>
      </p:sp>
      <p:sp>
        <p:nvSpPr>
          <p:cNvPr id="6" name="pmi:source-note"/>
          <p:cNvSpPr txBox="1"/>
          <p:nvPr/>
        </p:nvSpPr>
        <p:spPr>
          <a:xfrm>
            <a:off x="466344" y="6108192"/>
            <a:ext cx="11259281" cy="274320"/>
          </a:xfrm>
          <a:prstGeom prst="rect">
            <a:avLst/>
          </a:prstGeom>
          <a:noFill/>
        </p:spPr>
        <p:txBody>
          <a:bodyPr wrap="square">
            <a:normAutofit/>
          </a:bodyPr>
          <a:lstStyle/>
          <a:p>
            <a:pPr>
              <a:defRPr sz="600" i="1">
                <a:solidFill>
                  <a:srgbClr val="A6A6A6"/>
                </a:solidFill>
              </a:defRPr>
            </a:pPr>
            <a:r>
              <a:t>Source: DellEMC_VCIO_Integration_Tracker_W3_2016-09-29.xlsx (sheet 'Massnahmenplan'!A8:J8); DellEMC_VCIO_Integration_Tracker_W3_2016-09-29.xlsx (sheet 'Massnahmenplan'!A15:J15); DellEMC_VCIO_Integration_Tracker_W3_2016-09-29.xlsx (sheet 'Massnahmenplan'!A31:J31); DellEMC_VCIO_Integration_Tracker_W3_2016-09-29.xlsx (sheet 'Massnahmenplan'!A39:J39); and 62 more.</a:t>
            </a:r>
          </a:p>
        </p:txBody>
      </p:sp>
      <p:sp>
        <p:nvSpPr>
          <p:cNvPr id="7" name="pmi:footer"/>
          <p:cNvSpPr txBox="1"/>
          <p:nvPr/>
        </p:nvSpPr>
        <p:spPr>
          <a:xfrm>
            <a:off x="466344" y="6419088"/>
            <a:ext cx="11259281" cy="256032"/>
          </a:xfrm>
          <a:prstGeom prst="rect">
            <a:avLst/>
          </a:prstGeom>
          <a:noFill/>
        </p:spPr>
        <p:txBody>
          <a:bodyPr wrap="none" lIns="0" rIns="0" tIns="0" bIns="0">
            <a:normAutofit/>
          </a:bodyPr>
          <a:lstStyle/>
          <a:p>
            <a:pPr algn="l">
              <a:defRPr sz="800">
                <a:solidFill>
                  <a:srgbClr val="75787B"/>
                </a:solidFill>
              </a:defRPr>
            </a:pPr>
            <a:r>
              <a:t>eval-clean_Z_1_4dccacb2  |  Steering Committee</a:t>
            </a:r>
          </a:p>
        </p:txBody>
      </p:sp>
      <p:sp>
        <p:nvSpPr>
          <p:cNvPr id="8" name="pmi:page-number"/>
          <p:cNvSpPr txBox="1"/>
          <p:nvPr/>
        </p:nvSpPr>
        <p:spPr>
          <a:xfrm>
            <a:off x="10811225" y="6419088"/>
            <a:ext cx="914400" cy="256032"/>
          </a:xfrm>
          <a:prstGeom prst="rect">
            <a:avLst/>
          </a:prstGeom>
          <a:noFill/>
        </p:spPr>
        <p:txBody>
          <a:bodyPr wrap="none">
            <a:normAutofit/>
          </a:bodyPr>
          <a:lstStyle/>
          <a:p>
            <a:pPr algn="r">
              <a:defRPr sz="800">
                <a:solidFill>
                  <a:srgbClr val="75787B"/>
                </a:solidFill>
              </a:defRPr>
            </a:pPr>
            <a:r>
              <a:t>10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FALLBACK_LAYOUT" val="29"/>
  <p:tag name="MIO_SHOW_DATE" val="False"/>
  <p:tag name="MIO_SHOW_FOOTER" val="False"/>
  <p:tag name="MIO_SHOW_PAGENUMBER" val="False"/>
  <p:tag name="MIO_AVOID_BLANK_LAYOUT" val="True"/>
  <p:tag name="MIO_CD_LAYOUT_VALID_AREA" val="False"/>
  <p:tag name="MIO_EMBED_FONT" val="False"/>
  <p:tag name="MIO_NUMBER_OF_VALID_LAYOUTS" val="59"/>
  <p:tag name="MIO_MATCH_COLOR_SCHEME" val="True"/>
  <p:tag name="MIO_EKGUID" val="a4fc2127-e6ee-4e73-b2a0-71faa570fb8a"/>
  <p:tag name="MIO_DBID" val="fede6900-895c-4459-b97c-72b2b9dac459"/>
  <p:tag name="MIO_VERSION" val="31.03.2026 12:29:06"/>
  <p:tag name="MIO_LASTDOWNLOADED" val="21.05.2026 16:51:09.075"/>
  <p:tag name="MIO_OBJECTNAME" val="Deloitte 16:9 (2026) long"/>
  <p:tag name="MIO_CONTENTTAG" val="xb4C46bb80ubw2k2KBbiQg=="/>
  <p:tag name="MIO_CDID" val="b832c4bc-5070-4232-bfdb-3d42c9da7c2d"/>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Deloitte">
      <a:dk1>
        <a:sysClr val="windowText" lastClr="000000"/>
      </a:dk1>
      <a:lt1>
        <a:sysClr val="window" lastClr="FFFFFF"/>
      </a:lt1>
      <a:dk2>
        <a:srgbClr val="222222"/>
      </a:dk2>
      <a:lt2>
        <a:srgbClr val="E6E6E6"/>
      </a:lt2>
      <a:accent1>
        <a:srgbClr val="86BC25"/>
      </a:accent1>
      <a:accent2>
        <a:srgbClr val="26890D"/>
      </a:accent2>
      <a:accent3>
        <a:srgbClr val="046A38"/>
      </a:accent3>
      <a:accent4>
        <a:srgbClr val="1C3D26"/>
      </a:accent4>
      <a:accent5>
        <a:srgbClr val="0DF200"/>
      </a:accent5>
      <a:accent6>
        <a:srgbClr val="F1F6E4"/>
      </a:accent6>
      <a:hlink>
        <a:srgbClr val="26890D"/>
      </a:hlink>
      <a:folHlink>
        <a:srgbClr val="75787B"/>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a:solidFill>
              <a:srgbClr val="313131"/>
            </a:solidFill>
          </a:defRPr>
        </a:defPPr>
      </a:lstStyle>
    </a:txDef>
  </a:objectDefaults>
  <a:extraClrSchemeLst/>
  <a:custClrLst>
    <a:custClr name="Green 1">
      <a:srgbClr val="E3E48D"/>
    </a:custClr>
    <a:custClr name="Green 2">
      <a:srgbClr val="C4D600"/>
    </a:custClr>
    <a:custClr name="Green 4">
      <a:srgbClr val="43B02A"/>
    </a:custClr>
    <a:custClr name="Green 5">
      <a:srgbClr val="009A44"/>
    </a:custClr>
    <a:custClr name="Teal 1">
      <a:srgbClr val="DDEFE8"/>
    </a:custClr>
    <a:custClr name="Teal 2">
      <a:srgbClr val="9DD4CF"/>
    </a:custClr>
    <a:custClr name="Teal 3">
      <a:srgbClr val="6FC2B4"/>
    </a:custClr>
    <a:custClr name="Teal 4">
      <a:srgbClr val="00ABAB"/>
    </a:custClr>
    <a:custClr name="Teal 5">
      <a:srgbClr val="0097A9"/>
    </a:custClr>
    <a:custClr name="Teal 6">
      <a:srgbClr val="007680"/>
    </a:custClr>
    <a:custClr name="Teal 7">
      <a:srgbClr val="004F59"/>
    </a:custClr>
    <a:custClr name="Teal 8">
      <a:srgbClr val="0D8390"/>
    </a:custClr>
    <a:custClr name="Blue 1">
      <a:srgbClr val="A0DCFF"/>
    </a:custClr>
    <a:custClr name="Blue 2">
      <a:srgbClr val="62B5E5"/>
    </a:custClr>
    <a:custClr name="Blue 3">
      <a:srgbClr val="00A3E0"/>
    </a:custClr>
    <a:custClr name="Blue 4">
      <a:srgbClr val="0076A8"/>
    </a:custClr>
    <a:custClr name="Blue 5">
      <a:srgbClr val="005587"/>
    </a:custClr>
    <a:custClr name="Blue 6">
      <a:srgbClr val="012169"/>
    </a:custClr>
    <a:custClr name="Blue 7">
      <a:srgbClr val="041E42"/>
    </a:custClr>
    <a:custClr name="Blue 8">
      <a:srgbClr val="007CB0"/>
    </a:custClr>
    <a:custClr name="Cool Gray 2">
      <a:srgbClr val="D0D0CE"/>
    </a:custClr>
    <a:custClr name="Cool Gray 4">
      <a:srgbClr val="BBBCBC"/>
    </a:custClr>
    <a:custClr name="Cool Gray 6">
      <a:srgbClr val="A7A8AA"/>
    </a:custClr>
    <a:custClr name="Cool Gray 7">
      <a:srgbClr val="97999B"/>
    </a:custClr>
    <a:custClr name="Cool Gray 9">
      <a:srgbClr val="75787B"/>
    </a:custClr>
    <a:custClr name="Cool Gray 10">
      <a:srgbClr val="63666A"/>
    </a:custClr>
    <a:custClr name="Cool Gray 11">
      <a:srgbClr val="53565A"/>
    </a:custClr>
    <a:custClr name="Red">
      <a:srgbClr val="DA291C"/>
    </a:custClr>
    <a:custClr name="Orange">
      <a:srgbClr val="ED8B00"/>
    </a:custClr>
    <a:custClr name="Yellow">
      <a:srgbClr val="FFCD00"/>
    </a:custClr>
    <a:custClr name="Bright Blue">
      <a:srgbClr val="33F0FF"/>
    </a:custClr>
    <a:custClr name="Bright Teal">
      <a:srgbClr val="3EFAC5"/>
    </a:custClr>
  </a:custClrLst>
  <a:extLst>
    <a:ext uri="{05A4C25C-085E-4340-85A3-A5531E510DB2}">
      <thm15:themeFamily xmlns:thm15="http://schemas.microsoft.com/office/thememl/2012/main" name="Deloitte_Brand_Theme" id="{917CC780-C041-4F84-B057-DE63A8CDEF25}" vid="{5A16EDA9-025E-49B0-B403-896FAE83D19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Default Theme</Template>
  <TotalTime>0</TotalTime>
  <Words>0</Words>
  <Application>Microsoft Macintosh PowerPoint</Application>
  <PresentationFormat>Breitbild</PresentationFormat>
  <Paragraphs>0</Paragraphs>
  <Slides>26</Slides>
  <Notes>0</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26</vt:i4>
      </vt:variant>
    </vt:vector>
  </HeadingPairs>
  <TitlesOfParts>
    <vt:vector size="33" baseType="lpstr">
      <vt:lpstr>Aptos</vt:lpstr>
      <vt:lpstr>Arial</vt:lpstr>
      <vt:lpstr>Open Sans</vt:lpstr>
      <vt:lpstr>Verdana</vt:lpstr>
      <vt:lpstr>Wingdings 2</vt:lpstr>
      <vt:lpstr>Deloitte_Brand_Theme</vt:lpstr>
      <vt:lpstr>think-cell Slide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Axmann, Paul</dc:creator>
  <cp:lastModifiedBy>Katsiaryna Panko</cp:lastModifiedBy>
  <cp:revision>4</cp:revision>
  <dcterms:created xsi:type="dcterms:W3CDTF">2026-05-21T14:50:05Z</dcterms:created>
  <dcterms:modified xsi:type="dcterms:W3CDTF">2026-07-22T21:09:48Z</dcterms:modified>
</cp:coreProperties>
</file>